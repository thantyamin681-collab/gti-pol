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80" r:id="rId2"/>
    <p:sldMasterId id="2147483799" r:id="rId3"/>
  </p:sldMasterIdLst>
  <p:notesMasterIdLst>
    <p:notesMasterId r:id="rId20"/>
  </p:notesMasterIdLst>
  <p:sldIdLst>
    <p:sldId id="259" r:id="rId4"/>
    <p:sldId id="258" r:id="rId5"/>
    <p:sldId id="257" r:id="rId6"/>
    <p:sldId id="256" r:id="rId7"/>
    <p:sldId id="262" r:id="rId8"/>
    <p:sldId id="261" r:id="rId9"/>
    <p:sldId id="260" r:id="rId10"/>
    <p:sldId id="272" r:id="rId11"/>
    <p:sldId id="273" r:id="rId12"/>
    <p:sldId id="271" r:id="rId13"/>
    <p:sldId id="265" r:id="rId14"/>
    <p:sldId id="266" r:id="rId15"/>
    <p:sldId id="267" r:id="rId16"/>
    <p:sldId id="269" r:id="rId17"/>
    <p:sldId id="270" r:id="rId18"/>
    <p:sldId id="26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35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p:scale>
          <a:sx n="66" d="100"/>
          <a:sy n="66" d="100"/>
        </p:scale>
        <p:origin x="668" y="-7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 jae Jeon" userId="a1457b7d8d895bc6" providerId="LiveId" clId="{E21C042B-2B31-48CD-AE02-E164BDE61892}"/>
    <pc:docChg chg="addSld modSld sldOrd">
      <pc:chgData name="Al jae Jeon" userId="a1457b7d8d895bc6" providerId="LiveId" clId="{E21C042B-2B31-48CD-AE02-E164BDE61892}" dt="2025-07-04T01:34:40.858" v="113" actId="20577"/>
      <pc:docMkLst>
        <pc:docMk/>
      </pc:docMkLst>
      <pc:sldChg chg="ord">
        <pc:chgData name="Al jae Jeon" userId="a1457b7d8d895bc6" providerId="LiveId" clId="{E21C042B-2B31-48CD-AE02-E164BDE61892}" dt="2025-07-03T08:23:37.686" v="23"/>
        <pc:sldMkLst>
          <pc:docMk/>
          <pc:sldMk cId="1063822235" sldId="261"/>
        </pc:sldMkLst>
      </pc:sldChg>
      <pc:sldChg chg="ord">
        <pc:chgData name="Al jae Jeon" userId="a1457b7d8d895bc6" providerId="LiveId" clId="{E21C042B-2B31-48CD-AE02-E164BDE61892}" dt="2025-07-03T08:19:23.239" v="3"/>
        <pc:sldMkLst>
          <pc:docMk/>
          <pc:sldMk cId="0" sldId="267"/>
        </pc:sldMkLst>
      </pc:sldChg>
      <pc:sldChg chg="modSp mod ord">
        <pc:chgData name="Al jae Jeon" userId="a1457b7d8d895bc6" providerId="LiveId" clId="{E21C042B-2B31-48CD-AE02-E164BDE61892}" dt="2025-07-04T01:32:56.443" v="109" actId="20577"/>
        <pc:sldMkLst>
          <pc:docMk/>
          <pc:sldMk cId="0" sldId="269"/>
        </pc:sldMkLst>
        <pc:spChg chg="mod">
          <ac:chgData name="Al jae Jeon" userId="a1457b7d8d895bc6" providerId="LiveId" clId="{E21C042B-2B31-48CD-AE02-E164BDE61892}" dt="2025-07-04T01:30:11.653" v="105" actId="14100"/>
          <ac:spMkLst>
            <pc:docMk/>
            <pc:sldMk cId="0" sldId="269"/>
            <ac:spMk id="7" creationId="{00000000-0000-0000-0000-000000000000}"/>
          </ac:spMkLst>
        </pc:spChg>
        <pc:spChg chg="mod">
          <ac:chgData name="Al jae Jeon" userId="a1457b7d8d895bc6" providerId="LiveId" clId="{E21C042B-2B31-48CD-AE02-E164BDE61892}" dt="2025-07-04T01:30:17.388" v="106" actId="1076"/>
          <ac:spMkLst>
            <pc:docMk/>
            <pc:sldMk cId="0" sldId="269"/>
            <ac:spMk id="14" creationId="{FBE6C7C3-2A23-49EA-B6EC-DAD377836434}"/>
          </ac:spMkLst>
        </pc:spChg>
        <pc:spChg chg="mod">
          <ac:chgData name="Al jae Jeon" userId="a1457b7d8d895bc6" providerId="LiveId" clId="{E21C042B-2B31-48CD-AE02-E164BDE61892}" dt="2025-07-04T01:32:56.443" v="109" actId="20577"/>
          <ac:spMkLst>
            <pc:docMk/>
            <pc:sldMk cId="0" sldId="269"/>
            <ac:spMk id="15" creationId="{F78B4759-D51F-44B1-84BF-A10FB850AE30}"/>
          </ac:spMkLst>
        </pc:spChg>
      </pc:sldChg>
      <pc:sldChg chg="modSp mod">
        <pc:chgData name="Al jae Jeon" userId="a1457b7d8d895bc6" providerId="LiveId" clId="{E21C042B-2B31-48CD-AE02-E164BDE61892}" dt="2025-07-04T01:34:40.858" v="113" actId="20577"/>
        <pc:sldMkLst>
          <pc:docMk/>
          <pc:sldMk cId="0" sldId="270"/>
        </pc:sldMkLst>
        <pc:spChg chg="mod">
          <ac:chgData name="Al jae Jeon" userId="a1457b7d8d895bc6" providerId="LiveId" clId="{E21C042B-2B31-48CD-AE02-E164BDE61892}" dt="2025-07-04T01:34:40.858" v="113" actId="20577"/>
          <ac:spMkLst>
            <pc:docMk/>
            <pc:sldMk cId="0" sldId="270"/>
            <ac:spMk id="13" creationId="{503AF3BD-2014-4300-99F1-6D62D8DE2694}"/>
          </ac:spMkLst>
        </pc:spChg>
        <pc:spChg chg="mod">
          <ac:chgData name="Al jae Jeon" userId="a1457b7d8d895bc6" providerId="LiveId" clId="{E21C042B-2B31-48CD-AE02-E164BDE61892}" dt="2025-07-03T08:29:35.016" v="84" actId="20577"/>
          <ac:spMkLst>
            <pc:docMk/>
            <pc:sldMk cId="0" sldId="270"/>
            <ac:spMk id="14" creationId="{563FE724-9590-4F86-9350-EF948F85F121}"/>
          </ac:spMkLst>
        </pc:spChg>
        <pc:spChg chg="mod">
          <ac:chgData name="Al jae Jeon" userId="a1457b7d8d895bc6" providerId="LiveId" clId="{E21C042B-2B31-48CD-AE02-E164BDE61892}" dt="2025-07-03T08:29:08.649" v="71" actId="1076"/>
          <ac:spMkLst>
            <pc:docMk/>
            <pc:sldMk cId="0" sldId="270"/>
            <ac:spMk id="16" creationId="{F59F5119-2B43-42A5-B34C-3BA04467CDF0}"/>
          </ac:spMkLst>
        </pc:spChg>
        <pc:spChg chg="mod">
          <ac:chgData name="Al jae Jeon" userId="a1457b7d8d895bc6" providerId="LiveId" clId="{E21C042B-2B31-48CD-AE02-E164BDE61892}" dt="2025-07-03T08:28:56.671" v="69" actId="1076"/>
          <ac:spMkLst>
            <pc:docMk/>
            <pc:sldMk cId="0" sldId="270"/>
            <ac:spMk id="17" creationId="{53CF5921-FE8F-4A8C-B24C-A77BD8366CF2}"/>
          </ac:spMkLst>
        </pc:spChg>
        <pc:grpChg chg="mod">
          <ac:chgData name="Al jae Jeon" userId="a1457b7d8d895bc6" providerId="LiveId" clId="{E21C042B-2B31-48CD-AE02-E164BDE61892}" dt="2025-07-04T01:34:26.529" v="112" actId="14100"/>
          <ac:grpSpMkLst>
            <pc:docMk/>
            <pc:sldMk cId="0" sldId="270"/>
            <ac:grpSpMk id="2" creationId="{00000000-0000-0000-0000-000000000000}"/>
          </ac:grpSpMkLst>
        </pc:grpChg>
      </pc:sldChg>
      <pc:sldChg chg="addSp delSp modSp new mod ord modTransition setBg">
        <pc:chgData name="Al jae Jeon" userId="a1457b7d8d895bc6" providerId="LiveId" clId="{E21C042B-2B31-48CD-AE02-E164BDE61892}" dt="2025-07-04T01:22:13.671" v="85"/>
        <pc:sldMkLst>
          <pc:docMk/>
          <pc:sldMk cId="1674387690" sldId="271"/>
        </pc:sldMkLst>
        <pc:spChg chg="add del mod">
          <ac:chgData name="Al jae Jeon" userId="a1457b7d8d895bc6" providerId="LiveId" clId="{E21C042B-2B31-48CD-AE02-E164BDE61892}" dt="2025-07-03T08:23:23.222" v="21"/>
          <ac:spMkLst>
            <pc:docMk/>
            <pc:sldMk cId="1674387690" sldId="271"/>
            <ac:spMk id="2" creationId="{DB95F36B-E007-480C-AC0B-A363477FDB7E}"/>
          </ac:spMkLst>
        </pc:spChg>
        <pc:spChg chg="add mod">
          <ac:chgData name="Al jae Jeon" userId="a1457b7d8d895bc6" providerId="LiveId" clId="{E21C042B-2B31-48CD-AE02-E164BDE61892}" dt="2025-07-03T08:25:44.990" v="64" actId="1076"/>
          <ac:spMkLst>
            <pc:docMk/>
            <pc:sldMk cId="1674387690" sldId="271"/>
            <ac:spMk id="3" creationId="{6EEE4EF2-C431-4095-BBA0-774A3A153FD2}"/>
          </ac:spMkLst>
        </pc:spChg>
      </pc:sldChg>
      <pc:sldChg chg="add modTransition setBg modAnim">
        <pc:chgData name="Al jae Jeon" userId="a1457b7d8d895bc6" providerId="LiveId" clId="{E21C042B-2B31-48CD-AE02-E164BDE61892}" dt="2025-07-04T01:24:06.086" v="92"/>
        <pc:sldMkLst>
          <pc:docMk/>
          <pc:sldMk cId="0" sldId="272"/>
        </pc:sldMkLst>
      </pc:sldChg>
      <pc:sldChg chg="add modTransition setBg modAnim">
        <pc:chgData name="Al jae Jeon" userId="a1457b7d8d895bc6" providerId="LiveId" clId="{E21C042B-2B31-48CD-AE02-E164BDE61892}" dt="2025-07-04T01:24:51.686" v="95"/>
        <pc:sldMkLst>
          <pc:docMk/>
          <pc:sldMk cId="0"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D39E0F-C75B-423E-B099-8213536BB2EC}" type="datetimeFigureOut">
              <a:rPr lang="en-US" smtClean="0"/>
              <a:t>7/3/2025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8B1406-3E6C-412F-914F-864D600B8346}" type="slidenum">
              <a:rPr lang="en-US" smtClean="0"/>
              <a:t>‹#›</a:t>
            </a:fld>
            <a:endParaRPr lang="en-US"/>
          </a:p>
        </p:txBody>
      </p:sp>
    </p:spTree>
    <p:extLst>
      <p:ext uri="{BB962C8B-B14F-4D97-AF65-F5344CB8AC3E}">
        <p14:creationId xmlns:p14="http://schemas.microsoft.com/office/powerpoint/2010/main" val="593553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15A7C9-E98A-4DCA-954D-43B2F92227A6}" type="slidenum">
              <a:rPr lang="en-US" smtClean="0"/>
              <a:t>11</a:t>
            </a:fld>
            <a:endParaRPr lang="en-US"/>
          </a:p>
        </p:txBody>
      </p:sp>
    </p:spTree>
    <p:extLst>
      <p:ext uri="{BB962C8B-B14F-4D97-AF65-F5344CB8AC3E}">
        <p14:creationId xmlns:p14="http://schemas.microsoft.com/office/powerpoint/2010/main" val="3633075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691797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1169648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547362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21DD52-484B-49AA-815A-67BB39D43F80}"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732502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21DD52-484B-49AA-815A-67BB39D43F80}" type="datetimeFigureOut">
              <a:rPr lang="en-US" smtClean="0"/>
              <a:t>7/3/2025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3484470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21DD52-484B-49AA-815A-67BB39D43F80}" type="datetimeFigureOut">
              <a:rPr lang="en-US" smtClean="0"/>
              <a:t>7/3/2025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3412063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21DD52-484B-49AA-815A-67BB39D43F80}" type="datetimeFigureOut">
              <a:rPr lang="en-US" smtClean="0"/>
              <a:t>7/3/2025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4044213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21DD52-484B-49AA-815A-67BB39D43F80}"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4208850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21DD52-484B-49AA-815A-67BB39D43F80}"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3483456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2783336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3811039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3614449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3352307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19338338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21DD52-484B-49AA-815A-67BB39D43F80}"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15323918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21DD52-484B-49AA-815A-67BB39D43F80}" type="datetimeFigureOut">
              <a:rPr lang="en-US" smtClean="0"/>
              <a:t>7/3/2025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37925551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21DD52-484B-49AA-815A-67BB39D43F80}" type="datetimeFigureOut">
              <a:rPr lang="en-US" smtClean="0"/>
              <a:t>7/3/2025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16068087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7721DD52-484B-49AA-815A-67BB39D43F80}" type="datetimeFigureOut">
              <a:rPr lang="en-US" smtClean="0"/>
              <a:t>7/3/2025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39454344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21DD52-484B-49AA-815A-67BB39D43F80}"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32245722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21DD52-484B-49AA-815A-67BB39D43F80}"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18924290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21DD52-484B-49AA-815A-67BB39D43F80}"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13855966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21DD52-484B-49AA-815A-67BB39D43F80}"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1387562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21DD52-484B-49AA-815A-67BB39D43F80}"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2A27-D2E8-4561-88A1-D1B8674A6A27}"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22504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21DD52-484B-49AA-815A-67BB39D43F80}"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10024333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7721DD52-484B-49AA-815A-67BB39D43F80}" type="datetimeFigureOut">
              <a:rPr lang="en-US" smtClean="0"/>
              <a:t>7/3/2025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9204402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7721DD52-484B-49AA-815A-67BB39D43F80}" type="datetimeFigureOut">
              <a:rPr lang="en-US" smtClean="0"/>
              <a:t>7/3/2025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24457380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8065275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16568777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E7364-FB41-4194-BAA5-AF67275E3B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A2AD6A-0FAB-469C-9B6E-374001796A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470482-C1CA-445D-8028-D431E03A0E48}"/>
              </a:ext>
            </a:extLst>
          </p:cNvPr>
          <p:cNvSpPr>
            <a:spLocks noGrp="1"/>
          </p:cNvSpPr>
          <p:nvPr>
            <p:ph type="dt" sz="half" idx="10"/>
          </p:nvPr>
        </p:nvSpPr>
        <p:spPr/>
        <p:txBody>
          <a:bodyPr/>
          <a:lstStyle/>
          <a:p>
            <a:fld id="{C3E325AB-50C0-4CB9-8EC0-846E3F7DD5CE}" type="datetimeFigureOut">
              <a:rPr lang="en-US" smtClean="0"/>
              <a:t>7/3/2025</a:t>
            </a:fld>
            <a:endParaRPr lang="en-US"/>
          </a:p>
        </p:txBody>
      </p:sp>
      <p:sp>
        <p:nvSpPr>
          <p:cNvPr id="5" name="Footer Placeholder 4">
            <a:extLst>
              <a:ext uri="{FF2B5EF4-FFF2-40B4-BE49-F238E27FC236}">
                <a16:creationId xmlns:a16="http://schemas.microsoft.com/office/drawing/2014/main" id="{0BA307DB-561D-42B5-A10C-1EA3564E04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84714-8C95-4257-BC49-B27E4A579E74}"/>
              </a:ext>
            </a:extLst>
          </p:cNvPr>
          <p:cNvSpPr>
            <a:spLocks noGrp="1"/>
          </p:cNvSpPr>
          <p:nvPr>
            <p:ph type="sldNum" sz="quarter" idx="12"/>
          </p:nvPr>
        </p:nvSpPr>
        <p:spPr/>
        <p:txBody>
          <a:bodyPr/>
          <a:lstStyle/>
          <a:p>
            <a:fld id="{F146FA4D-7567-45E3-8B48-51C69C209114}" type="slidenum">
              <a:rPr lang="en-US" smtClean="0"/>
              <a:t>‹#›</a:t>
            </a:fld>
            <a:endParaRPr lang="en-US"/>
          </a:p>
        </p:txBody>
      </p:sp>
    </p:spTree>
    <p:extLst>
      <p:ext uri="{BB962C8B-B14F-4D97-AF65-F5344CB8AC3E}">
        <p14:creationId xmlns:p14="http://schemas.microsoft.com/office/powerpoint/2010/main" val="21745510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23665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41643998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55975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21DD52-484B-49AA-815A-67BB39D43F80}"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23092315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21DD52-484B-49AA-815A-67BB39D43F80}" type="datetimeFigureOut">
              <a:rPr lang="en-US" smtClean="0"/>
              <a:t>7/3/2025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30972349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21DD52-484B-49AA-815A-67BB39D43F80}" type="datetimeFigureOut">
              <a:rPr lang="en-US" smtClean="0"/>
              <a:t>7/3/2025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40851683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21DD52-484B-49AA-815A-67BB39D43F80}" type="datetimeFigureOut">
              <a:rPr lang="en-US" smtClean="0"/>
              <a:t>7/3/2025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11999453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721DD52-484B-49AA-815A-67BB39D43F80}"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30381942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21DD52-484B-49AA-815A-67BB39D43F80}" type="datetimeFigureOut">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2A27-D2E8-4561-88A1-D1B8674A6A27}"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32242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spTree>
    <p:extLst>
      <p:ext uri="{BB962C8B-B14F-4D97-AF65-F5344CB8AC3E}">
        <p14:creationId xmlns:p14="http://schemas.microsoft.com/office/powerpoint/2010/main" val="19542572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21DD52-484B-49AA-815A-67BB39D43F80}" type="datetimeFigureOut">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2A27-D2E8-4561-88A1-D1B8674A6A27}"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4445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21DD52-484B-49AA-815A-67BB39D43F80}" type="datetimeFigureOut">
              <a:rPr lang="en-US" smtClean="0"/>
              <a:t>7/3/2025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FB2A27-D2E8-4561-88A1-D1B8674A6A27}" type="slidenum">
              <a:rPr lang="en-US" smtClean="0"/>
              <a:t>‹#›</a:t>
            </a:fld>
            <a:endParaRPr lang="en-US"/>
          </a:p>
        </p:txBody>
      </p:sp>
    </p:spTree>
    <p:extLst>
      <p:ext uri="{BB962C8B-B14F-4D97-AF65-F5344CB8AC3E}">
        <p14:creationId xmlns:p14="http://schemas.microsoft.com/office/powerpoint/2010/main" val="720912056"/>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7721DD52-484B-49AA-815A-67BB39D43F80}" type="datetimeFigureOut">
              <a:rPr lang="en-US" smtClean="0"/>
              <a:t>7/3/2025</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10FB2A27-D2E8-4561-88A1-D1B8674A6A27}" type="slidenum">
              <a:rPr lang="en-US" smtClean="0"/>
              <a:t>‹#›</a:t>
            </a:fld>
            <a:endParaRPr lang="en-US"/>
          </a:p>
        </p:txBody>
      </p:sp>
    </p:spTree>
    <p:extLst>
      <p:ext uri="{BB962C8B-B14F-4D97-AF65-F5344CB8AC3E}">
        <p14:creationId xmlns:p14="http://schemas.microsoft.com/office/powerpoint/2010/main" val="1441950280"/>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 id="2147483797" r:id="rId17"/>
    <p:sldLayoutId id="2147483798"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721DD52-484B-49AA-815A-67BB39D43F80}" type="datetimeFigureOut">
              <a:rPr lang="en-US" smtClean="0"/>
              <a:t>7/3/2025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0FB2A27-D2E8-4561-88A1-D1B8674A6A27}"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6960710"/>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jpg"/><Relationship Id="rId2" Type="http://schemas.openxmlformats.org/officeDocument/2006/relationships/image" Target="../media/image7.jpg"/><Relationship Id="rId1" Type="http://schemas.openxmlformats.org/officeDocument/2006/relationships/slideLayout" Target="../slideLayouts/slideLayout13.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fif"/><Relationship Id="rId1" Type="http://schemas.openxmlformats.org/officeDocument/2006/relationships/slideLayout" Target="../slideLayouts/slideLayout18.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18.xml"/><Relationship Id="rId4" Type="http://schemas.openxmlformats.org/officeDocument/2006/relationships/image" Target="../media/image18.jpg"/></Relationships>
</file>

<file path=ppt/slides/_rels/slide1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6.xml"/><Relationship Id="rId4" Type="http://schemas.openxmlformats.org/officeDocument/2006/relationships/image" Target="../media/image17.svg"/></Relationships>
</file>

<file path=ppt/slides/_rels/slide1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3B9BDB-8931-4515-86D8-26CC80D8F0F2}"/>
              </a:ext>
            </a:extLst>
          </p:cNvPr>
          <p:cNvSpPr txBox="1"/>
          <p:nvPr/>
        </p:nvSpPr>
        <p:spPr>
          <a:xfrm>
            <a:off x="585107" y="2292875"/>
            <a:ext cx="10586884" cy="1200329"/>
          </a:xfrm>
          <a:prstGeom prst="rect">
            <a:avLst/>
          </a:prstGeom>
          <a:noFill/>
        </p:spPr>
        <p:txBody>
          <a:bodyPr wrap="square" rtlCol="0">
            <a:spAutoFit/>
          </a:bodyPr>
          <a:lstStyle/>
          <a:p>
            <a:endParaRPr lang="en-US" sz="7200">
              <a:solidFill>
                <a:schemeClr val="bg1"/>
              </a:solidFill>
              <a:latin typeface="Forte" panose="03060902040502070203" pitchFamily="66" charset="0"/>
            </a:endParaRPr>
          </a:p>
        </p:txBody>
      </p:sp>
      <p:pic>
        <p:nvPicPr>
          <p:cNvPr id="8" name="Picture 7">
            <a:extLst>
              <a:ext uri="{FF2B5EF4-FFF2-40B4-BE49-F238E27FC236}">
                <a16:creationId xmlns:a16="http://schemas.microsoft.com/office/drawing/2014/main" id="{1D58A719-520D-447F-9A5F-2E0A16CF333A}"/>
              </a:ext>
            </a:extLst>
          </p:cNvPr>
          <p:cNvPicPr>
            <a:picLocks noChangeAspect="1"/>
          </p:cNvPicPr>
          <p:nvPr/>
        </p:nvPicPr>
        <p:blipFill rotWithShape="1">
          <a:blip r:embed="rId2">
            <a:extLst>
              <a:ext uri="{28A0092B-C50C-407E-A947-70E740481C1C}">
                <a14:useLocalDpi xmlns:a14="http://schemas.microsoft.com/office/drawing/2010/main" val="0"/>
              </a:ext>
            </a:extLst>
          </a:blip>
          <a:srcRect l="2185" t="29816" r="94038" b="21909"/>
          <a:stretch/>
        </p:blipFill>
        <p:spPr>
          <a:xfrm>
            <a:off x="507083" y="1441051"/>
            <a:ext cx="430466" cy="1883779"/>
          </a:xfrm>
          <a:prstGeom prst="ellipse">
            <a:avLst/>
          </a:prstGeom>
          <a:effectLst>
            <a:softEdge rad="317500"/>
          </a:effectLst>
        </p:spPr>
      </p:pic>
      <p:pic>
        <p:nvPicPr>
          <p:cNvPr id="6" name="Picture 5">
            <a:extLst>
              <a:ext uri="{FF2B5EF4-FFF2-40B4-BE49-F238E27FC236}">
                <a16:creationId xmlns:a16="http://schemas.microsoft.com/office/drawing/2014/main" id="{B0A3E209-4D01-4A55-82CE-15275CB5AED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312" b="95275" l="2754" r="96076">
                        <a14:foregroundMark x1="69432" y1="19507" x2="69432" y2="19507"/>
                        <a14:foregroundMark x1="69432" y1="19507" x2="75938" y2="14378"/>
                        <a14:foregroundMark x1="75938" y1="14378" x2="76523" y2="11309"/>
                        <a14:foregroundMark x1="12943" y1="52019" x2="9811" y2="51817"/>
                        <a14:foregroundMark x1="10706" y1="50121" x2="7849" y2="56826"/>
                        <a14:foregroundMark x1="7849" y1="56826" x2="10706" y2="63651"/>
                        <a14:foregroundMark x1="10706" y1="63651" x2="12461" y2="65428"/>
                        <a14:foregroundMark x1="6506" y1="55048" x2="3890" y2="61712"/>
                        <a14:foregroundMark x1="3890" y1="61712" x2="5439" y2="69063"/>
                        <a14:foregroundMark x1="5439" y1="69063" x2="8330" y2="72294"/>
                        <a14:foregroundMark x1="3373" y1="58401" x2="2788" y2="64943"/>
                        <a14:foregroundMark x1="19312" y1="58037" x2="18898" y2="65145"/>
                        <a14:foregroundMark x1="18898" y1="65145" x2="21480" y2="72859"/>
                        <a14:foregroundMark x1="21480" y1="72859" x2="24062" y2="76212"/>
                        <a14:foregroundMark x1="13460" y1="79241" x2="15663" y2="86914"/>
                        <a14:foregroundMark x1="15663" y1="86914" x2="21652" y2="90832"/>
                        <a14:foregroundMark x1="21652" y1="90832" x2="27367" y2="88368"/>
                        <a14:foregroundMark x1="27367" y1="88368" x2="27745" y2="88005"/>
                        <a14:foregroundMark x1="15766" y1="69184" x2="11325" y2="71284"/>
                        <a14:foregroundMark x1="17177" y1="93376" x2="23167" y2="94992"/>
                        <a14:foregroundMark x1="23167" y1="94992" x2="29088" y2="94467"/>
                        <a14:foregroundMark x1="29088" y1="94467" x2="33735" y2="89095"/>
                        <a14:foregroundMark x1="33735" y1="89095" x2="34802" y2="84208"/>
                        <a14:foregroundMark x1="31291" y1="78433" x2="25577" y2="83603"/>
                        <a14:foregroundMark x1="25577" y1="83603" x2="31325" y2="85339"/>
                        <a14:foregroundMark x1="31325" y1="85339" x2="24957" y2="90347"/>
                        <a14:foregroundMark x1="18623" y1="94063" x2="23546" y2="95275"/>
                        <a14:foregroundMark x1="73597" y1="8764" x2="73873" y2="8279"/>
                        <a14:foregroundMark x1="73322" y1="8764" x2="77900" y2="3675"/>
                        <a14:foregroundMark x1="77900" y1="3675" x2="83890" y2="3312"/>
                        <a14:foregroundMark x1="83890" y1="3312" x2="86127" y2="4685"/>
                        <a14:foregroundMark x1="85955" y1="3514" x2="95525" y2="11874"/>
                        <a14:foregroundMark x1="95525" y1="11874" x2="96076" y2="13893"/>
                      </a14:backgroundRemoval>
                    </a14:imgEffect>
                  </a14:imgLayer>
                </a14:imgProps>
              </a:ext>
              <a:ext uri="{28A0092B-C50C-407E-A947-70E740481C1C}">
                <a14:useLocalDpi xmlns:a14="http://schemas.microsoft.com/office/drawing/2010/main" val="0"/>
              </a:ext>
            </a:extLst>
          </a:blip>
          <a:stretch>
            <a:fillRect/>
          </a:stretch>
        </p:blipFill>
        <p:spPr>
          <a:xfrm rot="8764982">
            <a:off x="-469473" y="4675032"/>
            <a:ext cx="2109161" cy="1804358"/>
          </a:xfrm>
          <a:prstGeom prst="rect">
            <a:avLst/>
          </a:prstGeom>
        </p:spPr>
      </p:pic>
      <p:sp>
        <p:nvSpPr>
          <p:cNvPr id="11" name="Freeform: Shape 10">
            <a:extLst>
              <a:ext uri="{FF2B5EF4-FFF2-40B4-BE49-F238E27FC236}">
                <a16:creationId xmlns:a16="http://schemas.microsoft.com/office/drawing/2014/main" id="{3E78E863-CA4A-4E0A-BD27-9BA80E1ADCC4}"/>
              </a:ext>
            </a:extLst>
          </p:cNvPr>
          <p:cNvSpPr/>
          <p:nvPr/>
        </p:nvSpPr>
        <p:spPr>
          <a:xfrm rot="11949698">
            <a:off x="504409" y="1441051"/>
            <a:ext cx="1744106" cy="3519855"/>
          </a:xfrm>
          <a:custGeom>
            <a:avLst/>
            <a:gdLst>
              <a:gd name="connsiteX0" fmla="*/ 1167836 w 1744106"/>
              <a:gd name="connsiteY0" fmla="*/ 3459473 h 3506351"/>
              <a:gd name="connsiteX1" fmla="*/ 56660 w 1744106"/>
              <a:gd name="connsiteY1" fmla="*/ 2900533 h 3506351"/>
              <a:gd name="connsiteX2" fmla="*/ 6901 w 1744106"/>
              <a:gd name="connsiteY2" fmla="*/ 2549964 h 3506351"/>
              <a:gd name="connsiteX3" fmla="*/ 9369 w 1744106"/>
              <a:gd name="connsiteY3" fmla="*/ 2533667 h 3506351"/>
              <a:gd name="connsiteX4" fmla="*/ 0 w 1744106"/>
              <a:gd name="connsiteY4" fmla="*/ 2533667 h 3506351"/>
              <a:gd name="connsiteX5" fmla="*/ 480609 w 1744106"/>
              <a:gd name="connsiteY5" fmla="*/ 0 h 3506351"/>
              <a:gd name="connsiteX6" fmla="*/ 1251689 w 1744106"/>
              <a:gd name="connsiteY6" fmla="*/ 0 h 3506351"/>
              <a:gd name="connsiteX7" fmla="*/ 1695947 w 1744106"/>
              <a:gd name="connsiteY7" fmla="*/ 2342034 h 3506351"/>
              <a:gd name="connsiteX8" fmla="*/ 1718718 w 1744106"/>
              <a:gd name="connsiteY8" fmla="*/ 2419617 h 3506351"/>
              <a:gd name="connsiteX9" fmla="*/ 1167836 w 1744106"/>
              <a:gd name="connsiteY9" fmla="*/ 3459473 h 3506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4106" h="3506351">
                <a:moveTo>
                  <a:pt x="1167836" y="3459473"/>
                </a:moveTo>
                <a:cubicBezTo>
                  <a:pt x="715978" y="3616488"/>
                  <a:pt x="218488" y="3366241"/>
                  <a:pt x="56660" y="2900533"/>
                </a:cubicBezTo>
                <a:cubicBezTo>
                  <a:pt x="16204" y="2784106"/>
                  <a:pt x="556" y="2665234"/>
                  <a:pt x="6901" y="2549964"/>
                </a:cubicBezTo>
                <a:lnTo>
                  <a:pt x="9369" y="2533667"/>
                </a:lnTo>
                <a:lnTo>
                  <a:pt x="0" y="2533667"/>
                </a:lnTo>
                <a:lnTo>
                  <a:pt x="480609" y="0"/>
                </a:lnTo>
                <a:lnTo>
                  <a:pt x="1251689" y="0"/>
                </a:lnTo>
                <a:lnTo>
                  <a:pt x="1695947" y="2342034"/>
                </a:lnTo>
                <a:lnTo>
                  <a:pt x="1718718" y="2419617"/>
                </a:lnTo>
                <a:cubicBezTo>
                  <a:pt x="1824574" y="2859385"/>
                  <a:pt x="1591453" y="3312272"/>
                  <a:pt x="1167836" y="3459473"/>
                </a:cubicBezTo>
                <a:close/>
              </a:path>
            </a:pathLst>
          </a:custGeom>
          <a:solidFill>
            <a:schemeClr val="tx1">
              <a:lumMod val="95000"/>
              <a:alpha val="30196"/>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293304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5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1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D58A719-520D-447F-9A5F-2E0A16CF333A}"/>
              </a:ext>
            </a:extLst>
          </p:cNvPr>
          <p:cNvPicPr>
            <a:picLocks noChangeAspect="1"/>
          </p:cNvPicPr>
          <p:nvPr/>
        </p:nvPicPr>
        <p:blipFill rotWithShape="1">
          <a:blip r:embed="rId2">
            <a:extLst>
              <a:ext uri="{28A0092B-C50C-407E-A947-70E740481C1C}">
                <a14:useLocalDpi xmlns:a14="http://schemas.microsoft.com/office/drawing/2010/main" val="0"/>
              </a:ext>
            </a:extLst>
          </a:blip>
          <a:srcRect l="2185" t="29816" r="80938" b="21909"/>
          <a:stretch/>
        </p:blipFill>
        <p:spPr>
          <a:xfrm>
            <a:off x="507083" y="1441051"/>
            <a:ext cx="1923600" cy="1883779"/>
          </a:xfrm>
          <a:prstGeom prst="ellipse">
            <a:avLst/>
          </a:prstGeom>
          <a:effectLst>
            <a:softEdge rad="317500"/>
          </a:effectLst>
        </p:spPr>
      </p:pic>
      <p:grpSp>
        <p:nvGrpSpPr>
          <p:cNvPr id="13" name="Group 12">
            <a:extLst>
              <a:ext uri="{FF2B5EF4-FFF2-40B4-BE49-F238E27FC236}">
                <a16:creationId xmlns:a16="http://schemas.microsoft.com/office/drawing/2014/main" id="{48E19073-6377-4E8B-8066-E55B0B6BB3F6}"/>
              </a:ext>
            </a:extLst>
          </p:cNvPr>
          <p:cNvGrpSpPr/>
          <p:nvPr/>
        </p:nvGrpSpPr>
        <p:grpSpPr>
          <a:xfrm>
            <a:off x="-469473" y="1347261"/>
            <a:ext cx="2915951" cy="5132129"/>
            <a:chOff x="-469473" y="1347261"/>
            <a:chExt cx="2915951" cy="5132129"/>
          </a:xfrm>
        </p:grpSpPr>
        <p:pic>
          <p:nvPicPr>
            <p:cNvPr id="6" name="Picture 5">
              <a:extLst>
                <a:ext uri="{FF2B5EF4-FFF2-40B4-BE49-F238E27FC236}">
                  <a16:creationId xmlns:a16="http://schemas.microsoft.com/office/drawing/2014/main" id="{B0A3E209-4D01-4A55-82CE-15275CB5AED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312" b="95275" l="2754" r="96076">
                          <a14:foregroundMark x1="69432" y1="19507" x2="69432" y2="19507"/>
                          <a14:foregroundMark x1="69432" y1="19507" x2="75938" y2="14378"/>
                          <a14:foregroundMark x1="75938" y1="14378" x2="76523" y2="11309"/>
                          <a14:foregroundMark x1="12943" y1="52019" x2="9811" y2="51817"/>
                          <a14:foregroundMark x1="10706" y1="50121" x2="7849" y2="56826"/>
                          <a14:foregroundMark x1="7849" y1="56826" x2="10706" y2="63651"/>
                          <a14:foregroundMark x1="10706" y1="63651" x2="12461" y2="65428"/>
                          <a14:foregroundMark x1="6506" y1="55048" x2="3890" y2="61712"/>
                          <a14:foregroundMark x1="3890" y1="61712" x2="5439" y2="69063"/>
                          <a14:foregroundMark x1="5439" y1="69063" x2="8330" y2="72294"/>
                          <a14:foregroundMark x1="3373" y1="58401" x2="2788" y2="64943"/>
                          <a14:foregroundMark x1="19312" y1="58037" x2="18898" y2="65145"/>
                          <a14:foregroundMark x1="18898" y1="65145" x2="21480" y2="72859"/>
                          <a14:foregroundMark x1="21480" y1="72859" x2="24062" y2="76212"/>
                          <a14:foregroundMark x1="13460" y1="79241" x2="15663" y2="86914"/>
                          <a14:foregroundMark x1="15663" y1="86914" x2="21652" y2="90832"/>
                          <a14:foregroundMark x1="21652" y1="90832" x2="27367" y2="88368"/>
                          <a14:foregroundMark x1="27367" y1="88368" x2="27745" y2="88005"/>
                          <a14:foregroundMark x1="15766" y1="69184" x2="11325" y2="71284"/>
                          <a14:foregroundMark x1="17177" y1="93376" x2="23167" y2="94992"/>
                          <a14:foregroundMark x1="23167" y1="94992" x2="29088" y2="94467"/>
                          <a14:foregroundMark x1="29088" y1="94467" x2="33735" y2="89095"/>
                          <a14:foregroundMark x1="33735" y1="89095" x2="34802" y2="84208"/>
                          <a14:foregroundMark x1="31291" y1="78433" x2="25577" y2="83603"/>
                          <a14:foregroundMark x1="25577" y1="83603" x2="31325" y2="85339"/>
                          <a14:foregroundMark x1="31325" y1="85339" x2="24957" y2="90347"/>
                          <a14:foregroundMark x1="18623" y1="94063" x2="23546" y2="95275"/>
                          <a14:foregroundMark x1="73597" y1="8764" x2="73873" y2="8279"/>
                          <a14:foregroundMark x1="73322" y1="8764" x2="77900" y2="3675"/>
                          <a14:foregroundMark x1="77900" y1="3675" x2="83890" y2="3312"/>
                          <a14:foregroundMark x1="83890" y1="3312" x2="86127" y2="4685"/>
                          <a14:foregroundMark x1="85955" y1="3514" x2="95525" y2="11874"/>
                          <a14:foregroundMark x1="95525" y1="11874" x2="96076" y2="13893"/>
                        </a14:backgroundRemoval>
                      </a14:imgEffect>
                    </a14:imgLayer>
                  </a14:imgProps>
                </a:ext>
                <a:ext uri="{28A0092B-C50C-407E-A947-70E740481C1C}">
                  <a14:useLocalDpi xmlns:a14="http://schemas.microsoft.com/office/drawing/2010/main" val="0"/>
                </a:ext>
              </a:extLst>
            </a:blip>
            <a:stretch>
              <a:fillRect/>
            </a:stretch>
          </p:blipFill>
          <p:spPr>
            <a:xfrm rot="8764982">
              <a:off x="-469473" y="4681955"/>
              <a:ext cx="2109161" cy="1797435"/>
            </a:xfrm>
            <a:prstGeom prst="rect">
              <a:avLst/>
            </a:prstGeom>
          </p:spPr>
        </p:pic>
        <p:sp>
          <p:nvSpPr>
            <p:cNvPr id="11" name="Freeform: Shape 10">
              <a:extLst>
                <a:ext uri="{FF2B5EF4-FFF2-40B4-BE49-F238E27FC236}">
                  <a16:creationId xmlns:a16="http://schemas.microsoft.com/office/drawing/2014/main" id="{3E78E863-CA4A-4E0A-BD27-9BA80E1ADCC4}"/>
                </a:ext>
              </a:extLst>
            </p:cNvPr>
            <p:cNvSpPr/>
            <p:nvPr/>
          </p:nvSpPr>
          <p:spPr>
            <a:xfrm rot="11949698">
              <a:off x="702372" y="1347261"/>
              <a:ext cx="1744106" cy="3506351"/>
            </a:xfrm>
            <a:custGeom>
              <a:avLst/>
              <a:gdLst>
                <a:gd name="connsiteX0" fmla="*/ 1167836 w 1744106"/>
                <a:gd name="connsiteY0" fmla="*/ 3459473 h 3506351"/>
                <a:gd name="connsiteX1" fmla="*/ 56660 w 1744106"/>
                <a:gd name="connsiteY1" fmla="*/ 2900533 h 3506351"/>
                <a:gd name="connsiteX2" fmla="*/ 6901 w 1744106"/>
                <a:gd name="connsiteY2" fmla="*/ 2549964 h 3506351"/>
                <a:gd name="connsiteX3" fmla="*/ 9369 w 1744106"/>
                <a:gd name="connsiteY3" fmla="*/ 2533667 h 3506351"/>
                <a:gd name="connsiteX4" fmla="*/ 0 w 1744106"/>
                <a:gd name="connsiteY4" fmla="*/ 2533667 h 3506351"/>
                <a:gd name="connsiteX5" fmla="*/ 480609 w 1744106"/>
                <a:gd name="connsiteY5" fmla="*/ 0 h 3506351"/>
                <a:gd name="connsiteX6" fmla="*/ 1251689 w 1744106"/>
                <a:gd name="connsiteY6" fmla="*/ 0 h 3506351"/>
                <a:gd name="connsiteX7" fmla="*/ 1695947 w 1744106"/>
                <a:gd name="connsiteY7" fmla="*/ 2342034 h 3506351"/>
                <a:gd name="connsiteX8" fmla="*/ 1718718 w 1744106"/>
                <a:gd name="connsiteY8" fmla="*/ 2419617 h 3506351"/>
                <a:gd name="connsiteX9" fmla="*/ 1167836 w 1744106"/>
                <a:gd name="connsiteY9" fmla="*/ 3459473 h 3506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4106" h="3506351">
                  <a:moveTo>
                    <a:pt x="1167836" y="3459473"/>
                  </a:moveTo>
                  <a:cubicBezTo>
                    <a:pt x="715978" y="3616488"/>
                    <a:pt x="218488" y="3366241"/>
                    <a:pt x="56660" y="2900533"/>
                  </a:cubicBezTo>
                  <a:cubicBezTo>
                    <a:pt x="16204" y="2784106"/>
                    <a:pt x="556" y="2665234"/>
                    <a:pt x="6901" y="2549964"/>
                  </a:cubicBezTo>
                  <a:lnTo>
                    <a:pt x="9369" y="2533667"/>
                  </a:lnTo>
                  <a:lnTo>
                    <a:pt x="0" y="2533667"/>
                  </a:lnTo>
                  <a:lnTo>
                    <a:pt x="480609" y="0"/>
                  </a:lnTo>
                  <a:lnTo>
                    <a:pt x="1251689" y="0"/>
                  </a:lnTo>
                  <a:lnTo>
                    <a:pt x="1695947" y="2342034"/>
                  </a:lnTo>
                  <a:lnTo>
                    <a:pt x="1718718" y="2419617"/>
                  </a:lnTo>
                  <a:cubicBezTo>
                    <a:pt x="1824574" y="2859385"/>
                    <a:pt x="1591453" y="3312272"/>
                    <a:pt x="1167836" y="3459473"/>
                  </a:cubicBezTo>
                  <a:close/>
                </a:path>
              </a:pathLst>
            </a:custGeom>
            <a:solidFill>
              <a:schemeClr val="tx1">
                <a:lumMod val="95000"/>
                <a:alpha val="30196"/>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Tree>
    <p:extLst>
      <p:ext uri="{BB962C8B-B14F-4D97-AF65-F5344CB8AC3E}">
        <p14:creationId xmlns:p14="http://schemas.microsoft.com/office/powerpoint/2010/main" val="3811616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5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3B9BDB-8931-4515-86D8-26CC80D8F0F2}"/>
              </a:ext>
            </a:extLst>
          </p:cNvPr>
          <p:cNvSpPr txBox="1"/>
          <p:nvPr/>
        </p:nvSpPr>
        <p:spPr>
          <a:xfrm>
            <a:off x="802558" y="1886673"/>
            <a:ext cx="10737401" cy="1542327"/>
          </a:xfrm>
          <a:prstGeom prst="rect">
            <a:avLst/>
          </a:prstGeom>
          <a:noFill/>
        </p:spPr>
        <p:txBody>
          <a:bodyPr wrap="square" rtlCol="0">
            <a:spAutoFit/>
          </a:bodyPr>
          <a:lstStyle/>
          <a:p>
            <a:endParaRPr lang="en-US" sz="7200" dirty="0">
              <a:solidFill>
                <a:schemeClr val="bg1"/>
              </a:solidFill>
              <a:latin typeface="Forte" panose="03060902040502070203" pitchFamily="66" charset="0"/>
            </a:endParaRPr>
          </a:p>
        </p:txBody>
      </p:sp>
      <p:pic>
        <p:nvPicPr>
          <p:cNvPr id="8" name="Picture 7">
            <a:extLst>
              <a:ext uri="{FF2B5EF4-FFF2-40B4-BE49-F238E27FC236}">
                <a16:creationId xmlns:a16="http://schemas.microsoft.com/office/drawing/2014/main" id="{1D58A719-520D-447F-9A5F-2E0A16CF333A}"/>
              </a:ext>
            </a:extLst>
          </p:cNvPr>
          <p:cNvPicPr>
            <a:picLocks noChangeAspect="1"/>
          </p:cNvPicPr>
          <p:nvPr/>
        </p:nvPicPr>
        <p:blipFill rotWithShape="1">
          <a:blip r:embed="rId2">
            <a:extLst>
              <a:ext uri="{28A0092B-C50C-407E-A947-70E740481C1C}">
                <a14:useLocalDpi xmlns:a14="http://schemas.microsoft.com/office/drawing/2010/main" val="0"/>
              </a:ext>
            </a:extLst>
          </a:blip>
          <a:srcRect l="84950" t="32394" r="-1827" b="19063"/>
          <a:stretch/>
        </p:blipFill>
        <p:spPr>
          <a:xfrm>
            <a:off x="9940450" y="1541630"/>
            <a:ext cx="1923600" cy="1894257"/>
          </a:xfrm>
          <a:prstGeom prst="ellipse">
            <a:avLst/>
          </a:prstGeom>
          <a:effectLst>
            <a:softEdge rad="317500"/>
          </a:effectLst>
        </p:spPr>
      </p:pic>
      <p:grpSp>
        <p:nvGrpSpPr>
          <p:cNvPr id="13" name="Group 12">
            <a:extLst>
              <a:ext uri="{FF2B5EF4-FFF2-40B4-BE49-F238E27FC236}">
                <a16:creationId xmlns:a16="http://schemas.microsoft.com/office/drawing/2014/main" id="{48E19073-6377-4E8B-8066-E55B0B6BB3F6}"/>
              </a:ext>
            </a:extLst>
          </p:cNvPr>
          <p:cNvGrpSpPr/>
          <p:nvPr/>
        </p:nvGrpSpPr>
        <p:grpSpPr>
          <a:xfrm>
            <a:off x="8671454" y="1541630"/>
            <a:ext cx="2717988" cy="5019009"/>
            <a:chOff x="-469473" y="1460381"/>
            <a:chExt cx="2717988" cy="5019009"/>
          </a:xfrm>
        </p:grpSpPr>
        <p:pic>
          <p:nvPicPr>
            <p:cNvPr id="6" name="Picture 5">
              <a:extLst>
                <a:ext uri="{FF2B5EF4-FFF2-40B4-BE49-F238E27FC236}">
                  <a16:creationId xmlns:a16="http://schemas.microsoft.com/office/drawing/2014/main" id="{B0A3E209-4D01-4A55-82CE-15275CB5AED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312" b="95275" l="2754" r="96076">
                          <a14:foregroundMark x1="69432" y1="19507" x2="69432" y2="19507"/>
                          <a14:foregroundMark x1="69432" y1="19507" x2="75938" y2="14378"/>
                          <a14:foregroundMark x1="75938" y1="14378" x2="76523" y2="11309"/>
                          <a14:foregroundMark x1="12943" y1="52019" x2="9811" y2="51817"/>
                          <a14:foregroundMark x1="10706" y1="50121" x2="7849" y2="56826"/>
                          <a14:foregroundMark x1="7849" y1="56826" x2="10706" y2="63651"/>
                          <a14:foregroundMark x1="10706" y1="63651" x2="12461" y2="65428"/>
                          <a14:foregroundMark x1="6506" y1="55048" x2="3890" y2="61712"/>
                          <a14:foregroundMark x1="3890" y1="61712" x2="5439" y2="69063"/>
                          <a14:foregroundMark x1="5439" y1="69063" x2="8330" y2="72294"/>
                          <a14:foregroundMark x1="3373" y1="58401" x2="2788" y2="64943"/>
                          <a14:foregroundMark x1="19312" y1="58037" x2="18898" y2="65145"/>
                          <a14:foregroundMark x1="18898" y1="65145" x2="21480" y2="72859"/>
                          <a14:foregroundMark x1="21480" y1="72859" x2="24062" y2="76212"/>
                          <a14:foregroundMark x1="13460" y1="79241" x2="15663" y2="86914"/>
                          <a14:foregroundMark x1="15663" y1="86914" x2="21652" y2="90832"/>
                          <a14:foregroundMark x1="21652" y1="90832" x2="27367" y2="88368"/>
                          <a14:foregroundMark x1="27367" y1="88368" x2="27745" y2="88005"/>
                          <a14:foregroundMark x1="15766" y1="69184" x2="11325" y2="71284"/>
                          <a14:foregroundMark x1="17177" y1="93376" x2="23167" y2="94992"/>
                          <a14:foregroundMark x1="23167" y1="94992" x2="29088" y2="94467"/>
                          <a14:foregroundMark x1="29088" y1="94467" x2="33735" y2="89095"/>
                          <a14:foregroundMark x1="33735" y1="89095" x2="34802" y2="84208"/>
                          <a14:foregroundMark x1="31291" y1="78433" x2="25577" y2="83603"/>
                          <a14:foregroundMark x1="25577" y1="83603" x2="31325" y2="85339"/>
                          <a14:foregroundMark x1="31325" y1="85339" x2="24957" y2="90347"/>
                          <a14:foregroundMark x1="18623" y1="94063" x2="23546" y2="95275"/>
                          <a14:foregroundMark x1="73597" y1="8764" x2="73873" y2="8279"/>
                          <a14:foregroundMark x1="73322" y1="8764" x2="77900" y2="3675"/>
                          <a14:foregroundMark x1="77900" y1="3675" x2="83890" y2="3312"/>
                          <a14:foregroundMark x1="83890" y1="3312" x2="86127" y2="4685"/>
                          <a14:foregroundMark x1="85955" y1="3514" x2="95525" y2="11874"/>
                          <a14:foregroundMark x1="95525" y1="11874" x2="96076" y2="13893"/>
                        </a14:backgroundRemoval>
                      </a14:imgEffect>
                    </a14:imgLayer>
                  </a14:imgProps>
                </a:ext>
                <a:ext uri="{28A0092B-C50C-407E-A947-70E740481C1C}">
                  <a14:useLocalDpi xmlns:a14="http://schemas.microsoft.com/office/drawing/2010/main" val="0"/>
                </a:ext>
              </a:extLst>
            </a:blip>
            <a:stretch>
              <a:fillRect/>
            </a:stretch>
          </p:blipFill>
          <p:spPr>
            <a:xfrm rot="8764982">
              <a:off x="-469473" y="4681955"/>
              <a:ext cx="2109161" cy="1797435"/>
            </a:xfrm>
            <a:prstGeom prst="rect">
              <a:avLst/>
            </a:prstGeom>
          </p:spPr>
        </p:pic>
        <p:sp>
          <p:nvSpPr>
            <p:cNvPr id="11" name="Freeform: Shape 10">
              <a:extLst>
                <a:ext uri="{FF2B5EF4-FFF2-40B4-BE49-F238E27FC236}">
                  <a16:creationId xmlns:a16="http://schemas.microsoft.com/office/drawing/2014/main" id="{3E78E863-CA4A-4E0A-BD27-9BA80E1ADCC4}"/>
                </a:ext>
              </a:extLst>
            </p:cNvPr>
            <p:cNvSpPr/>
            <p:nvPr/>
          </p:nvSpPr>
          <p:spPr>
            <a:xfrm rot="11949698">
              <a:off x="504409" y="1460381"/>
              <a:ext cx="1744106" cy="3506351"/>
            </a:xfrm>
            <a:custGeom>
              <a:avLst/>
              <a:gdLst>
                <a:gd name="connsiteX0" fmla="*/ 1167836 w 1744106"/>
                <a:gd name="connsiteY0" fmla="*/ 3459473 h 3506351"/>
                <a:gd name="connsiteX1" fmla="*/ 56660 w 1744106"/>
                <a:gd name="connsiteY1" fmla="*/ 2900533 h 3506351"/>
                <a:gd name="connsiteX2" fmla="*/ 6901 w 1744106"/>
                <a:gd name="connsiteY2" fmla="*/ 2549964 h 3506351"/>
                <a:gd name="connsiteX3" fmla="*/ 9369 w 1744106"/>
                <a:gd name="connsiteY3" fmla="*/ 2533667 h 3506351"/>
                <a:gd name="connsiteX4" fmla="*/ 0 w 1744106"/>
                <a:gd name="connsiteY4" fmla="*/ 2533667 h 3506351"/>
                <a:gd name="connsiteX5" fmla="*/ 480609 w 1744106"/>
                <a:gd name="connsiteY5" fmla="*/ 0 h 3506351"/>
                <a:gd name="connsiteX6" fmla="*/ 1251689 w 1744106"/>
                <a:gd name="connsiteY6" fmla="*/ 0 h 3506351"/>
                <a:gd name="connsiteX7" fmla="*/ 1695947 w 1744106"/>
                <a:gd name="connsiteY7" fmla="*/ 2342034 h 3506351"/>
                <a:gd name="connsiteX8" fmla="*/ 1718718 w 1744106"/>
                <a:gd name="connsiteY8" fmla="*/ 2419617 h 3506351"/>
                <a:gd name="connsiteX9" fmla="*/ 1167836 w 1744106"/>
                <a:gd name="connsiteY9" fmla="*/ 3459473 h 3506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4106" h="3506351">
                  <a:moveTo>
                    <a:pt x="1167836" y="3459473"/>
                  </a:moveTo>
                  <a:cubicBezTo>
                    <a:pt x="715978" y="3616488"/>
                    <a:pt x="218488" y="3366241"/>
                    <a:pt x="56660" y="2900533"/>
                  </a:cubicBezTo>
                  <a:cubicBezTo>
                    <a:pt x="16204" y="2784106"/>
                    <a:pt x="556" y="2665234"/>
                    <a:pt x="6901" y="2549964"/>
                  </a:cubicBezTo>
                  <a:lnTo>
                    <a:pt x="9369" y="2533667"/>
                  </a:lnTo>
                  <a:lnTo>
                    <a:pt x="0" y="2533667"/>
                  </a:lnTo>
                  <a:lnTo>
                    <a:pt x="480609" y="0"/>
                  </a:lnTo>
                  <a:lnTo>
                    <a:pt x="1251689" y="0"/>
                  </a:lnTo>
                  <a:lnTo>
                    <a:pt x="1695947" y="2342034"/>
                  </a:lnTo>
                  <a:lnTo>
                    <a:pt x="1718718" y="2419617"/>
                  </a:lnTo>
                  <a:cubicBezTo>
                    <a:pt x="1824574" y="2859385"/>
                    <a:pt x="1591453" y="3312272"/>
                    <a:pt x="1167836" y="3459473"/>
                  </a:cubicBezTo>
                  <a:close/>
                </a:path>
              </a:pathLst>
            </a:custGeom>
            <a:solidFill>
              <a:schemeClr val="tx1">
                <a:lumMod val="95000"/>
                <a:alpha val="30196"/>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Tree>
    <p:extLst>
      <p:ext uri="{BB962C8B-B14F-4D97-AF65-F5344CB8AC3E}">
        <p14:creationId xmlns:p14="http://schemas.microsoft.com/office/powerpoint/2010/main" val="3970263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5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69BEA843-B2E3-4E43-B5D3-910EC4C49E52}"/>
              </a:ext>
            </a:extLst>
          </p:cNvPr>
          <p:cNvSpPr txBox="1"/>
          <p:nvPr/>
        </p:nvSpPr>
        <p:spPr>
          <a:xfrm>
            <a:off x="1422661" y="1914628"/>
            <a:ext cx="9337250" cy="2215991"/>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US" sz="13800" b="1" dirty="0">
                <a:ln/>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path path="circle">
                    <a:fillToRect l="50000" t="50000" r="50000" b="50000"/>
                  </a:path>
                  <a:tileRect/>
                </a:gradFill>
                <a:effectLst>
                  <a:outerShdw blurRad="50800" dist="38100" algn="l" rotWithShape="0">
                    <a:prstClr val="black">
                      <a:alpha val="40000"/>
                    </a:prstClr>
                  </a:outerShdw>
                  <a:reflection blurRad="6350" stA="55000" endA="300" endPos="45500" dir="5400000" sy="-100000" algn="bl" rotWithShape="0"/>
                </a:effectLst>
              </a:rPr>
              <a:t>GROUP 3</a:t>
            </a:r>
          </a:p>
        </p:txBody>
      </p:sp>
      <p:sp>
        <p:nvSpPr>
          <p:cNvPr id="15" name="Right Triangle 14">
            <a:extLst>
              <a:ext uri="{FF2B5EF4-FFF2-40B4-BE49-F238E27FC236}">
                <a16:creationId xmlns:a16="http://schemas.microsoft.com/office/drawing/2014/main" id="{261C8820-E942-4CA8-8C30-12A2E9BFA01F}"/>
              </a:ext>
            </a:extLst>
          </p:cNvPr>
          <p:cNvSpPr/>
          <p:nvPr/>
        </p:nvSpPr>
        <p:spPr>
          <a:xfrm>
            <a:off x="1" y="1442301"/>
            <a:ext cx="12192000" cy="5426402"/>
          </a:xfrm>
          <a:custGeom>
            <a:avLst/>
            <a:gdLst>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702 h 5415702"/>
              <a:gd name="connsiteX1" fmla="*/ 0 w 12192000"/>
              <a:gd name="connsiteY1" fmla="*/ 3 h 5415702"/>
              <a:gd name="connsiteX2" fmla="*/ 12192000 w 12192000"/>
              <a:gd name="connsiteY2" fmla="*/ 5415702 h 5415702"/>
              <a:gd name="connsiteX3" fmla="*/ 0 w 12192000"/>
              <a:gd name="connsiteY3" fmla="*/ 5415702 h 5415702"/>
              <a:gd name="connsiteX0" fmla="*/ 0 w 12192000"/>
              <a:gd name="connsiteY0" fmla="*/ 5415702 h 5415702"/>
              <a:gd name="connsiteX1" fmla="*/ 0 w 12192000"/>
              <a:gd name="connsiteY1" fmla="*/ 3 h 5415702"/>
              <a:gd name="connsiteX2" fmla="*/ 12192000 w 12192000"/>
              <a:gd name="connsiteY2" fmla="*/ 5415702 h 5415702"/>
              <a:gd name="connsiteX3" fmla="*/ 0 w 12192000"/>
              <a:gd name="connsiteY3" fmla="*/ 5415702 h 5415702"/>
              <a:gd name="connsiteX0" fmla="*/ 0 w 12192000"/>
              <a:gd name="connsiteY0" fmla="*/ 5415702 h 5415702"/>
              <a:gd name="connsiteX1" fmla="*/ 0 w 12192000"/>
              <a:gd name="connsiteY1" fmla="*/ 3 h 5415702"/>
              <a:gd name="connsiteX2" fmla="*/ 12192000 w 12192000"/>
              <a:gd name="connsiteY2" fmla="*/ 5415702 h 5415702"/>
              <a:gd name="connsiteX3" fmla="*/ 0 w 12192000"/>
              <a:gd name="connsiteY3" fmla="*/ 5415702 h 5415702"/>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35480 h 5435480"/>
              <a:gd name="connsiteX1" fmla="*/ 0 w 12192000"/>
              <a:gd name="connsiteY1" fmla="*/ 19781 h 5435480"/>
              <a:gd name="connsiteX2" fmla="*/ 12192000 w 12192000"/>
              <a:gd name="connsiteY2" fmla="*/ 5435480 h 5435480"/>
              <a:gd name="connsiteX3" fmla="*/ 0 w 12192000"/>
              <a:gd name="connsiteY3" fmla="*/ 5435480 h 5435480"/>
              <a:gd name="connsiteX0" fmla="*/ 0 w 12192000"/>
              <a:gd name="connsiteY0" fmla="*/ 5436868 h 5436868"/>
              <a:gd name="connsiteX1" fmla="*/ 0 w 12192000"/>
              <a:gd name="connsiteY1" fmla="*/ 21169 h 5436868"/>
              <a:gd name="connsiteX2" fmla="*/ 12192000 w 12192000"/>
              <a:gd name="connsiteY2" fmla="*/ 5436868 h 5436868"/>
              <a:gd name="connsiteX3" fmla="*/ 0 w 12192000"/>
              <a:gd name="connsiteY3" fmla="*/ 5436868 h 5436868"/>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23850 h 5423850"/>
              <a:gd name="connsiteX1" fmla="*/ 0 w 12192000"/>
              <a:gd name="connsiteY1" fmla="*/ 8151 h 5423850"/>
              <a:gd name="connsiteX2" fmla="*/ 12192000 w 12192000"/>
              <a:gd name="connsiteY2" fmla="*/ 5423850 h 5423850"/>
              <a:gd name="connsiteX3" fmla="*/ 0 w 12192000"/>
              <a:gd name="connsiteY3" fmla="*/ 5423850 h 5423850"/>
              <a:gd name="connsiteX0" fmla="*/ 0 w 12192000"/>
              <a:gd name="connsiteY0" fmla="*/ 5424557 h 5424557"/>
              <a:gd name="connsiteX1" fmla="*/ 0 w 12192000"/>
              <a:gd name="connsiteY1" fmla="*/ 8858 h 5424557"/>
              <a:gd name="connsiteX2" fmla="*/ 12192000 w 12192000"/>
              <a:gd name="connsiteY2" fmla="*/ 5424557 h 5424557"/>
              <a:gd name="connsiteX3" fmla="*/ 0 w 12192000"/>
              <a:gd name="connsiteY3" fmla="*/ 5424557 h 5424557"/>
              <a:gd name="connsiteX0" fmla="*/ 0 w 12192000"/>
              <a:gd name="connsiteY0" fmla="*/ 5420335 h 5420335"/>
              <a:gd name="connsiteX1" fmla="*/ 0 w 12192000"/>
              <a:gd name="connsiteY1" fmla="*/ 4636 h 5420335"/>
              <a:gd name="connsiteX2" fmla="*/ 12192000 w 12192000"/>
              <a:gd name="connsiteY2" fmla="*/ 5420335 h 5420335"/>
              <a:gd name="connsiteX3" fmla="*/ 0 w 12192000"/>
              <a:gd name="connsiteY3" fmla="*/ 5420335 h 5420335"/>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73613 h 5473613"/>
              <a:gd name="connsiteX1" fmla="*/ 0 w 12192000"/>
              <a:gd name="connsiteY1" fmla="*/ 57914 h 5473613"/>
              <a:gd name="connsiteX2" fmla="*/ 12192000 w 12192000"/>
              <a:gd name="connsiteY2" fmla="*/ 5473613 h 5473613"/>
              <a:gd name="connsiteX3" fmla="*/ 0 w 12192000"/>
              <a:gd name="connsiteY3" fmla="*/ 5473613 h 5473613"/>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26402"/>
              <a:gd name="connsiteX1" fmla="*/ 0 w 12192000"/>
              <a:gd name="connsiteY1" fmla="*/ 0 h 5426402"/>
              <a:gd name="connsiteX2" fmla="*/ 12192000 w 12192000"/>
              <a:gd name="connsiteY2" fmla="*/ 5415699 h 5426402"/>
              <a:gd name="connsiteX3" fmla="*/ 0 w 12192000"/>
              <a:gd name="connsiteY3" fmla="*/ 5415699 h 5426402"/>
            </a:gdLst>
            <a:ahLst/>
            <a:cxnLst>
              <a:cxn ang="0">
                <a:pos x="connsiteX0" y="connsiteY0"/>
              </a:cxn>
              <a:cxn ang="0">
                <a:pos x="connsiteX1" y="connsiteY1"/>
              </a:cxn>
              <a:cxn ang="0">
                <a:pos x="connsiteX2" y="connsiteY2"/>
              </a:cxn>
              <a:cxn ang="0">
                <a:pos x="connsiteX3" y="connsiteY3"/>
              </a:cxn>
            </a:cxnLst>
            <a:rect l="l" t="t" r="r" b="b"/>
            <a:pathLst>
              <a:path w="12192000" h="5426402">
                <a:moveTo>
                  <a:pt x="0" y="5415699"/>
                </a:moveTo>
                <a:lnTo>
                  <a:pt x="0" y="0"/>
                </a:lnTo>
                <a:cubicBezTo>
                  <a:pt x="5873844" y="162535"/>
                  <a:pt x="8221152" y="5701696"/>
                  <a:pt x="12192000" y="5415699"/>
                </a:cubicBezTo>
                <a:lnTo>
                  <a:pt x="0" y="5415699"/>
                </a:lnTo>
                <a:close/>
              </a:path>
            </a:pathLst>
          </a:custGeom>
          <a:gradFill flip="none" rotWithShape="1">
            <a:gsLst>
              <a:gs pos="0">
                <a:schemeClr val="accent6">
                  <a:lumMod val="40000"/>
                  <a:lumOff val="60000"/>
                  <a:shade val="30000"/>
                  <a:satMod val="115000"/>
                </a:schemeClr>
              </a:gs>
              <a:gs pos="50000">
                <a:schemeClr val="accent6">
                  <a:lumMod val="40000"/>
                  <a:lumOff val="60000"/>
                  <a:shade val="67500"/>
                  <a:satMod val="115000"/>
                </a:schemeClr>
              </a:gs>
              <a:gs pos="100000">
                <a:schemeClr val="accent6">
                  <a:lumMod val="40000"/>
                  <a:lumOff val="60000"/>
                  <a:shade val="100000"/>
                  <a:satMod val="115000"/>
                </a:schemeClr>
              </a:gs>
            </a:gsLst>
            <a:lin ang="13500000" scaled="1"/>
            <a:tileRect/>
          </a:gradFill>
          <a:ln>
            <a:noFill/>
          </a:ln>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ight Triangle 14">
            <a:extLst>
              <a:ext uri="{FF2B5EF4-FFF2-40B4-BE49-F238E27FC236}">
                <a16:creationId xmlns:a16="http://schemas.microsoft.com/office/drawing/2014/main" id="{E01873A8-8181-4F47-9499-56D5D9A7326B}"/>
              </a:ext>
            </a:extLst>
          </p:cNvPr>
          <p:cNvSpPr/>
          <p:nvPr/>
        </p:nvSpPr>
        <p:spPr>
          <a:xfrm rot="10800000">
            <a:off x="-4714" y="0"/>
            <a:ext cx="12192000" cy="5415699"/>
          </a:xfrm>
          <a:custGeom>
            <a:avLst/>
            <a:gdLst>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702 h 5415702"/>
              <a:gd name="connsiteX1" fmla="*/ 0 w 12192000"/>
              <a:gd name="connsiteY1" fmla="*/ 3 h 5415702"/>
              <a:gd name="connsiteX2" fmla="*/ 12192000 w 12192000"/>
              <a:gd name="connsiteY2" fmla="*/ 5415702 h 5415702"/>
              <a:gd name="connsiteX3" fmla="*/ 0 w 12192000"/>
              <a:gd name="connsiteY3" fmla="*/ 5415702 h 5415702"/>
              <a:gd name="connsiteX0" fmla="*/ 0 w 12192000"/>
              <a:gd name="connsiteY0" fmla="*/ 5415702 h 5415702"/>
              <a:gd name="connsiteX1" fmla="*/ 0 w 12192000"/>
              <a:gd name="connsiteY1" fmla="*/ 3 h 5415702"/>
              <a:gd name="connsiteX2" fmla="*/ 12192000 w 12192000"/>
              <a:gd name="connsiteY2" fmla="*/ 5415702 h 5415702"/>
              <a:gd name="connsiteX3" fmla="*/ 0 w 12192000"/>
              <a:gd name="connsiteY3" fmla="*/ 5415702 h 5415702"/>
              <a:gd name="connsiteX0" fmla="*/ 0 w 12192000"/>
              <a:gd name="connsiteY0" fmla="*/ 5415702 h 5415702"/>
              <a:gd name="connsiteX1" fmla="*/ 0 w 12192000"/>
              <a:gd name="connsiteY1" fmla="*/ 3 h 5415702"/>
              <a:gd name="connsiteX2" fmla="*/ 12192000 w 12192000"/>
              <a:gd name="connsiteY2" fmla="*/ 5415702 h 5415702"/>
              <a:gd name="connsiteX3" fmla="*/ 0 w 12192000"/>
              <a:gd name="connsiteY3" fmla="*/ 5415702 h 5415702"/>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35480 h 5435480"/>
              <a:gd name="connsiteX1" fmla="*/ 0 w 12192000"/>
              <a:gd name="connsiteY1" fmla="*/ 19781 h 5435480"/>
              <a:gd name="connsiteX2" fmla="*/ 12192000 w 12192000"/>
              <a:gd name="connsiteY2" fmla="*/ 5435480 h 5435480"/>
              <a:gd name="connsiteX3" fmla="*/ 0 w 12192000"/>
              <a:gd name="connsiteY3" fmla="*/ 5435480 h 5435480"/>
              <a:gd name="connsiteX0" fmla="*/ 0 w 12192000"/>
              <a:gd name="connsiteY0" fmla="*/ 5436868 h 5436868"/>
              <a:gd name="connsiteX1" fmla="*/ 0 w 12192000"/>
              <a:gd name="connsiteY1" fmla="*/ 21169 h 5436868"/>
              <a:gd name="connsiteX2" fmla="*/ 12192000 w 12192000"/>
              <a:gd name="connsiteY2" fmla="*/ 5436868 h 5436868"/>
              <a:gd name="connsiteX3" fmla="*/ 0 w 12192000"/>
              <a:gd name="connsiteY3" fmla="*/ 5436868 h 5436868"/>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23850 h 5423850"/>
              <a:gd name="connsiteX1" fmla="*/ 0 w 12192000"/>
              <a:gd name="connsiteY1" fmla="*/ 8151 h 5423850"/>
              <a:gd name="connsiteX2" fmla="*/ 12192000 w 12192000"/>
              <a:gd name="connsiteY2" fmla="*/ 5423850 h 5423850"/>
              <a:gd name="connsiteX3" fmla="*/ 0 w 12192000"/>
              <a:gd name="connsiteY3" fmla="*/ 5423850 h 5423850"/>
              <a:gd name="connsiteX0" fmla="*/ 0 w 12192000"/>
              <a:gd name="connsiteY0" fmla="*/ 5424557 h 5424557"/>
              <a:gd name="connsiteX1" fmla="*/ 0 w 12192000"/>
              <a:gd name="connsiteY1" fmla="*/ 8858 h 5424557"/>
              <a:gd name="connsiteX2" fmla="*/ 12192000 w 12192000"/>
              <a:gd name="connsiteY2" fmla="*/ 5424557 h 5424557"/>
              <a:gd name="connsiteX3" fmla="*/ 0 w 12192000"/>
              <a:gd name="connsiteY3" fmla="*/ 5424557 h 5424557"/>
              <a:gd name="connsiteX0" fmla="*/ 0 w 12192000"/>
              <a:gd name="connsiteY0" fmla="*/ 5420335 h 5420335"/>
              <a:gd name="connsiteX1" fmla="*/ 0 w 12192000"/>
              <a:gd name="connsiteY1" fmla="*/ 4636 h 5420335"/>
              <a:gd name="connsiteX2" fmla="*/ 12192000 w 12192000"/>
              <a:gd name="connsiteY2" fmla="*/ 5420335 h 5420335"/>
              <a:gd name="connsiteX3" fmla="*/ 0 w 12192000"/>
              <a:gd name="connsiteY3" fmla="*/ 5420335 h 5420335"/>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73613 h 5473613"/>
              <a:gd name="connsiteX1" fmla="*/ 0 w 12192000"/>
              <a:gd name="connsiteY1" fmla="*/ 57914 h 5473613"/>
              <a:gd name="connsiteX2" fmla="*/ 12192000 w 12192000"/>
              <a:gd name="connsiteY2" fmla="*/ 5473613 h 5473613"/>
              <a:gd name="connsiteX3" fmla="*/ 0 w 12192000"/>
              <a:gd name="connsiteY3" fmla="*/ 5473613 h 5473613"/>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 name="connsiteX0" fmla="*/ 0 w 12192000"/>
              <a:gd name="connsiteY0" fmla="*/ 5415699 h 5415699"/>
              <a:gd name="connsiteX1" fmla="*/ 0 w 12192000"/>
              <a:gd name="connsiteY1" fmla="*/ 0 h 5415699"/>
              <a:gd name="connsiteX2" fmla="*/ 12192000 w 12192000"/>
              <a:gd name="connsiteY2" fmla="*/ 5415699 h 5415699"/>
              <a:gd name="connsiteX3" fmla="*/ 0 w 12192000"/>
              <a:gd name="connsiteY3" fmla="*/ 5415699 h 5415699"/>
            </a:gdLst>
            <a:ahLst/>
            <a:cxnLst>
              <a:cxn ang="0">
                <a:pos x="connsiteX0" y="connsiteY0"/>
              </a:cxn>
              <a:cxn ang="0">
                <a:pos x="connsiteX1" y="connsiteY1"/>
              </a:cxn>
              <a:cxn ang="0">
                <a:pos x="connsiteX2" y="connsiteY2"/>
              </a:cxn>
              <a:cxn ang="0">
                <a:pos x="connsiteX3" y="connsiteY3"/>
              </a:cxn>
            </a:cxnLst>
            <a:rect l="l" t="t" r="r" b="b"/>
            <a:pathLst>
              <a:path w="12192000" h="5415699">
                <a:moveTo>
                  <a:pt x="0" y="5415699"/>
                </a:moveTo>
                <a:lnTo>
                  <a:pt x="0" y="0"/>
                </a:lnTo>
                <a:cubicBezTo>
                  <a:pt x="5785354" y="83878"/>
                  <a:pt x="8240816" y="5406728"/>
                  <a:pt x="12192000" y="5415699"/>
                </a:cubicBezTo>
                <a:lnTo>
                  <a:pt x="0" y="5415699"/>
                </a:lnTo>
                <a:close/>
              </a:path>
            </a:pathLst>
          </a:custGeom>
          <a:gradFill flip="none" rotWithShape="1">
            <a:gsLst>
              <a:gs pos="0">
                <a:schemeClr val="accent6">
                  <a:lumMod val="40000"/>
                  <a:lumOff val="60000"/>
                  <a:shade val="30000"/>
                  <a:satMod val="115000"/>
                </a:schemeClr>
              </a:gs>
              <a:gs pos="50000">
                <a:schemeClr val="accent6">
                  <a:lumMod val="40000"/>
                  <a:lumOff val="60000"/>
                  <a:shade val="67500"/>
                  <a:satMod val="115000"/>
                </a:schemeClr>
              </a:gs>
              <a:gs pos="100000">
                <a:schemeClr val="accent6">
                  <a:lumMod val="40000"/>
                  <a:lumOff val="60000"/>
                  <a:shade val="100000"/>
                  <a:satMod val="115000"/>
                </a:schemeClr>
              </a:gs>
            </a:gsLst>
            <a:lin ang="13500000" scaled="1"/>
            <a:tileRect/>
          </a:gradFill>
          <a:ln>
            <a:noFill/>
          </a:ln>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 name="TextBox 18">
            <a:extLst>
              <a:ext uri="{FF2B5EF4-FFF2-40B4-BE49-F238E27FC236}">
                <a16:creationId xmlns:a16="http://schemas.microsoft.com/office/drawing/2014/main" id="{2BB05AC4-4B6C-4504-B934-82A8034A429B}"/>
              </a:ext>
            </a:extLst>
          </p:cNvPr>
          <p:cNvSpPr txBox="1"/>
          <p:nvPr/>
        </p:nvSpPr>
        <p:spPr>
          <a:xfrm>
            <a:off x="5637229" y="3011864"/>
            <a:ext cx="914400" cy="914400"/>
          </a:xfrm>
          <a:prstGeom prst="rect">
            <a:avLst/>
          </a:prstGeom>
          <a:noFill/>
        </p:spPr>
        <p:txBody>
          <a:bodyPr wrap="square" rtlCol="0">
            <a:spAutoFit/>
          </a:bodyPr>
          <a:lstStyle/>
          <a:p>
            <a:endParaRPr lang="en-US" dirty="0"/>
          </a:p>
        </p:txBody>
      </p:sp>
      <p:sp>
        <p:nvSpPr>
          <p:cNvPr id="20" name="TextBox 19">
            <a:extLst>
              <a:ext uri="{FF2B5EF4-FFF2-40B4-BE49-F238E27FC236}">
                <a16:creationId xmlns:a16="http://schemas.microsoft.com/office/drawing/2014/main" id="{25831694-1768-49F8-8A57-9286FEA8083E}"/>
              </a:ext>
            </a:extLst>
          </p:cNvPr>
          <p:cNvSpPr txBox="1"/>
          <p:nvPr/>
        </p:nvSpPr>
        <p:spPr>
          <a:xfrm>
            <a:off x="5637229" y="3011864"/>
            <a:ext cx="914400" cy="914400"/>
          </a:xfrm>
          <a:prstGeom prst="rect">
            <a:avLst/>
          </a:prstGeom>
          <a:noFill/>
        </p:spPr>
        <p:txBody>
          <a:bodyPr wrap="square" rtlCol="0">
            <a:spAutoFit/>
          </a:bodyPr>
          <a:lstStyle/>
          <a:p>
            <a:endParaRPr lang="en-US" dirty="0"/>
          </a:p>
        </p:txBody>
      </p:sp>
      <p:sp>
        <p:nvSpPr>
          <p:cNvPr id="21" name="TextBox 20">
            <a:extLst>
              <a:ext uri="{FF2B5EF4-FFF2-40B4-BE49-F238E27FC236}">
                <a16:creationId xmlns:a16="http://schemas.microsoft.com/office/drawing/2014/main" id="{300FF907-1432-41FF-ACED-4174B011FC24}"/>
              </a:ext>
            </a:extLst>
          </p:cNvPr>
          <p:cNvSpPr txBox="1"/>
          <p:nvPr/>
        </p:nvSpPr>
        <p:spPr>
          <a:xfrm>
            <a:off x="5637229" y="3011864"/>
            <a:ext cx="914400" cy="914400"/>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428618220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0 0 L -0.25 0 E" pathEditMode="relative" ptsTypes="">
                                      <p:cBhvr>
                                        <p:cTn id="6" dur="2000" fill="hold"/>
                                        <p:tgtEl>
                                          <p:spTgt spid="15"/>
                                        </p:tgtEl>
                                        <p:attrNameLst>
                                          <p:attrName>ppt_x</p:attrName>
                                          <p:attrName>ppt_y</p:attrName>
                                        </p:attrNameLst>
                                      </p:cBhvr>
                                    </p:animMotion>
                                  </p:childTnLst>
                                </p:cTn>
                              </p:par>
                              <p:par>
                                <p:cTn id="7" presetID="63" presetClass="path" presetSubtype="0" accel="50000" decel="50000" fill="hold" grpId="0" nodeType="withEffect">
                                  <p:stCondLst>
                                    <p:cond delay="0"/>
                                  </p:stCondLst>
                                  <p:childTnLst>
                                    <p:animMotion origin="layout" path="M 6.25E-7 4.07407E-6 L 0.25 4.07407E-6 " pathEditMode="relative" rAng="0" ptsTypes="AA">
                                      <p:cBhvr>
                                        <p:cTn id="8" dur="2000" fill="hold"/>
                                        <p:tgtEl>
                                          <p:spTgt spid="18"/>
                                        </p:tgtEl>
                                        <p:attrNameLst>
                                          <p:attrName>ppt_x</p:attrName>
                                          <p:attrName>ppt_y</p:attrName>
                                        </p:attrNameLst>
                                      </p:cBhvr>
                                      <p:rCtr x="12500" y="0"/>
                                    </p:animMotion>
                                  </p:childTnLst>
                                </p:cTn>
                              </p:par>
                            </p:childTnLst>
                          </p:cTn>
                        </p:par>
                      </p:childTnLst>
                    </p:cTn>
                  </p:par>
                  <p:par>
                    <p:cTn id="9" fill="hold">
                      <p:stCondLst>
                        <p:cond delay="indefinite"/>
                      </p:stCondLst>
                      <p:childTnLst>
                        <p:par>
                          <p:cTn id="10" fill="hold">
                            <p:stCondLst>
                              <p:cond delay="0"/>
                            </p:stCondLst>
                            <p:childTnLst>
                              <p:par>
                                <p:cTn id="11" presetID="26" presetClass="emph" presetSubtype="0" fill="hold" grpId="0" nodeType="clickEffect">
                                  <p:stCondLst>
                                    <p:cond delay="0"/>
                                  </p:stCondLst>
                                  <p:childTnLst>
                                    <p:animEffect transition="out" filter="fade">
                                      <p:cBhvr>
                                        <p:cTn id="12" dur="500" tmFilter="0, 0; .2, .5; .8, .5; 1, 0"/>
                                        <p:tgtEl>
                                          <p:spTgt spid="22"/>
                                        </p:tgtEl>
                                      </p:cBhvr>
                                    </p:animEffect>
                                    <p:animScale>
                                      <p:cBhvr>
                                        <p:cTn id="13" dur="250" autoRev="1" fill="hold"/>
                                        <p:tgtEl>
                                          <p:spTgt spid="2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15"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Hexagon 6">
            <a:extLst>
              <a:ext uri="{FF2B5EF4-FFF2-40B4-BE49-F238E27FC236}">
                <a16:creationId xmlns:a16="http://schemas.microsoft.com/office/drawing/2014/main" id="{B28C1C9A-39F8-4214-9B05-4EDF66263762}"/>
              </a:ext>
            </a:extLst>
          </p:cNvPr>
          <p:cNvSpPr/>
          <p:nvPr/>
        </p:nvSpPr>
        <p:spPr>
          <a:xfrm>
            <a:off x="9138159" y="3005424"/>
            <a:ext cx="2447826" cy="1884552"/>
          </a:xfrm>
          <a:prstGeom prst="hexagon">
            <a:avLst/>
          </a:prstGeom>
          <a:blipFill dpi="0" rotWithShape="1">
            <a:blip r:embed="rId2">
              <a:extLst>
                <a:ext uri="{28A0092B-C50C-407E-A947-70E740481C1C}">
                  <a14:useLocalDpi xmlns:a14="http://schemas.microsoft.com/office/drawing/2010/main" val="0"/>
                </a:ext>
              </a:extLst>
            </a:blip>
            <a:srcRect/>
            <a:stretch>
              <a:fillRect/>
            </a:stretch>
          </a:blipFill>
          <a:ln>
            <a:solidFill>
              <a:schemeClr val="tx1"/>
            </a:solidFill>
          </a:ln>
          <a:effectLst>
            <a:outerShdw blurRad="50800" dist="38100" dir="13500000" algn="br"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exagon 7">
            <a:extLst>
              <a:ext uri="{FF2B5EF4-FFF2-40B4-BE49-F238E27FC236}">
                <a16:creationId xmlns:a16="http://schemas.microsoft.com/office/drawing/2014/main" id="{CC93686B-8B65-49BE-9455-5B4780CC562C}"/>
              </a:ext>
            </a:extLst>
          </p:cNvPr>
          <p:cNvSpPr/>
          <p:nvPr/>
        </p:nvSpPr>
        <p:spPr>
          <a:xfrm>
            <a:off x="7054393" y="12015"/>
            <a:ext cx="2447826" cy="1807358"/>
          </a:xfrm>
          <a:prstGeom prst="hexagon">
            <a:avLst/>
          </a:prstGeom>
          <a:blipFill dpi="0" rotWithShape="1">
            <a:blip r:embed="rId3">
              <a:extLst>
                <a:ext uri="{28A0092B-C50C-407E-A947-70E740481C1C}">
                  <a14:useLocalDpi xmlns:a14="http://schemas.microsoft.com/office/drawing/2010/main" val="0"/>
                </a:ext>
              </a:extLst>
            </a:blip>
            <a:srcRect/>
            <a:stretch>
              <a:fillRect/>
            </a:stretch>
          </a:blipFill>
          <a:ln>
            <a:solidFill>
              <a:schemeClr val="tx1"/>
            </a:solidFill>
          </a:ln>
          <a:effectLst>
            <a:outerShdw blurRad="50800" dist="38100" dir="13500000" algn="br"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Hexagon 8">
            <a:extLst>
              <a:ext uri="{FF2B5EF4-FFF2-40B4-BE49-F238E27FC236}">
                <a16:creationId xmlns:a16="http://schemas.microsoft.com/office/drawing/2014/main" id="{00633FBE-A5F3-4283-9094-DA00217A92E9}"/>
              </a:ext>
            </a:extLst>
          </p:cNvPr>
          <p:cNvSpPr/>
          <p:nvPr/>
        </p:nvSpPr>
        <p:spPr>
          <a:xfrm>
            <a:off x="7073684" y="1980710"/>
            <a:ext cx="2447826" cy="1807358"/>
          </a:xfrm>
          <a:prstGeom prst="hexagon">
            <a:avLst/>
          </a:prstGeom>
          <a:blipFill dpi="0" rotWithShape="1">
            <a:blip r:embed="rId4">
              <a:extLst>
                <a:ext uri="{28A0092B-C50C-407E-A947-70E740481C1C}">
                  <a14:useLocalDpi xmlns:a14="http://schemas.microsoft.com/office/drawing/2010/main" val="0"/>
                </a:ext>
              </a:extLst>
            </a:blip>
            <a:srcRect/>
            <a:stretch>
              <a:fillRect/>
            </a:stretch>
          </a:blipFill>
          <a:ln>
            <a:solidFill>
              <a:schemeClr val="tx1"/>
            </a:solidFill>
          </a:ln>
          <a:effectLst>
            <a:outerShdw blurRad="50800" dist="38100" dir="13500000" algn="br"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exagon 9">
            <a:extLst>
              <a:ext uri="{FF2B5EF4-FFF2-40B4-BE49-F238E27FC236}">
                <a16:creationId xmlns:a16="http://schemas.microsoft.com/office/drawing/2014/main" id="{585E42A2-FA1C-4A36-9B1C-2A24EA788760}"/>
              </a:ext>
            </a:extLst>
          </p:cNvPr>
          <p:cNvSpPr/>
          <p:nvPr/>
        </p:nvSpPr>
        <p:spPr>
          <a:xfrm>
            <a:off x="7054830" y="3985168"/>
            <a:ext cx="2447826" cy="1807358"/>
          </a:xfrm>
          <a:prstGeom prst="hexagon">
            <a:avLst/>
          </a:prstGeom>
          <a:blipFill dpi="0" rotWithShape="1">
            <a:blip r:embed="rId5">
              <a:extLst>
                <a:ext uri="{28A0092B-C50C-407E-A947-70E740481C1C}">
                  <a14:useLocalDpi xmlns:a14="http://schemas.microsoft.com/office/drawing/2010/main" val="0"/>
                </a:ext>
              </a:extLst>
            </a:blip>
            <a:srcRect/>
            <a:stretch>
              <a:fillRect/>
            </a:stretch>
          </a:blipFill>
          <a:ln>
            <a:solidFill>
              <a:schemeClr val="tx1"/>
            </a:solidFill>
          </a:ln>
          <a:effectLst>
            <a:outerShdw blurRad="50800" dist="38100" dir="13500000" algn="br"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exagon 10">
            <a:extLst>
              <a:ext uri="{FF2B5EF4-FFF2-40B4-BE49-F238E27FC236}">
                <a16:creationId xmlns:a16="http://schemas.microsoft.com/office/drawing/2014/main" id="{77200D6E-5C54-49E7-838A-E0484112414F}"/>
              </a:ext>
            </a:extLst>
          </p:cNvPr>
          <p:cNvSpPr/>
          <p:nvPr/>
        </p:nvSpPr>
        <p:spPr>
          <a:xfrm>
            <a:off x="9109878" y="5011149"/>
            <a:ext cx="2447826" cy="1884552"/>
          </a:xfrm>
          <a:prstGeom prst="hexagon">
            <a:avLst/>
          </a:prstGeom>
          <a:blipFill dpi="0" rotWithShape="1">
            <a:blip r:embed="rId6">
              <a:extLst>
                <a:ext uri="{28A0092B-C50C-407E-A947-70E740481C1C}">
                  <a14:useLocalDpi xmlns:a14="http://schemas.microsoft.com/office/drawing/2010/main" val="0"/>
                </a:ext>
              </a:extLst>
            </a:blip>
            <a:srcRect/>
            <a:stretch>
              <a:fillRect/>
            </a:stretch>
          </a:blipFill>
          <a:ln>
            <a:solidFill>
              <a:schemeClr val="tx1"/>
            </a:solidFill>
          </a:ln>
          <a:effectLst>
            <a:outerShdw blurRad="50800" dist="38100" dir="13500000" algn="br"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A38478D2-4704-4001-AABA-450AE2F81862}"/>
              </a:ext>
            </a:extLst>
          </p:cNvPr>
          <p:cNvSpPr txBox="1"/>
          <p:nvPr/>
        </p:nvSpPr>
        <p:spPr>
          <a:xfrm>
            <a:off x="0" y="45263"/>
            <a:ext cx="7054393" cy="646331"/>
          </a:xfrm>
          <a:prstGeom prst="homePlate">
            <a:avLst/>
          </a:prstGeom>
          <a:gradFill flip="none" rotWithShape="1">
            <a:gsLst>
              <a:gs pos="0">
                <a:schemeClr val="bg2">
                  <a:tint val="66000"/>
                  <a:satMod val="160000"/>
                </a:schemeClr>
              </a:gs>
              <a:gs pos="50000">
                <a:schemeClr val="bg2">
                  <a:tint val="44500"/>
                  <a:satMod val="160000"/>
                </a:schemeClr>
              </a:gs>
              <a:gs pos="100000">
                <a:schemeClr val="bg2">
                  <a:tint val="23500"/>
                  <a:satMod val="160000"/>
                </a:schemeClr>
              </a:gs>
            </a:gsLst>
            <a:path path="circle">
              <a:fillToRect l="50000" t="50000" r="50000" b="50000"/>
            </a:path>
            <a:tileRect/>
          </a:gradFill>
          <a:ln>
            <a:solidFill>
              <a:schemeClr val="bg2"/>
            </a:solidFill>
          </a:ln>
          <a:effectLst>
            <a:outerShdw blurRad="50800" dist="38100" dir="2700000" algn="tl" rotWithShape="0">
              <a:prstClr val="black">
                <a:alpha val="40000"/>
              </a:prstClr>
            </a:outerShdw>
            <a:softEdge rad="63500"/>
          </a:effectLst>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US" sz="3600" b="1" dirty="0">
                <a:ln/>
                <a:solidFill>
                  <a:schemeClr val="accent3"/>
                </a:solidFill>
                <a:latin typeface="BankGothic Lt BT" panose="020B0607020203060204" pitchFamily="34" charset="0"/>
              </a:rPr>
              <a:t>Ma Yoon </a:t>
            </a:r>
            <a:r>
              <a:rPr lang="en-US" sz="3600" b="1" dirty="0" err="1">
                <a:ln/>
                <a:solidFill>
                  <a:schemeClr val="accent3"/>
                </a:solidFill>
                <a:latin typeface="BankGothic Lt BT" panose="020B0607020203060204" pitchFamily="34" charset="0"/>
              </a:rPr>
              <a:t>Darli</a:t>
            </a:r>
            <a:r>
              <a:rPr lang="en-US" sz="3600" b="1" dirty="0">
                <a:ln/>
                <a:solidFill>
                  <a:schemeClr val="accent3"/>
                </a:solidFill>
                <a:latin typeface="BankGothic Lt BT" panose="020B0607020203060204" pitchFamily="34" charset="0"/>
              </a:rPr>
              <a:t> Win </a:t>
            </a:r>
            <a:r>
              <a:rPr lang="en-US" sz="3600" b="1" dirty="0" err="1">
                <a:ln/>
                <a:solidFill>
                  <a:schemeClr val="accent3"/>
                </a:solidFill>
                <a:latin typeface="BankGothic Lt BT" panose="020B0607020203060204" pitchFamily="34" charset="0"/>
              </a:rPr>
              <a:t>Maung</a:t>
            </a:r>
            <a:endParaRPr lang="en-US" sz="3600" b="1" dirty="0">
              <a:ln/>
              <a:solidFill>
                <a:schemeClr val="accent3"/>
              </a:solidFill>
              <a:latin typeface="BankGothic Lt BT" panose="020B0607020203060204" pitchFamily="34" charset="0"/>
            </a:endParaRPr>
          </a:p>
        </p:txBody>
      </p:sp>
      <p:sp>
        <p:nvSpPr>
          <p:cNvPr id="17" name="TextBox 16">
            <a:extLst>
              <a:ext uri="{FF2B5EF4-FFF2-40B4-BE49-F238E27FC236}">
                <a16:creationId xmlns:a16="http://schemas.microsoft.com/office/drawing/2014/main" id="{A0444E16-EEB5-4E1E-9EF6-51314F5C6092}"/>
              </a:ext>
            </a:extLst>
          </p:cNvPr>
          <p:cNvSpPr txBox="1"/>
          <p:nvPr/>
        </p:nvSpPr>
        <p:spPr>
          <a:xfrm>
            <a:off x="4707" y="1227831"/>
            <a:ext cx="7054393" cy="646331"/>
          </a:xfrm>
          <a:prstGeom prst="homePlate">
            <a:avLst/>
          </a:prstGeom>
          <a:gradFill flip="none" rotWithShape="1">
            <a:gsLst>
              <a:gs pos="0">
                <a:schemeClr val="bg2">
                  <a:tint val="66000"/>
                  <a:satMod val="160000"/>
                </a:schemeClr>
              </a:gs>
              <a:gs pos="50000">
                <a:schemeClr val="bg2">
                  <a:tint val="44500"/>
                  <a:satMod val="160000"/>
                </a:schemeClr>
              </a:gs>
              <a:gs pos="100000">
                <a:schemeClr val="bg2">
                  <a:tint val="23500"/>
                  <a:satMod val="160000"/>
                </a:schemeClr>
              </a:gs>
            </a:gsLst>
            <a:path path="circle">
              <a:fillToRect l="50000" t="50000" r="50000" b="50000"/>
            </a:path>
            <a:tileRect/>
          </a:gradFill>
          <a:ln>
            <a:solidFill>
              <a:schemeClr val="tx2">
                <a:lumMod val="60000"/>
                <a:lumOff val="40000"/>
              </a:schemeClr>
            </a:solidFill>
          </a:ln>
          <a:effectLst>
            <a:outerShdw blurRad="50800" dist="38100" dir="2700000" algn="tl" rotWithShape="0">
              <a:prstClr val="black">
                <a:alpha val="40000"/>
              </a:prstClr>
            </a:outerShdw>
            <a:softEdge rad="63500"/>
          </a:effectLst>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US" sz="3600" b="1" dirty="0">
                <a:ln/>
                <a:solidFill>
                  <a:schemeClr val="accent3"/>
                </a:solidFill>
                <a:latin typeface="BankGothic Lt BT" panose="020B0607020203060204" pitchFamily="34" charset="0"/>
              </a:rPr>
              <a:t>Ma Shar </a:t>
            </a:r>
            <a:r>
              <a:rPr lang="en-US" sz="3600" b="1" dirty="0" err="1">
                <a:ln/>
                <a:solidFill>
                  <a:schemeClr val="accent3"/>
                </a:solidFill>
                <a:latin typeface="BankGothic Lt BT" panose="020B0607020203060204" pitchFamily="34" charset="0"/>
              </a:rPr>
              <a:t>Thet</a:t>
            </a:r>
            <a:r>
              <a:rPr lang="en-US" sz="3600" b="1" dirty="0">
                <a:ln/>
                <a:solidFill>
                  <a:schemeClr val="accent3"/>
                </a:solidFill>
                <a:latin typeface="BankGothic Lt BT" panose="020B0607020203060204" pitchFamily="34" charset="0"/>
              </a:rPr>
              <a:t> Han</a:t>
            </a:r>
          </a:p>
        </p:txBody>
      </p:sp>
      <p:sp>
        <p:nvSpPr>
          <p:cNvPr id="18" name="TextBox 17">
            <a:extLst>
              <a:ext uri="{FF2B5EF4-FFF2-40B4-BE49-F238E27FC236}">
                <a16:creationId xmlns:a16="http://schemas.microsoft.com/office/drawing/2014/main" id="{3BF13970-9C6D-482D-A938-5D7171506771}"/>
              </a:ext>
            </a:extLst>
          </p:cNvPr>
          <p:cNvSpPr txBox="1"/>
          <p:nvPr/>
        </p:nvSpPr>
        <p:spPr>
          <a:xfrm>
            <a:off x="14134" y="2489837"/>
            <a:ext cx="7054393" cy="646331"/>
          </a:xfrm>
          <a:prstGeom prst="homePlate">
            <a:avLst/>
          </a:prstGeom>
          <a:gradFill flip="none" rotWithShape="1">
            <a:gsLst>
              <a:gs pos="0">
                <a:schemeClr val="bg2">
                  <a:tint val="66000"/>
                  <a:satMod val="160000"/>
                </a:schemeClr>
              </a:gs>
              <a:gs pos="50000">
                <a:schemeClr val="bg2">
                  <a:tint val="44500"/>
                  <a:satMod val="160000"/>
                </a:schemeClr>
              </a:gs>
              <a:gs pos="100000">
                <a:schemeClr val="bg2">
                  <a:tint val="23500"/>
                  <a:satMod val="160000"/>
                </a:schemeClr>
              </a:gs>
            </a:gsLst>
            <a:path path="circle">
              <a:fillToRect l="50000" t="50000" r="50000" b="50000"/>
            </a:path>
            <a:tileRect/>
          </a:gradFill>
          <a:ln>
            <a:solidFill>
              <a:schemeClr val="tx2">
                <a:lumMod val="60000"/>
                <a:lumOff val="40000"/>
              </a:schemeClr>
            </a:solidFill>
          </a:ln>
          <a:effectLst>
            <a:outerShdw blurRad="50800" dist="38100" dir="2700000" algn="tl" rotWithShape="0">
              <a:prstClr val="black">
                <a:alpha val="40000"/>
              </a:prstClr>
            </a:outerShdw>
            <a:softEdge rad="63500"/>
          </a:effectLst>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US" sz="3600" b="1" dirty="0">
                <a:ln/>
                <a:solidFill>
                  <a:schemeClr val="accent3"/>
                </a:solidFill>
                <a:latin typeface="BankGothic Lt BT" panose="020B0607020203060204" pitchFamily="34" charset="0"/>
              </a:rPr>
              <a:t>Ma </a:t>
            </a:r>
            <a:r>
              <a:rPr lang="en-US" sz="3600" b="1" dirty="0" err="1">
                <a:ln/>
                <a:solidFill>
                  <a:schemeClr val="accent3"/>
                </a:solidFill>
                <a:latin typeface="BankGothic Lt BT" panose="020B0607020203060204" pitchFamily="34" charset="0"/>
              </a:rPr>
              <a:t>Khin</a:t>
            </a:r>
            <a:r>
              <a:rPr lang="en-US" sz="3600" b="1" dirty="0">
                <a:ln/>
                <a:solidFill>
                  <a:schemeClr val="accent3"/>
                </a:solidFill>
                <a:latin typeface="BankGothic Lt BT" panose="020B0607020203060204" pitchFamily="34" charset="0"/>
              </a:rPr>
              <a:t> </a:t>
            </a:r>
            <a:r>
              <a:rPr lang="en-US" sz="3600" b="1" dirty="0" err="1">
                <a:ln/>
                <a:solidFill>
                  <a:schemeClr val="accent3"/>
                </a:solidFill>
                <a:latin typeface="BankGothic Lt BT" panose="020B0607020203060204" pitchFamily="34" charset="0"/>
              </a:rPr>
              <a:t>Hteik</a:t>
            </a:r>
            <a:r>
              <a:rPr lang="en-US" sz="3600" b="1" dirty="0">
                <a:ln/>
                <a:solidFill>
                  <a:schemeClr val="accent3"/>
                </a:solidFill>
                <a:latin typeface="BankGothic Lt BT" panose="020B0607020203060204" pitchFamily="34" charset="0"/>
              </a:rPr>
              <a:t> </a:t>
            </a:r>
            <a:r>
              <a:rPr lang="en-US" sz="3600" b="1" dirty="0" err="1">
                <a:ln/>
                <a:solidFill>
                  <a:schemeClr val="accent3"/>
                </a:solidFill>
                <a:latin typeface="BankGothic Lt BT" panose="020B0607020203060204" pitchFamily="34" charset="0"/>
              </a:rPr>
              <a:t>Htar</a:t>
            </a:r>
            <a:r>
              <a:rPr lang="en-US" sz="3600" b="1" dirty="0">
                <a:ln/>
                <a:solidFill>
                  <a:schemeClr val="accent3"/>
                </a:solidFill>
                <a:latin typeface="BankGothic Lt BT" panose="020B0607020203060204" pitchFamily="34" charset="0"/>
              </a:rPr>
              <a:t> </a:t>
            </a:r>
            <a:r>
              <a:rPr lang="en-US" sz="3600" b="1" dirty="0" err="1">
                <a:ln/>
                <a:solidFill>
                  <a:schemeClr val="accent3"/>
                </a:solidFill>
                <a:latin typeface="BankGothic Lt BT" panose="020B0607020203060204" pitchFamily="34" charset="0"/>
              </a:rPr>
              <a:t>Oo</a:t>
            </a:r>
            <a:endParaRPr lang="en-US" sz="3600" b="1" dirty="0">
              <a:ln/>
              <a:solidFill>
                <a:schemeClr val="accent3"/>
              </a:solidFill>
              <a:latin typeface="BankGothic Lt BT" panose="020B0607020203060204" pitchFamily="34" charset="0"/>
            </a:endParaRPr>
          </a:p>
        </p:txBody>
      </p:sp>
      <p:sp>
        <p:nvSpPr>
          <p:cNvPr id="19" name="TextBox 18">
            <a:extLst>
              <a:ext uri="{FF2B5EF4-FFF2-40B4-BE49-F238E27FC236}">
                <a16:creationId xmlns:a16="http://schemas.microsoft.com/office/drawing/2014/main" id="{DC1ADF5F-D5C1-4912-A1DB-D6098CE1EF5F}"/>
              </a:ext>
            </a:extLst>
          </p:cNvPr>
          <p:cNvSpPr txBox="1"/>
          <p:nvPr/>
        </p:nvSpPr>
        <p:spPr>
          <a:xfrm>
            <a:off x="14134" y="3787192"/>
            <a:ext cx="7054393" cy="646331"/>
          </a:xfrm>
          <a:prstGeom prst="homePlate">
            <a:avLst/>
          </a:prstGeom>
          <a:gradFill flip="none" rotWithShape="1">
            <a:gsLst>
              <a:gs pos="0">
                <a:schemeClr val="bg2">
                  <a:tint val="66000"/>
                  <a:satMod val="160000"/>
                </a:schemeClr>
              </a:gs>
              <a:gs pos="50000">
                <a:schemeClr val="bg2">
                  <a:tint val="44500"/>
                  <a:satMod val="160000"/>
                </a:schemeClr>
              </a:gs>
              <a:gs pos="100000">
                <a:schemeClr val="bg2">
                  <a:tint val="23500"/>
                  <a:satMod val="160000"/>
                </a:schemeClr>
              </a:gs>
            </a:gsLst>
            <a:path path="circle">
              <a:fillToRect l="50000" t="50000" r="50000" b="50000"/>
            </a:path>
            <a:tileRect/>
          </a:gradFill>
          <a:ln>
            <a:solidFill>
              <a:schemeClr val="tx2">
                <a:lumMod val="60000"/>
                <a:lumOff val="40000"/>
              </a:schemeClr>
            </a:solidFill>
          </a:ln>
          <a:effectLst>
            <a:outerShdw blurRad="50800" dist="38100" dir="2700000" algn="tl" rotWithShape="0">
              <a:prstClr val="black">
                <a:alpha val="40000"/>
              </a:prstClr>
            </a:outerShdw>
            <a:softEdge rad="63500"/>
          </a:effectLst>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US" sz="3600" b="1" dirty="0">
                <a:ln/>
                <a:solidFill>
                  <a:schemeClr val="accent3"/>
                </a:solidFill>
                <a:latin typeface="BankGothic Lt BT" panose="020B0607020203060204" pitchFamily="34" charset="0"/>
              </a:rPr>
              <a:t>Ma </a:t>
            </a:r>
            <a:r>
              <a:rPr lang="en-US" sz="3600" b="1" dirty="0" err="1">
                <a:ln/>
                <a:solidFill>
                  <a:schemeClr val="accent3"/>
                </a:solidFill>
                <a:latin typeface="BankGothic Lt BT" panose="020B0607020203060204" pitchFamily="34" charset="0"/>
              </a:rPr>
              <a:t>Shoon</a:t>
            </a:r>
            <a:r>
              <a:rPr lang="en-US" sz="3600" b="1" dirty="0">
                <a:ln/>
                <a:solidFill>
                  <a:schemeClr val="accent3"/>
                </a:solidFill>
                <a:latin typeface="BankGothic Lt BT" panose="020B0607020203060204" pitchFamily="34" charset="0"/>
              </a:rPr>
              <a:t> </a:t>
            </a:r>
            <a:r>
              <a:rPr lang="en-US" sz="3600" b="1" dirty="0" err="1">
                <a:ln/>
                <a:solidFill>
                  <a:schemeClr val="accent3"/>
                </a:solidFill>
                <a:latin typeface="BankGothic Lt BT" panose="020B0607020203060204" pitchFamily="34" charset="0"/>
              </a:rPr>
              <a:t>Lae</a:t>
            </a:r>
            <a:r>
              <a:rPr lang="en-US" sz="3600" b="1" dirty="0">
                <a:ln/>
                <a:solidFill>
                  <a:schemeClr val="accent3"/>
                </a:solidFill>
                <a:latin typeface="BankGothic Lt BT" panose="020B0607020203060204" pitchFamily="34" charset="0"/>
              </a:rPr>
              <a:t> Wai</a:t>
            </a:r>
          </a:p>
        </p:txBody>
      </p:sp>
      <p:sp>
        <p:nvSpPr>
          <p:cNvPr id="20" name="TextBox 19">
            <a:extLst>
              <a:ext uri="{FF2B5EF4-FFF2-40B4-BE49-F238E27FC236}">
                <a16:creationId xmlns:a16="http://schemas.microsoft.com/office/drawing/2014/main" id="{B18DEBE9-F312-40D8-97AA-D51C04959FAB}"/>
              </a:ext>
            </a:extLst>
          </p:cNvPr>
          <p:cNvSpPr txBox="1"/>
          <p:nvPr/>
        </p:nvSpPr>
        <p:spPr>
          <a:xfrm>
            <a:off x="23561" y="5008560"/>
            <a:ext cx="7054393" cy="646331"/>
          </a:xfrm>
          <a:prstGeom prst="homePlate">
            <a:avLst/>
          </a:prstGeom>
          <a:gradFill flip="none" rotWithShape="1">
            <a:gsLst>
              <a:gs pos="0">
                <a:schemeClr val="bg2">
                  <a:tint val="66000"/>
                  <a:satMod val="160000"/>
                </a:schemeClr>
              </a:gs>
              <a:gs pos="50000">
                <a:schemeClr val="bg2">
                  <a:tint val="44500"/>
                  <a:satMod val="160000"/>
                </a:schemeClr>
              </a:gs>
              <a:gs pos="100000">
                <a:schemeClr val="bg2">
                  <a:tint val="23500"/>
                  <a:satMod val="160000"/>
                </a:schemeClr>
              </a:gs>
            </a:gsLst>
            <a:path path="circle">
              <a:fillToRect l="50000" t="50000" r="50000" b="50000"/>
            </a:path>
            <a:tileRect/>
          </a:gradFill>
          <a:ln>
            <a:solidFill>
              <a:schemeClr val="tx2">
                <a:lumMod val="60000"/>
                <a:lumOff val="40000"/>
              </a:schemeClr>
            </a:solidFill>
          </a:ln>
          <a:effectLst>
            <a:outerShdw blurRad="50800" dist="38100" dir="2700000" algn="tl" rotWithShape="0">
              <a:prstClr val="black">
                <a:alpha val="40000"/>
              </a:prstClr>
            </a:outerShdw>
            <a:softEdge rad="63500"/>
          </a:effectLst>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US" sz="3600" b="1" dirty="0">
                <a:ln/>
                <a:solidFill>
                  <a:schemeClr val="accent3"/>
                </a:solidFill>
                <a:latin typeface="BankGothic Lt BT" panose="020B0607020203060204" pitchFamily="34" charset="0"/>
              </a:rPr>
              <a:t>Ma Aye Nyein </a:t>
            </a:r>
            <a:r>
              <a:rPr lang="en-US" sz="3600" b="1" dirty="0" err="1">
                <a:ln/>
                <a:solidFill>
                  <a:schemeClr val="accent3"/>
                </a:solidFill>
                <a:latin typeface="BankGothic Lt BT" panose="020B0607020203060204" pitchFamily="34" charset="0"/>
              </a:rPr>
              <a:t>Phyoe</a:t>
            </a:r>
            <a:endParaRPr lang="en-US" sz="3600" b="1" dirty="0">
              <a:ln/>
              <a:solidFill>
                <a:schemeClr val="accent3"/>
              </a:solidFill>
              <a:latin typeface="BankGothic Lt BT" panose="020B0607020203060204" pitchFamily="34" charset="0"/>
            </a:endParaRPr>
          </a:p>
        </p:txBody>
      </p:sp>
      <p:sp>
        <p:nvSpPr>
          <p:cNvPr id="12" name="Hexagon 11">
            <a:extLst>
              <a:ext uri="{FF2B5EF4-FFF2-40B4-BE49-F238E27FC236}">
                <a16:creationId xmlns:a16="http://schemas.microsoft.com/office/drawing/2014/main" id="{00AB7F90-DA86-4062-B54E-DFBB73263960}"/>
              </a:ext>
            </a:extLst>
          </p:cNvPr>
          <p:cNvSpPr/>
          <p:nvPr/>
        </p:nvSpPr>
        <p:spPr>
          <a:xfrm>
            <a:off x="9138159" y="992419"/>
            <a:ext cx="2447826" cy="1884552"/>
          </a:xfrm>
          <a:prstGeom prst="hexagon">
            <a:avLst/>
          </a:prstGeom>
          <a:blipFill dpi="0" rotWithShape="1">
            <a:blip r:embed="rId7">
              <a:extLst>
                <a:ext uri="{28A0092B-C50C-407E-A947-70E740481C1C}">
                  <a14:useLocalDpi xmlns:a14="http://schemas.microsoft.com/office/drawing/2010/main" val="0"/>
                </a:ext>
              </a:extLst>
            </a:blip>
            <a:srcRect/>
            <a:stretch>
              <a:fillRect/>
            </a:stretch>
          </a:blipFill>
          <a:ln>
            <a:solidFill>
              <a:schemeClr val="tx1"/>
            </a:solidFill>
          </a:ln>
          <a:effectLst>
            <a:outerShdw blurRad="50800" dist="38100" dir="13500000" algn="br"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7017197-724F-4EBD-8301-2DA550A0C715}"/>
              </a:ext>
            </a:extLst>
          </p:cNvPr>
          <p:cNvSpPr txBox="1"/>
          <p:nvPr/>
        </p:nvSpPr>
        <p:spPr>
          <a:xfrm>
            <a:off x="23561" y="6215168"/>
            <a:ext cx="7054393" cy="646331"/>
          </a:xfrm>
          <a:prstGeom prst="homePlate">
            <a:avLst/>
          </a:prstGeom>
          <a:gradFill flip="none" rotWithShape="1">
            <a:gsLst>
              <a:gs pos="0">
                <a:schemeClr val="bg2">
                  <a:tint val="66000"/>
                  <a:satMod val="160000"/>
                </a:schemeClr>
              </a:gs>
              <a:gs pos="50000">
                <a:schemeClr val="bg2">
                  <a:tint val="44500"/>
                  <a:satMod val="160000"/>
                </a:schemeClr>
              </a:gs>
              <a:gs pos="100000">
                <a:schemeClr val="bg2">
                  <a:tint val="23500"/>
                  <a:satMod val="160000"/>
                </a:schemeClr>
              </a:gs>
            </a:gsLst>
            <a:path path="circle">
              <a:fillToRect l="50000" t="50000" r="50000" b="50000"/>
            </a:path>
            <a:tileRect/>
          </a:gradFill>
          <a:ln>
            <a:solidFill>
              <a:schemeClr val="tx2">
                <a:lumMod val="60000"/>
                <a:lumOff val="40000"/>
              </a:schemeClr>
            </a:solidFill>
          </a:ln>
          <a:effectLst>
            <a:outerShdw blurRad="50800" dist="38100" dir="2700000" algn="tl" rotWithShape="0">
              <a:prstClr val="black">
                <a:alpha val="40000"/>
              </a:prstClr>
            </a:outerShdw>
            <a:softEdge rad="63500"/>
          </a:effectLst>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US" sz="3600" b="1" dirty="0">
                <a:ln/>
                <a:solidFill>
                  <a:schemeClr val="accent3"/>
                </a:solidFill>
                <a:latin typeface="BankGothic Lt BT" panose="020B0607020203060204" pitchFamily="34" charset="0"/>
              </a:rPr>
              <a:t>Mg </a:t>
            </a:r>
            <a:r>
              <a:rPr lang="en-US" sz="3600" b="1" dirty="0" err="1">
                <a:ln/>
                <a:solidFill>
                  <a:schemeClr val="accent3"/>
                </a:solidFill>
                <a:latin typeface="BankGothic Lt BT" panose="020B0607020203060204" pitchFamily="34" charset="0"/>
              </a:rPr>
              <a:t>Htet</a:t>
            </a:r>
            <a:r>
              <a:rPr lang="en-US" sz="3600" b="1" dirty="0">
                <a:ln/>
                <a:solidFill>
                  <a:schemeClr val="accent3"/>
                </a:solidFill>
                <a:latin typeface="BankGothic Lt BT" panose="020B0607020203060204" pitchFamily="34" charset="0"/>
              </a:rPr>
              <a:t> Yan </a:t>
            </a:r>
            <a:r>
              <a:rPr lang="en-US" sz="3600" b="1" dirty="0" err="1">
                <a:ln/>
                <a:solidFill>
                  <a:schemeClr val="accent3"/>
                </a:solidFill>
                <a:latin typeface="BankGothic Lt BT" panose="020B0607020203060204" pitchFamily="34" charset="0"/>
              </a:rPr>
              <a:t>aung</a:t>
            </a:r>
            <a:endParaRPr lang="en-US" sz="3600" b="1" dirty="0">
              <a:ln/>
              <a:solidFill>
                <a:schemeClr val="accent3"/>
              </a:solidFill>
              <a:latin typeface="BankGothic Lt BT" panose="020B0607020203060204" pitchFamily="34" charset="0"/>
            </a:endParaRPr>
          </a:p>
        </p:txBody>
      </p:sp>
    </p:spTree>
    <p:extLst>
      <p:ext uri="{BB962C8B-B14F-4D97-AF65-F5344CB8AC3E}">
        <p14:creationId xmlns:p14="http://schemas.microsoft.com/office/powerpoint/2010/main" val="3858056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41" presetClass="entr" presetSubtype="0" fill="hold" grpId="0" nodeType="clickEffect">
                                  <p:stCondLst>
                                    <p:cond delay="0"/>
                                  </p:stCondLst>
                                  <p:iterate type="lt">
                                    <p:tmPct val="10000"/>
                                  </p:iterate>
                                  <p:childTnLst>
                                    <p:set>
                                      <p:cBhvr>
                                        <p:cTn id="20" dur="1" fill="hold">
                                          <p:stCondLst>
                                            <p:cond delay="0"/>
                                          </p:stCondLst>
                                        </p:cTn>
                                        <p:tgtEl>
                                          <p:spTgt spid="17"/>
                                        </p:tgtEl>
                                        <p:attrNameLst>
                                          <p:attrName>style.visibility</p:attrName>
                                        </p:attrNameLst>
                                      </p:cBhvr>
                                      <p:to>
                                        <p:strVal val="visible"/>
                                      </p:to>
                                    </p:set>
                                    <p:anim calcmode="lin" valueType="num">
                                      <p:cBhvr>
                                        <p:cTn id="21"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7"/>
                                        </p:tgtEl>
                                        <p:attrNameLst>
                                          <p:attrName>ppt_y</p:attrName>
                                        </p:attrNameLst>
                                      </p:cBhvr>
                                      <p:tavLst>
                                        <p:tav tm="0">
                                          <p:val>
                                            <p:strVal val="#ppt_y"/>
                                          </p:val>
                                        </p:tav>
                                        <p:tav tm="100000">
                                          <p:val>
                                            <p:strVal val="#ppt_y"/>
                                          </p:val>
                                        </p:tav>
                                      </p:tavLst>
                                    </p:anim>
                                    <p:anim calcmode="lin" valueType="num">
                                      <p:cBhvr>
                                        <p:cTn id="23"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diamond(in)">
                                      <p:cBhvr>
                                        <p:cTn id="30" dur="20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41" presetClass="entr" presetSubtype="0" fill="hold" grpId="0" nodeType="clickEffect">
                                  <p:stCondLst>
                                    <p:cond delay="0"/>
                                  </p:stCondLst>
                                  <p:iterate type="lt">
                                    <p:tmPct val="10000"/>
                                  </p:iterate>
                                  <p:childTnLst>
                                    <p:set>
                                      <p:cBhvr>
                                        <p:cTn id="34" dur="1" fill="hold">
                                          <p:stCondLst>
                                            <p:cond delay="0"/>
                                          </p:stCondLst>
                                        </p:cTn>
                                        <p:tgtEl>
                                          <p:spTgt spid="18"/>
                                        </p:tgtEl>
                                        <p:attrNameLst>
                                          <p:attrName>style.visibility</p:attrName>
                                        </p:attrNameLst>
                                      </p:cBhvr>
                                      <p:to>
                                        <p:strVal val="visible"/>
                                      </p:to>
                                    </p:set>
                                    <p:anim calcmode="lin" valueType="num">
                                      <p:cBhvr>
                                        <p:cTn id="35"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18"/>
                                        </p:tgtEl>
                                        <p:attrNameLst>
                                          <p:attrName>ppt_y</p:attrName>
                                        </p:attrNameLst>
                                      </p:cBhvr>
                                      <p:tavLst>
                                        <p:tav tm="0">
                                          <p:val>
                                            <p:strVal val="#ppt_y"/>
                                          </p:val>
                                        </p:tav>
                                        <p:tav tm="100000">
                                          <p:val>
                                            <p:strVal val="#ppt_y"/>
                                          </p:val>
                                        </p:tav>
                                      </p:tavLst>
                                    </p:anim>
                                    <p:anim calcmode="lin" valueType="num">
                                      <p:cBhvr>
                                        <p:cTn id="37"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blinds(horizontal)">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41" presetClass="entr" presetSubtype="0" fill="hold" grpId="0" nodeType="clickEffect">
                                  <p:stCondLst>
                                    <p:cond delay="0"/>
                                  </p:stCondLst>
                                  <p:iterate type="lt">
                                    <p:tmPct val="10000"/>
                                  </p:iterate>
                                  <p:childTnLst>
                                    <p:set>
                                      <p:cBhvr>
                                        <p:cTn id="48" dur="1" fill="hold">
                                          <p:stCondLst>
                                            <p:cond delay="0"/>
                                          </p:stCondLst>
                                        </p:cTn>
                                        <p:tgtEl>
                                          <p:spTgt spid="19"/>
                                        </p:tgtEl>
                                        <p:attrNameLst>
                                          <p:attrName>style.visibility</p:attrName>
                                        </p:attrNameLst>
                                      </p:cBhvr>
                                      <p:to>
                                        <p:strVal val="visible"/>
                                      </p:to>
                                    </p:set>
                                    <p:anim calcmode="lin" valueType="num">
                                      <p:cBhvr>
                                        <p:cTn id="49"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50" dur="500" fill="hold"/>
                                        <p:tgtEl>
                                          <p:spTgt spid="19"/>
                                        </p:tgtEl>
                                        <p:attrNameLst>
                                          <p:attrName>ppt_y</p:attrName>
                                        </p:attrNameLst>
                                      </p:cBhvr>
                                      <p:tavLst>
                                        <p:tav tm="0">
                                          <p:val>
                                            <p:strVal val="#ppt_y"/>
                                          </p:val>
                                        </p:tav>
                                        <p:tav tm="100000">
                                          <p:val>
                                            <p:strVal val="#ppt_y"/>
                                          </p:val>
                                        </p:tav>
                                      </p:tavLst>
                                    </p:anim>
                                    <p:anim calcmode="lin" valueType="num">
                                      <p:cBhvr>
                                        <p:cTn id="51"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52"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53" dur="500" tmFilter="0,0; .5, 1; 1, 1"/>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20" presetClass="entr" presetSubtype="0"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wedge">
                                      <p:cBhvr>
                                        <p:cTn id="58" dur="2000"/>
                                        <p:tgtEl>
                                          <p:spTgt spid="11"/>
                                        </p:tgtEl>
                                      </p:cBhvr>
                                    </p:animEffect>
                                  </p:childTnLst>
                                </p:cTn>
                              </p:par>
                            </p:childTnLst>
                          </p:cTn>
                        </p:par>
                      </p:childTnLst>
                    </p:cTn>
                  </p:par>
                  <p:par>
                    <p:cTn id="59" fill="hold">
                      <p:stCondLst>
                        <p:cond delay="indefinite"/>
                      </p:stCondLst>
                      <p:childTnLst>
                        <p:par>
                          <p:cTn id="60" fill="hold">
                            <p:stCondLst>
                              <p:cond delay="0"/>
                            </p:stCondLst>
                            <p:childTnLst>
                              <p:par>
                                <p:cTn id="61" presetID="41" presetClass="entr" presetSubtype="0" fill="hold" grpId="0" nodeType="clickEffect">
                                  <p:stCondLst>
                                    <p:cond delay="0"/>
                                  </p:stCondLst>
                                  <p:iterate type="lt">
                                    <p:tmPct val="10000"/>
                                  </p:iterate>
                                  <p:childTnLst>
                                    <p:set>
                                      <p:cBhvr>
                                        <p:cTn id="62" dur="1" fill="hold">
                                          <p:stCondLst>
                                            <p:cond delay="0"/>
                                          </p:stCondLst>
                                        </p:cTn>
                                        <p:tgtEl>
                                          <p:spTgt spid="20"/>
                                        </p:tgtEl>
                                        <p:attrNameLst>
                                          <p:attrName>style.visibility</p:attrName>
                                        </p:attrNameLst>
                                      </p:cBhvr>
                                      <p:to>
                                        <p:strVal val="visible"/>
                                      </p:to>
                                    </p:set>
                                    <p:anim calcmode="lin" valueType="num">
                                      <p:cBhvr>
                                        <p:cTn id="63" dur="500" fill="hold"/>
                                        <p:tgtEl>
                                          <p:spTgt spid="20"/>
                                        </p:tgtEl>
                                        <p:attrNameLst>
                                          <p:attrName>ppt_x</p:attrName>
                                        </p:attrNameLst>
                                      </p:cBhvr>
                                      <p:tavLst>
                                        <p:tav tm="0">
                                          <p:val>
                                            <p:strVal val="#ppt_x"/>
                                          </p:val>
                                        </p:tav>
                                        <p:tav tm="50000">
                                          <p:val>
                                            <p:strVal val="#ppt_x+.1"/>
                                          </p:val>
                                        </p:tav>
                                        <p:tav tm="100000">
                                          <p:val>
                                            <p:strVal val="#ppt_x"/>
                                          </p:val>
                                        </p:tav>
                                      </p:tavLst>
                                    </p:anim>
                                    <p:anim calcmode="lin" valueType="num">
                                      <p:cBhvr>
                                        <p:cTn id="64" dur="500" fill="hold"/>
                                        <p:tgtEl>
                                          <p:spTgt spid="20"/>
                                        </p:tgtEl>
                                        <p:attrNameLst>
                                          <p:attrName>ppt_y</p:attrName>
                                        </p:attrNameLst>
                                      </p:cBhvr>
                                      <p:tavLst>
                                        <p:tav tm="0">
                                          <p:val>
                                            <p:strVal val="#ppt_y"/>
                                          </p:val>
                                        </p:tav>
                                        <p:tav tm="100000">
                                          <p:val>
                                            <p:strVal val="#ppt_y"/>
                                          </p:val>
                                        </p:tav>
                                      </p:tavLst>
                                    </p:anim>
                                    <p:anim calcmode="lin" valueType="num">
                                      <p:cBhvr>
                                        <p:cTn id="65" dur="500" fill="hold"/>
                                        <p:tgtEl>
                                          <p:spTgt spid="20"/>
                                        </p:tgtEl>
                                        <p:attrNameLst>
                                          <p:attrName>ppt_h</p:attrName>
                                        </p:attrNameLst>
                                      </p:cBhvr>
                                      <p:tavLst>
                                        <p:tav tm="0">
                                          <p:val>
                                            <p:strVal val="#ppt_h/10"/>
                                          </p:val>
                                        </p:tav>
                                        <p:tav tm="50000">
                                          <p:val>
                                            <p:strVal val="#ppt_h+.01"/>
                                          </p:val>
                                        </p:tav>
                                        <p:tav tm="100000">
                                          <p:val>
                                            <p:strVal val="#ppt_h"/>
                                          </p:val>
                                        </p:tav>
                                      </p:tavLst>
                                    </p:anim>
                                    <p:anim calcmode="lin" valueType="num">
                                      <p:cBhvr>
                                        <p:cTn id="66" dur="500" fill="hold"/>
                                        <p:tgtEl>
                                          <p:spTgt spid="20"/>
                                        </p:tgtEl>
                                        <p:attrNameLst>
                                          <p:attrName>ppt_w</p:attrName>
                                        </p:attrNameLst>
                                      </p:cBhvr>
                                      <p:tavLst>
                                        <p:tav tm="0">
                                          <p:val>
                                            <p:strVal val="#ppt_w/10"/>
                                          </p:val>
                                        </p:tav>
                                        <p:tav tm="50000">
                                          <p:val>
                                            <p:strVal val="#ppt_w+.01"/>
                                          </p:val>
                                        </p:tav>
                                        <p:tav tm="100000">
                                          <p:val>
                                            <p:strVal val="#ppt_w"/>
                                          </p:val>
                                        </p:tav>
                                      </p:tavLst>
                                    </p:anim>
                                    <p:animEffect transition="in" filter="fade">
                                      <p:cBhvr>
                                        <p:cTn id="67" dur="500" tmFilter="0,0; .5, 1; 1, 1"/>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randombar(horizontal)">
                                      <p:cBhvr>
                                        <p:cTn id="72" dur="500"/>
                                        <p:tgtEl>
                                          <p:spTgt spid="9"/>
                                        </p:tgtEl>
                                      </p:cBhvr>
                                    </p:animEffect>
                                  </p:childTnLst>
                                </p:cTn>
                              </p:par>
                            </p:childTnLst>
                          </p:cTn>
                        </p:par>
                      </p:childTnLst>
                    </p:cTn>
                  </p:par>
                  <p:par>
                    <p:cTn id="73" fill="hold">
                      <p:stCondLst>
                        <p:cond delay="indefinite"/>
                      </p:stCondLst>
                      <p:childTnLst>
                        <p:par>
                          <p:cTn id="74" fill="hold">
                            <p:stCondLst>
                              <p:cond delay="0"/>
                            </p:stCondLst>
                            <p:childTnLst>
                              <p:par>
                                <p:cTn id="75" presetID="41" presetClass="entr" presetSubtype="0" fill="hold" grpId="0" nodeType="clickEffect">
                                  <p:stCondLst>
                                    <p:cond delay="0"/>
                                  </p:stCondLst>
                                  <p:iterate type="lt">
                                    <p:tmPct val="10000"/>
                                  </p:iterate>
                                  <p:childTnLst>
                                    <p:set>
                                      <p:cBhvr>
                                        <p:cTn id="76" dur="1" fill="hold">
                                          <p:stCondLst>
                                            <p:cond delay="0"/>
                                          </p:stCondLst>
                                        </p:cTn>
                                        <p:tgtEl>
                                          <p:spTgt spid="15"/>
                                        </p:tgtEl>
                                        <p:attrNameLst>
                                          <p:attrName>style.visibility</p:attrName>
                                        </p:attrNameLst>
                                      </p:cBhvr>
                                      <p:to>
                                        <p:strVal val="visible"/>
                                      </p:to>
                                    </p:set>
                                    <p:anim calcmode="lin" valueType="num">
                                      <p:cBhvr>
                                        <p:cTn id="77" dur="5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78" dur="500" fill="hold"/>
                                        <p:tgtEl>
                                          <p:spTgt spid="15"/>
                                        </p:tgtEl>
                                        <p:attrNameLst>
                                          <p:attrName>ppt_y</p:attrName>
                                        </p:attrNameLst>
                                      </p:cBhvr>
                                      <p:tavLst>
                                        <p:tav tm="0">
                                          <p:val>
                                            <p:strVal val="#ppt_y"/>
                                          </p:val>
                                        </p:tav>
                                        <p:tav tm="100000">
                                          <p:val>
                                            <p:strVal val="#ppt_y"/>
                                          </p:val>
                                        </p:tav>
                                      </p:tavLst>
                                    </p:anim>
                                    <p:anim calcmode="lin" valueType="num">
                                      <p:cBhvr>
                                        <p:cTn id="79" dur="5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80" dur="5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81" dur="500" tmFilter="0,0; .5, 1; 1, 1"/>
                                        <p:tgtEl>
                                          <p:spTgt spid="15"/>
                                        </p:tgtEl>
                                      </p:cBhvr>
                                    </p:animEffect>
                                  </p:childTnLst>
                                </p:cTn>
                              </p:par>
                            </p:childTnLst>
                          </p:cTn>
                        </p:par>
                      </p:childTnLst>
                    </p:cTn>
                  </p:par>
                  <p:par>
                    <p:cTn id="82" fill="hold">
                      <p:stCondLst>
                        <p:cond delay="indefinite"/>
                      </p:stCondLst>
                      <p:childTnLst>
                        <p:par>
                          <p:cTn id="83" fill="hold">
                            <p:stCondLst>
                              <p:cond delay="0"/>
                            </p:stCondLst>
                            <p:childTnLst>
                              <p:par>
                                <p:cTn id="84" presetID="5" presetClass="entr" presetSubtype="10" fill="hold" grpId="0" nodeType="clickEffect">
                                  <p:stCondLst>
                                    <p:cond delay="0"/>
                                  </p:stCondLst>
                                  <p:childTnLst>
                                    <p:set>
                                      <p:cBhvr>
                                        <p:cTn id="85" dur="1" fill="hold">
                                          <p:stCondLst>
                                            <p:cond delay="0"/>
                                          </p:stCondLst>
                                        </p:cTn>
                                        <p:tgtEl>
                                          <p:spTgt spid="10"/>
                                        </p:tgtEl>
                                        <p:attrNameLst>
                                          <p:attrName>style.visibility</p:attrName>
                                        </p:attrNameLst>
                                      </p:cBhvr>
                                      <p:to>
                                        <p:strVal val="visible"/>
                                      </p:to>
                                    </p:set>
                                    <p:animEffect transition="in" filter="checkerboard(across)">
                                      <p:cBhvr>
                                        <p:cTn id="8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6" grpId="0" animBg="1"/>
      <p:bldP spid="17" grpId="0" animBg="1"/>
      <p:bldP spid="18" grpId="0" animBg="1"/>
      <p:bldP spid="19" grpId="0" animBg="1"/>
      <p:bldP spid="20" grpId="0" animBg="1"/>
      <p:bldP spid="12"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11A199-B89A-4197-B71A-5C5F12BCBF5F}"/>
              </a:ext>
            </a:extLst>
          </p:cNvPr>
          <p:cNvSpPr/>
          <p:nvPr/>
        </p:nvSpPr>
        <p:spPr>
          <a:xfrm>
            <a:off x="1010855" y="1720840"/>
            <a:ext cx="10170289" cy="3416320"/>
          </a:xfrm>
          <a:prstGeom prst="rect">
            <a:avLst/>
          </a:prstGeom>
          <a:solidFill>
            <a:srgbClr val="C9EDED"/>
          </a:solidFill>
          <a:effectLst>
            <a:outerShdw blurRad="63500" sx="102000" sy="102000" algn="ctr" rotWithShape="0">
              <a:prstClr val="black">
                <a:alpha val="40000"/>
              </a:prstClr>
            </a:outerShdw>
          </a:effectLst>
        </p:spPr>
        <p:txBody>
          <a:bodyPr wrap="square">
            <a:spAutoFit/>
          </a:bodyPr>
          <a:lstStyle/>
          <a:p>
            <a:r>
              <a:rPr lang="en-US" sz="7200" dirty="0">
                <a:solidFill>
                  <a:schemeClr val="bg1"/>
                </a:solidFill>
                <a:latin typeface="Berlin Sans FB Demi" panose="020E0802020502020306" pitchFamily="34" charset="0"/>
              </a:rPr>
              <a:t>      </a:t>
            </a:r>
            <a:r>
              <a:rPr lang="en-US" sz="7200" dirty="0">
                <a:latin typeface="Berlin Sans FB Demi" panose="020E0802020502020306" pitchFamily="34" charset="0"/>
              </a:rPr>
              <a:t>Mainly Powered </a:t>
            </a:r>
          </a:p>
          <a:p>
            <a:r>
              <a:rPr lang="en-US" sz="7200" dirty="0">
                <a:latin typeface="Berlin Sans FB Demi" panose="020E0802020502020306" pitchFamily="34" charset="0"/>
              </a:rPr>
              <a:t>                  By</a:t>
            </a:r>
          </a:p>
          <a:p>
            <a:r>
              <a:rPr lang="en-US" sz="7200" dirty="0">
                <a:latin typeface="Berlin Sans FB Demi" panose="020E0802020502020306" pitchFamily="34" charset="0"/>
              </a:rPr>
              <a:t> </a:t>
            </a:r>
            <a:r>
              <a:rPr lang="en-US" sz="7200" dirty="0" err="1">
                <a:latin typeface="Berlin Sans FB Demi" panose="020E0802020502020306" pitchFamily="34" charset="0"/>
              </a:rPr>
              <a:t>Tr.Daw</a:t>
            </a:r>
            <a:r>
              <a:rPr lang="en-US" sz="7200" dirty="0">
                <a:latin typeface="Berlin Sans FB Demi" panose="020E0802020502020306" pitchFamily="34" charset="0"/>
              </a:rPr>
              <a:t> </a:t>
            </a:r>
            <a:r>
              <a:rPr lang="en-US" sz="7200" dirty="0" err="1">
                <a:latin typeface="Berlin Sans FB Demi" panose="020E0802020502020306" pitchFamily="34" charset="0"/>
              </a:rPr>
              <a:t>Khin</a:t>
            </a:r>
            <a:r>
              <a:rPr lang="en-US" sz="7200" dirty="0">
                <a:latin typeface="Berlin Sans FB Demi" panose="020E0802020502020306" pitchFamily="34" charset="0"/>
              </a:rPr>
              <a:t> </a:t>
            </a:r>
            <a:r>
              <a:rPr lang="en-US" sz="7200" dirty="0" err="1">
                <a:latin typeface="Berlin Sans FB Demi" panose="020E0802020502020306" pitchFamily="34" charset="0"/>
              </a:rPr>
              <a:t>Nwe</a:t>
            </a:r>
            <a:r>
              <a:rPr lang="en-US" sz="7200" dirty="0">
                <a:latin typeface="Berlin Sans FB Demi" panose="020E0802020502020306" pitchFamily="34" charset="0"/>
              </a:rPr>
              <a:t> </a:t>
            </a:r>
            <a:r>
              <a:rPr lang="en-US" sz="7200" dirty="0" err="1">
                <a:latin typeface="Berlin Sans FB Demi" panose="020E0802020502020306" pitchFamily="34" charset="0"/>
              </a:rPr>
              <a:t>Oo</a:t>
            </a:r>
            <a:endParaRPr lang="en-US" sz="7200" dirty="0">
              <a:latin typeface="Berlin Sans FB Demi" panose="020E0802020502020306" pitchFamily="34" charset="0"/>
            </a:endParaRPr>
          </a:p>
        </p:txBody>
      </p:sp>
      <p:pic>
        <p:nvPicPr>
          <p:cNvPr id="6" name="Picture 5">
            <a:extLst>
              <a:ext uri="{FF2B5EF4-FFF2-40B4-BE49-F238E27FC236}">
                <a16:creationId xmlns:a16="http://schemas.microsoft.com/office/drawing/2014/main" id="{D161EACD-04E4-432A-BFE9-B78A5D35F36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6892" b="92405" l="10000" r="90000">
                        <a14:foregroundMark x1="38810" y1="38819" x2="40952" y2="40928"/>
                        <a14:foregroundMark x1="50357" y1="25879" x2="48095" y2="33193"/>
                        <a14:foregroundMark x1="48095" y1="33193" x2="53214" y2="36709"/>
                        <a14:foregroundMark x1="53214" y1="36709" x2="53333" y2="36709"/>
                        <a14:foregroundMark x1="51667" y1="21097" x2="57262" y2="18847"/>
                        <a14:foregroundMark x1="57262" y1="18847" x2="61071" y2="19550"/>
                        <a14:foregroundMark x1="49048" y1="20113" x2="47976" y2="12799"/>
                        <a14:foregroundMark x1="47976" y1="12799" x2="51548" y2="7032"/>
                        <a14:foregroundMark x1="51548" y1="7032" x2="55833" y2="9001"/>
                        <a14:foregroundMark x1="53929" y1="56259" x2="53690" y2="63713"/>
                        <a14:foregroundMark x1="53690" y1="63713" x2="58095" y2="58650"/>
                        <a14:foregroundMark x1="58095" y1="58650" x2="58095" y2="57947"/>
                        <a14:foregroundMark x1="54762" y1="87342" x2="52024" y2="92405"/>
                      </a14:backgroundRemoval>
                    </a14:imgEffect>
                  </a14:imgLayer>
                </a14:imgProps>
              </a:ext>
              <a:ext uri="{28A0092B-C50C-407E-A947-70E740481C1C}">
                <a14:useLocalDpi xmlns:a14="http://schemas.microsoft.com/office/drawing/2010/main" val="0"/>
              </a:ext>
            </a:extLst>
          </a:blip>
          <a:stretch>
            <a:fillRect/>
          </a:stretch>
        </p:blipFill>
        <p:spPr>
          <a:xfrm>
            <a:off x="6505454" y="366954"/>
            <a:ext cx="8001000" cy="6772275"/>
          </a:xfrm>
          <a:prstGeom prst="rect">
            <a:avLst/>
          </a:prstGeom>
        </p:spPr>
      </p:pic>
    </p:spTree>
    <p:extLst>
      <p:ext uri="{BB962C8B-B14F-4D97-AF65-F5344CB8AC3E}">
        <p14:creationId xmlns:p14="http://schemas.microsoft.com/office/powerpoint/2010/main" val="10638222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5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6"/>
                                        </p:tgtEl>
                                        <p:attrNameLst>
                                          <p:attrName>r</p:attrName>
                                        </p:attrNameLst>
                                      </p:cBhvr>
                                    </p:animRot>
                                    <p:animRot by="-240000">
                                      <p:cBhvr>
                                        <p:cTn id="7" dur="200" fill="hold">
                                          <p:stCondLst>
                                            <p:cond delay="200"/>
                                          </p:stCondLst>
                                        </p:cTn>
                                        <p:tgtEl>
                                          <p:spTgt spid="6"/>
                                        </p:tgtEl>
                                        <p:attrNameLst>
                                          <p:attrName>r</p:attrName>
                                        </p:attrNameLst>
                                      </p:cBhvr>
                                    </p:animRot>
                                    <p:animRot by="240000">
                                      <p:cBhvr>
                                        <p:cTn id="8" dur="200" fill="hold">
                                          <p:stCondLst>
                                            <p:cond delay="400"/>
                                          </p:stCondLst>
                                        </p:cTn>
                                        <p:tgtEl>
                                          <p:spTgt spid="6"/>
                                        </p:tgtEl>
                                        <p:attrNameLst>
                                          <p:attrName>r</p:attrName>
                                        </p:attrNameLst>
                                      </p:cBhvr>
                                    </p:animRot>
                                    <p:animRot by="-240000">
                                      <p:cBhvr>
                                        <p:cTn id="9" dur="200" fill="hold">
                                          <p:stCondLst>
                                            <p:cond delay="600"/>
                                          </p:stCondLst>
                                        </p:cTn>
                                        <p:tgtEl>
                                          <p:spTgt spid="6"/>
                                        </p:tgtEl>
                                        <p:attrNameLst>
                                          <p:attrName>r</p:attrName>
                                        </p:attrNameLst>
                                      </p:cBhvr>
                                    </p:animRot>
                                    <p:animRot by="120000">
                                      <p:cBhvr>
                                        <p:cTn id="10" dur="200" fill="hold">
                                          <p:stCondLst>
                                            <p:cond delay="800"/>
                                          </p:stCondLst>
                                        </p:cTn>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39D231-D205-4AFF-853C-0D73DAF26A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224"/>
            <a:ext cx="12224398" cy="6876224"/>
          </a:xfrm>
          <a:prstGeom prst="rect">
            <a:avLst/>
          </a:prstGeom>
        </p:spPr>
      </p:pic>
      <p:sp>
        <p:nvSpPr>
          <p:cNvPr id="6" name="TextBox 5">
            <a:extLst>
              <a:ext uri="{FF2B5EF4-FFF2-40B4-BE49-F238E27FC236}">
                <a16:creationId xmlns:a16="http://schemas.microsoft.com/office/drawing/2014/main" id="{39987FFC-57E7-44E0-A152-1D5526E0631D}"/>
              </a:ext>
            </a:extLst>
          </p:cNvPr>
          <p:cNvSpPr txBox="1"/>
          <p:nvPr/>
        </p:nvSpPr>
        <p:spPr>
          <a:xfrm>
            <a:off x="0" y="0"/>
            <a:ext cx="7731889" cy="1107996"/>
          </a:xfrm>
          <a:prstGeom prst="rect">
            <a:avLst/>
          </a:prstGeom>
          <a:solidFill>
            <a:schemeClr val="bg1">
              <a:alpha val="30000"/>
            </a:schemeClr>
          </a:solidFill>
        </p:spPr>
        <p:txBody>
          <a:bodyPr wrap="square" rtlCol="0">
            <a:spAutoFit/>
          </a:bodyPr>
          <a:lstStyle/>
          <a:p>
            <a:endParaRPr lang="en-US" sz="6600"/>
          </a:p>
        </p:txBody>
      </p:sp>
      <p:sp>
        <p:nvSpPr>
          <p:cNvPr id="9" name="TextBox 8">
            <a:extLst>
              <a:ext uri="{FF2B5EF4-FFF2-40B4-BE49-F238E27FC236}">
                <a16:creationId xmlns:a16="http://schemas.microsoft.com/office/drawing/2014/main" id="{53A074F2-9E8A-437F-823C-08EB786F98B5}"/>
              </a:ext>
            </a:extLst>
          </p:cNvPr>
          <p:cNvSpPr txBox="1"/>
          <p:nvPr/>
        </p:nvSpPr>
        <p:spPr>
          <a:xfrm>
            <a:off x="435979" y="169277"/>
            <a:ext cx="7058330" cy="830997"/>
          </a:xfrm>
          <a:prstGeom prst="rect">
            <a:avLst/>
          </a:prstGeom>
          <a:noFill/>
        </p:spPr>
        <p:txBody>
          <a:bodyPr wrap="square" rtlCol="0">
            <a:spAutoFit/>
          </a:bodyPr>
          <a:lstStyle/>
          <a:p>
            <a:r>
              <a:rPr lang="en-US" sz="4800" dirty="0">
                <a:latin typeface="Arial Narrow" panose="020B0606020202030204" pitchFamily="34" charset="0"/>
              </a:rPr>
              <a:t>What is meant by DBMS????</a:t>
            </a:r>
          </a:p>
        </p:txBody>
      </p:sp>
    </p:spTree>
    <p:extLst>
      <p:ext uri="{BB962C8B-B14F-4D97-AF65-F5344CB8AC3E}">
        <p14:creationId xmlns:p14="http://schemas.microsoft.com/office/powerpoint/2010/main" val="2899778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750" fill="hold"/>
                                        <p:tgtEl>
                                          <p:spTgt spid="9"/>
                                        </p:tgtEl>
                                        <p:attrNameLst>
                                          <p:attrName>ppt_w</p:attrName>
                                        </p:attrNameLst>
                                      </p:cBhvr>
                                      <p:tavLst>
                                        <p:tav tm="0">
                                          <p:val>
                                            <p:fltVal val="0"/>
                                          </p:val>
                                        </p:tav>
                                        <p:tav tm="100000">
                                          <p:val>
                                            <p:strVal val="#ppt_w"/>
                                          </p:val>
                                        </p:tav>
                                      </p:tavLst>
                                    </p:anim>
                                    <p:anim calcmode="lin" valueType="num">
                                      <p:cBhvr>
                                        <p:cTn id="8" dur="1750" fill="hold"/>
                                        <p:tgtEl>
                                          <p:spTgt spid="9"/>
                                        </p:tgtEl>
                                        <p:attrNameLst>
                                          <p:attrName>ppt_h</p:attrName>
                                        </p:attrNameLst>
                                      </p:cBhvr>
                                      <p:tavLst>
                                        <p:tav tm="0">
                                          <p:val>
                                            <p:fltVal val="0"/>
                                          </p:val>
                                        </p:tav>
                                        <p:tav tm="100000">
                                          <p:val>
                                            <p:strVal val="#ppt_h"/>
                                          </p:val>
                                        </p:tav>
                                      </p:tavLst>
                                    </p:anim>
                                    <p:animEffect transition="in" filter="fade">
                                      <p:cBhvr>
                                        <p:cTn id="9" dur="1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iagonal Stripe 7">
            <a:extLst>
              <a:ext uri="{FF2B5EF4-FFF2-40B4-BE49-F238E27FC236}">
                <a16:creationId xmlns:a16="http://schemas.microsoft.com/office/drawing/2014/main" id="{B8813444-B181-45AB-88A7-95B91C1A147C}"/>
              </a:ext>
            </a:extLst>
          </p:cNvPr>
          <p:cNvSpPr/>
          <p:nvPr/>
        </p:nvSpPr>
        <p:spPr>
          <a:xfrm>
            <a:off x="5816" y="0"/>
            <a:ext cx="7969784" cy="7340551"/>
          </a:xfrm>
          <a:prstGeom prst="diagStrip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11" name="Picture 10">
            <a:extLst>
              <a:ext uri="{FF2B5EF4-FFF2-40B4-BE49-F238E27FC236}">
                <a16:creationId xmlns:a16="http://schemas.microsoft.com/office/drawing/2014/main" id="{942FE85C-D40A-4846-95DC-164F68BD4C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2001" y="877368"/>
            <a:ext cx="6146800" cy="5040831"/>
          </a:xfrm>
          <a:prstGeom prst="rect">
            <a:avLst/>
          </a:prstGeom>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pic>
      <p:sp>
        <p:nvSpPr>
          <p:cNvPr id="2" name="TextBox 2"/>
          <p:cNvSpPr txBox="1"/>
          <p:nvPr/>
        </p:nvSpPr>
        <p:spPr>
          <a:xfrm>
            <a:off x="406401" y="2243928"/>
            <a:ext cx="5283200" cy="1691360"/>
          </a:xfrm>
          <a:prstGeom prst="rect">
            <a:avLst/>
          </a:prstGeom>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lIns="0" tIns="0" rIns="0" bIns="0" rtlCol="0" anchor="t">
            <a:spAutoFit/>
          </a:bodyPr>
          <a:lstStyle/>
          <a:p>
            <a:pPr algn="ctr">
              <a:lnSpc>
                <a:spcPts val="2719"/>
              </a:lnSpc>
            </a:pPr>
            <a:r>
              <a:rPr lang="en-US" sz="1600" dirty="0">
                <a:solidFill>
                  <a:srgbClr val="0F4662"/>
                </a:solidFill>
                <a:latin typeface="Quicksand"/>
                <a:ea typeface="Quicksand"/>
                <a:cs typeface="Quicksand"/>
                <a:sym typeface="Quicksand"/>
              </a:rPr>
              <a:t>Our project aims to analyze, strategize, and implement techniques to boost product sales for Warner &amp; Spencer. We recognize the importance of a robust sales strategy and intend to explore innovative methods to enhance sales figures and market penetration.</a:t>
            </a:r>
          </a:p>
        </p:txBody>
      </p:sp>
      <p:sp>
        <p:nvSpPr>
          <p:cNvPr id="3" name="AutoShape 3"/>
          <p:cNvSpPr/>
          <p:nvPr/>
        </p:nvSpPr>
        <p:spPr>
          <a:xfrm>
            <a:off x="3931920" y="228600"/>
            <a:ext cx="4328160" cy="0"/>
          </a:xfrm>
          <a:prstGeom prst="line">
            <a:avLst/>
          </a:prstGeom>
          <a:ln w="76200" cap="flat">
            <a:solidFill>
              <a:srgbClr val="0F4662"/>
            </a:solidFill>
            <a:prstDash val="solid"/>
            <a:headEnd type="none" w="sm" len="sm"/>
            <a:tailEnd type="none" w="sm" len="sm"/>
          </a:ln>
        </p:spPr>
      </p:sp>
      <p:sp>
        <p:nvSpPr>
          <p:cNvPr id="4" name="AutoShape 4"/>
          <p:cNvSpPr/>
          <p:nvPr/>
        </p:nvSpPr>
        <p:spPr>
          <a:xfrm>
            <a:off x="4085519" y="6223000"/>
            <a:ext cx="4328160" cy="0"/>
          </a:xfrm>
          <a:prstGeom prst="line">
            <a:avLst/>
          </a:prstGeom>
          <a:ln>
            <a:headEnd type="none" w="sm" len="sm"/>
            <a:tailEnd type="none" w="sm" len="sm"/>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sp>
      <p:sp>
        <p:nvSpPr>
          <p:cNvPr id="5" name="Freeform 5"/>
          <p:cNvSpPr/>
          <p:nvPr/>
        </p:nvSpPr>
        <p:spPr>
          <a:xfrm>
            <a:off x="5536001" y="469684"/>
            <a:ext cx="1119998" cy="1666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685800" y="399806"/>
            <a:ext cx="5365442" cy="701667"/>
          </a:xfrm>
          <a:prstGeom prst="rect">
            <a:avLst/>
          </a:prstGeom>
        </p:spPr>
        <p:txBody>
          <a:bodyPr wrap="square" lIns="0" tIns="0" rIns="0" bIns="0" rtlCol="0" anchor="t">
            <a:spAutoFit/>
          </a:bodyPr>
          <a:lstStyle/>
          <a:p>
            <a:pPr>
              <a:lnSpc>
                <a:spcPts val="5973"/>
              </a:lnSpc>
              <a:spcBef>
                <a:spcPct val="0"/>
              </a:spcBef>
            </a:pPr>
            <a:r>
              <a:rPr lang="en-US" sz="4266" b="1" i="1" dirty="0">
                <a:solidFill>
                  <a:srgbClr val="0F4662"/>
                </a:solidFill>
                <a:latin typeface="Cormorant Garamond Bold Italics"/>
                <a:ea typeface="Cormorant Garamond Bold Italics"/>
                <a:cs typeface="Cormorant Garamond Bold Italics"/>
                <a:sym typeface="Cormorant Garamond Bold Italics"/>
              </a:rPr>
              <a:t>Periodic Table</a:t>
            </a:r>
          </a:p>
        </p:txBody>
      </p:sp>
      <p:sp>
        <p:nvSpPr>
          <p:cNvPr id="7" name="Freeform 7"/>
          <p:cNvSpPr/>
          <p:nvPr/>
        </p:nvSpPr>
        <p:spPr>
          <a:xfrm>
            <a:off x="5689600" y="6388316"/>
            <a:ext cx="1119998" cy="166600"/>
          </a:xfrm>
          <a:custGeom>
            <a:avLst/>
            <a:gdLst/>
            <a:ahLst/>
            <a:cxnLst/>
            <a:rect l="l" t="t" r="r" b="b"/>
            <a:pathLst>
              <a:path w="1679997" h="249900">
                <a:moveTo>
                  <a:pt x="0" y="0"/>
                </a:moveTo>
                <a:lnTo>
                  <a:pt x="1679998" y="0"/>
                </a:lnTo>
                <a:lnTo>
                  <a:pt x="1679998" y="249900"/>
                </a:lnTo>
                <a:lnTo>
                  <a:pt x="0" y="249900"/>
                </a:lnTo>
                <a:lnTo>
                  <a:pt x="0" y="0"/>
                </a:lnTo>
                <a:close/>
              </a:path>
            </a:pathLst>
          </a:custGeom>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edge">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edge">
                                      <p:cBhvr>
                                        <p:cTn id="1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924800" y="127000"/>
            <a:ext cx="4267201" cy="6731001"/>
            <a:chOff x="0" y="0"/>
            <a:chExt cx="1104621" cy="2705159"/>
          </a:xfrm>
          <a:solidFill>
            <a:schemeClr val="accent5">
              <a:lumMod val="75000"/>
            </a:schemeClr>
          </a:solidFill>
        </p:grpSpPr>
        <p:sp>
          <p:nvSpPr>
            <p:cNvPr id="3" name="Freeform 3"/>
            <p:cNvSpPr/>
            <p:nvPr/>
          </p:nvSpPr>
          <p:spPr>
            <a:xfrm>
              <a:off x="0" y="0"/>
              <a:ext cx="1104621" cy="2705159"/>
            </a:xfrm>
            <a:custGeom>
              <a:avLst/>
              <a:gdLst/>
              <a:ahLst/>
              <a:cxnLst/>
              <a:rect l="l" t="t" r="r" b="b"/>
              <a:pathLst>
                <a:path w="1104621" h="2705159">
                  <a:moveTo>
                    <a:pt x="0" y="0"/>
                  </a:moveTo>
                  <a:lnTo>
                    <a:pt x="1104621" y="0"/>
                  </a:lnTo>
                  <a:lnTo>
                    <a:pt x="1104621" y="2705159"/>
                  </a:lnTo>
                  <a:lnTo>
                    <a:pt x="0" y="2705159"/>
                  </a:lnTo>
                  <a:close/>
                </a:path>
              </a:pathLst>
            </a:custGeom>
            <a:grpFill/>
          </p:spPr>
        </p:sp>
        <p:sp>
          <p:nvSpPr>
            <p:cNvPr id="4" name="TextBox 4"/>
            <p:cNvSpPr txBox="1"/>
            <p:nvPr/>
          </p:nvSpPr>
          <p:spPr>
            <a:xfrm>
              <a:off x="0" y="-47625"/>
              <a:ext cx="1104621" cy="2752784"/>
            </a:xfrm>
            <a:prstGeom prst="rect">
              <a:avLst/>
            </a:prstGeom>
            <a:grpFill/>
          </p:spPr>
          <p:txBody>
            <a:bodyPr lIns="33867" tIns="33867" rIns="33867" bIns="33867" rtlCol="0" anchor="ctr"/>
            <a:lstStyle/>
            <a:p>
              <a:pPr algn="ctr">
                <a:lnSpc>
                  <a:spcPts val="2462"/>
                </a:lnSpc>
              </a:pPr>
              <a:endParaRPr sz="1200"/>
            </a:p>
          </p:txBody>
        </p:sp>
      </p:grpSp>
      <p:sp>
        <p:nvSpPr>
          <p:cNvPr id="7" name="Freeform 7"/>
          <p:cNvSpPr/>
          <p:nvPr/>
        </p:nvSpPr>
        <p:spPr>
          <a:xfrm>
            <a:off x="685800" y="5983288"/>
            <a:ext cx="1270000" cy="188913"/>
          </a:xfrm>
          <a:custGeom>
            <a:avLst/>
            <a:gdLst/>
            <a:ahLst/>
            <a:cxnLst/>
            <a:rect l="l" t="t" r="r" b="b"/>
            <a:pathLst>
              <a:path w="1905000" h="283369">
                <a:moveTo>
                  <a:pt x="0" y="0"/>
                </a:moveTo>
                <a:lnTo>
                  <a:pt x="1905000" y="0"/>
                </a:lnTo>
                <a:lnTo>
                  <a:pt x="1905000" y="283369"/>
                </a:lnTo>
                <a:lnTo>
                  <a:pt x="0" y="2833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685801" y="399806"/>
            <a:ext cx="1650999" cy="701667"/>
          </a:xfrm>
          <a:prstGeom prst="rect">
            <a:avLst/>
          </a:prstGeom>
          <a:solidFill>
            <a:schemeClr val="accent1">
              <a:lumMod val="60000"/>
              <a:lumOff val="40000"/>
            </a:schemeClr>
          </a:solidFill>
        </p:spPr>
        <p:txBody>
          <a:bodyPr wrap="square" lIns="0" tIns="0" rIns="0" bIns="0" rtlCol="0" anchor="t">
            <a:spAutoFit/>
          </a:bodyPr>
          <a:lstStyle/>
          <a:p>
            <a:pPr>
              <a:lnSpc>
                <a:spcPts val="5973"/>
              </a:lnSpc>
              <a:spcBef>
                <a:spcPct val="0"/>
              </a:spcBef>
            </a:pPr>
            <a:r>
              <a:rPr lang="en-US" sz="4266" b="1" i="1" dirty="0">
                <a:solidFill>
                  <a:srgbClr val="0F4662"/>
                </a:solidFill>
                <a:latin typeface="Cormorant Garamond Bold Italics"/>
                <a:ea typeface="Cormorant Garamond Bold Italics"/>
                <a:cs typeface="Cormorant Garamond Bold Italics"/>
                <a:sym typeface="Cormorant Garamond Bold Italics"/>
              </a:rPr>
              <a:t>Tables</a:t>
            </a:r>
          </a:p>
        </p:txBody>
      </p:sp>
      <p:sp>
        <p:nvSpPr>
          <p:cNvPr id="9" name="TextBox 9"/>
          <p:cNvSpPr txBox="1"/>
          <p:nvPr/>
        </p:nvSpPr>
        <p:spPr>
          <a:xfrm>
            <a:off x="685800" y="2257390"/>
            <a:ext cx="4625378" cy="2037609"/>
          </a:xfrm>
          <a:prstGeom prst="rect">
            <a:avLst/>
          </a:prstGeom>
        </p:spPr>
        <p:txBody>
          <a:bodyPr lIns="0" tIns="0" rIns="0" bIns="0" rtlCol="0" anchor="t">
            <a:spAutoFit/>
          </a:bodyPr>
          <a:lstStyle/>
          <a:p>
            <a:pPr>
              <a:lnSpc>
                <a:spcPts val="2719"/>
              </a:lnSpc>
            </a:pPr>
            <a:r>
              <a:rPr lang="en-US" sz="1600" dirty="0">
                <a:solidFill>
                  <a:srgbClr val="0F4662"/>
                </a:solidFill>
                <a:latin typeface="Quicksand"/>
                <a:ea typeface="Quicksand"/>
                <a:cs typeface="Quicksand"/>
                <a:sym typeface="Quicksand"/>
              </a:rPr>
              <a:t>Warner &amp; Spencer has been a significant player in its industry, offering various shampoo and soap products. While they've seen success, we acknowledge the evolving market dynamics and the need to adapt our sales strategies to maintain and increase our competitive edge.</a:t>
            </a:r>
          </a:p>
        </p:txBody>
      </p:sp>
      <p:sp>
        <p:nvSpPr>
          <p:cNvPr id="10" name="TextBox 10"/>
          <p:cNvSpPr txBox="1"/>
          <p:nvPr/>
        </p:nvSpPr>
        <p:spPr>
          <a:xfrm>
            <a:off x="685800" y="1882123"/>
            <a:ext cx="4625378" cy="304571"/>
          </a:xfrm>
          <a:prstGeom prst="rect">
            <a:avLst/>
          </a:prstGeom>
        </p:spPr>
        <p:txBody>
          <a:bodyPr lIns="0" tIns="0" rIns="0" bIns="0" rtlCol="0" anchor="t">
            <a:spAutoFit/>
          </a:bodyPr>
          <a:lstStyle/>
          <a:p>
            <a:pPr>
              <a:lnSpc>
                <a:spcPts val="2613"/>
              </a:lnSpc>
              <a:spcBef>
                <a:spcPct val="0"/>
              </a:spcBef>
            </a:pPr>
            <a:r>
              <a:rPr lang="en-US" sz="1866" b="1" dirty="0">
                <a:solidFill>
                  <a:srgbClr val="0F4662"/>
                </a:solidFill>
                <a:latin typeface="Quicksand Bold"/>
                <a:ea typeface="Quicksand Bold"/>
                <a:cs typeface="Quicksand Bold"/>
                <a:sym typeface="Quicksand Bold"/>
              </a:rPr>
              <a:t>Current scenario:</a:t>
            </a:r>
          </a:p>
        </p:txBody>
      </p:sp>
      <p:sp>
        <p:nvSpPr>
          <p:cNvPr id="15" name="Speech Bubble: Rectangle 14">
            <a:extLst>
              <a:ext uri="{FF2B5EF4-FFF2-40B4-BE49-F238E27FC236}">
                <a16:creationId xmlns:a16="http://schemas.microsoft.com/office/drawing/2014/main" id="{FE415A46-EA47-4A2B-8337-4463596EE576}"/>
              </a:ext>
            </a:extLst>
          </p:cNvPr>
          <p:cNvSpPr/>
          <p:nvPr/>
        </p:nvSpPr>
        <p:spPr>
          <a:xfrm>
            <a:off x="6502400" y="1092164"/>
            <a:ext cx="5181600" cy="4368800"/>
          </a:xfrm>
          <a:prstGeom prst="wedgeRectCallout">
            <a:avLst/>
          </a:prstGeom>
          <a:blipFill>
            <a:blip r:embed="rId4"/>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50" presetClass="entr" presetSubtype="0" decel="10000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1000" fill="hold"/>
                                        <p:tgtEl>
                                          <p:spTgt spid="10"/>
                                        </p:tgtEl>
                                        <p:attrNameLst>
                                          <p:attrName>ppt_w</p:attrName>
                                        </p:attrNameLst>
                                      </p:cBhvr>
                                      <p:tavLst>
                                        <p:tav tm="0">
                                          <p:val>
                                            <p:strVal val="#ppt_w+.3"/>
                                          </p:val>
                                        </p:tav>
                                        <p:tav tm="100000">
                                          <p:val>
                                            <p:strVal val="#ppt_w"/>
                                          </p:val>
                                        </p:tav>
                                      </p:tavLst>
                                    </p:anim>
                                    <p:anim calcmode="lin" valueType="num">
                                      <p:cBhvr>
                                        <p:cTn id="21" dur="1000" fill="hold"/>
                                        <p:tgtEl>
                                          <p:spTgt spid="10"/>
                                        </p:tgtEl>
                                        <p:attrNameLst>
                                          <p:attrName>ppt_h</p:attrName>
                                        </p:attrNameLst>
                                      </p:cBhvr>
                                      <p:tavLst>
                                        <p:tav tm="0">
                                          <p:val>
                                            <p:strVal val="#ppt_h"/>
                                          </p:val>
                                        </p:tav>
                                        <p:tav tm="100000">
                                          <p:val>
                                            <p:strVal val="#ppt_h"/>
                                          </p:val>
                                        </p:tav>
                                      </p:tavLst>
                                    </p:anim>
                                    <p:animEffect transition="in" filter="fade">
                                      <p:cBhvr>
                                        <p:cTn id="22" dur="1000"/>
                                        <p:tgtEl>
                                          <p:spTgt spid="10"/>
                                        </p:tgtEl>
                                      </p:cBhvr>
                                    </p:animEffect>
                                  </p:childTnLst>
                                </p:cTn>
                              </p:par>
                              <p:par>
                                <p:cTn id="23" presetID="50" presetClass="entr" presetSubtype="0" decel="10000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1000" fill="hold"/>
                                        <p:tgtEl>
                                          <p:spTgt spid="9"/>
                                        </p:tgtEl>
                                        <p:attrNameLst>
                                          <p:attrName>ppt_w</p:attrName>
                                        </p:attrNameLst>
                                      </p:cBhvr>
                                      <p:tavLst>
                                        <p:tav tm="0">
                                          <p:val>
                                            <p:strVal val="#ppt_w+.3"/>
                                          </p:val>
                                        </p:tav>
                                        <p:tav tm="100000">
                                          <p:val>
                                            <p:strVal val="#ppt_w"/>
                                          </p:val>
                                        </p:tav>
                                      </p:tavLst>
                                    </p:anim>
                                    <p:anim calcmode="lin" valueType="num">
                                      <p:cBhvr>
                                        <p:cTn id="26" dur="1000" fill="hold"/>
                                        <p:tgtEl>
                                          <p:spTgt spid="9"/>
                                        </p:tgtEl>
                                        <p:attrNameLst>
                                          <p:attrName>ppt_h</p:attrName>
                                        </p:attrNameLst>
                                      </p:cBhvr>
                                      <p:tavLst>
                                        <p:tav tm="0">
                                          <p:val>
                                            <p:strVal val="#ppt_h"/>
                                          </p:val>
                                        </p:tav>
                                        <p:tav tm="100000">
                                          <p:val>
                                            <p:strVal val="#ppt_h"/>
                                          </p:val>
                                        </p:tav>
                                      </p:tavLst>
                                    </p:anim>
                                    <p:animEffect transition="in" filter="fade">
                                      <p:cBhvr>
                                        <p:cTn id="2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EE4EF2-C431-4095-BBA0-774A3A153FD2}"/>
              </a:ext>
            </a:extLst>
          </p:cNvPr>
          <p:cNvSpPr txBox="1"/>
          <p:nvPr/>
        </p:nvSpPr>
        <p:spPr>
          <a:xfrm>
            <a:off x="0" y="291549"/>
            <a:ext cx="10296939" cy="523220"/>
          </a:xfrm>
          <a:prstGeom prst="rect">
            <a:avLst/>
          </a:prstGeom>
          <a:noFill/>
        </p:spPr>
        <p:txBody>
          <a:bodyPr wrap="square" rtlCol="0">
            <a:spAutoFit/>
          </a:bodyPr>
          <a:lstStyle/>
          <a:p>
            <a:r>
              <a:rPr lang="en-US" sz="2800" dirty="0">
                <a:solidFill>
                  <a:schemeClr val="accent5">
                    <a:lumMod val="50000"/>
                  </a:schemeClr>
                </a:solidFill>
                <a:latin typeface="Cascadia Mono SemiBold" panose="020B0609020000020004" pitchFamily="49" charset="0"/>
                <a:ea typeface="Cascadia Mono SemiBold" panose="020B0609020000020004" pitchFamily="49" charset="0"/>
                <a:cs typeface="Cascadia Mono SemiBold" panose="020B0609020000020004" pitchFamily="49" charset="0"/>
              </a:rPr>
              <a:t>Period tables Database of ER diagram</a:t>
            </a:r>
          </a:p>
        </p:txBody>
      </p:sp>
    </p:spTree>
    <p:extLst>
      <p:ext uri="{BB962C8B-B14F-4D97-AF65-F5344CB8AC3E}">
        <p14:creationId xmlns:p14="http://schemas.microsoft.com/office/powerpoint/2010/main" val="16743876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A1892E7-5DE2-4C0A-BC35-F87B39B29EDF}"/>
              </a:ext>
            </a:extLst>
          </p:cNvPr>
          <p:cNvSpPr/>
          <p:nvPr/>
        </p:nvSpPr>
        <p:spPr>
          <a:xfrm>
            <a:off x="0" y="702388"/>
            <a:ext cx="12192000" cy="7135915"/>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4" name="AutoShape 4"/>
          <p:cNvSpPr/>
          <p:nvPr/>
        </p:nvSpPr>
        <p:spPr>
          <a:xfrm>
            <a:off x="8839201" y="228600"/>
            <a:ext cx="2897835" cy="0"/>
          </a:xfrm>
          <a:prstGeom prst="line">
            <a:avLst/>
          </a:prstGeom>
          <a:ln w="57150" cap="flat">
            <a:solidFill>
              <a:srgbClr val="7994A0"/>
            </a:solidFill>
            <a:prstDash val="solid"/>
            <a:headEnd type="none" w="sm" len="sm"/>
            <a:tailEnd type="none" w="sm" len="sm"/>
          </a:ln>
        </p:spPr>
      </p:sp>
      <p:sp>
        <p:nvSpPr>
          <p:cNvPr id="5" name="AutoShape 5"/>
          <p:cNvSpPr/>
          <p:nvPr/>
        </p:nvSpPr>
        <p:spPr>
          <a:xfrm flipV="1">
            <a:off x="812800" y="6680200"/>
            <a:ext cx="3144260" cy="0"/>
          </a:xfrm>
          <a:prstGeom prst="line">
            <a:avLst/>
          </a:prstGeom>
          <a:ln w="57150" cap="flat">
            <a:solidFill>
              <a:srgbClr val="7994A0"/>
            </a:solidFill>
            <a:prstDash val="solid"/>
            <a:headEnd type="none" w="sm" len="sm"/>
            <a:tailEnd type="none" w="sm" len="sm"/>
          </a:ln>
        </p:spPr>
      </p:sp>
      <p:sp>
        <p:nvSpPr>
          <p:cNvPr id="6" name="TextBox 6"/>
          <p:cNvSpPr txBox="1"/>
          <p:nvPr/>
        </p:nvSpPr>
        <p:spPr>
          <a:xfrm>
            <a:off x="254000" y="0"/>
            <a:ext cx="6757032" cy="721480"/>
          </a:xfrm>
          <a:prstGeom prst="rect">
            <a:avLst/>
          </a:prstGeom>
        </p:spPr>
        <p:txBody>
          <a:bodyPr wrap="square" lIns="0" tIns="0" rIns="0" bIns="0" rtlCol="0" anchor="t">
            <a:spAutoFit/>
          </a:bodyPr>
          <a:lstStyle/>
          <a:p>
            <a:pPr>
              <a:lnSpc>
                <a:spcPts val="5973"/>
              </a:lnSpc>
              <a:spcBef>
                <a:spcPct val="0"/>
              </a:spcBef>
            </a:pPr>
            <a:r>
              <a:rPr lang="en-US" sz="4266" b="1" i="1" dirty="0">
                <a:solidFill>
                  <a:srgbClr val="0F4662"/>
                </a:solidFill>
                <a:latin typeface="Cormorant Garamond Bold Italics"/>
                <a:ea typeface="Cormorant Garamond Bold Italics"/>
                <a:cs typeface="Cormorant Garamond Bold Italics"/>
                <a:sym typeface="Cormorant Garamond Bold Italics"/>
              </a:rPr>
              <a:t> Element table structure</a:t>
            </a:r>
          </a:p>
        </p:txBody>
      </p:sp>
      <p:sp>
        <p:nvSpPr>
          <p:cNvPr id="13" name="Freeform 13"/>
          <p:cNvSpPr/>
          <p:nvPr/>
        </p:nvSpPr>
        <p:spPr>
          <a:xfrm>
            <a:off x="10386202" y="476006"/>
            <a:ext cx="1119998" cy="1666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Freeform 14"/>
          <p:cNvSpPr/>
          <p:nvPr/>
        </p:nvSpPr>
        <p:spPr>
          <a:xfrm>
            <a:off x="682923" y="6353149"/>
            <a:ext cx="1119998" cy="1666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 name="Rectangle: Rounded Corners 1">
            <a:extLst>
              <a:ext uri="{FF2B5EF4-FFF2-40B4-BE49-F238E27FC236}">
                <a16:creationId xmlns:a16="http://schemas.microsoft.com/office/drawing/2014/main" id="{E27D3121-E61A-4CA0-8A37-A362BAF79C4A}"/>
              </a:ext>
            </a:extLst>
          </p:cNvPr>
          <p:cNvSpPr/>
          <p:nvPr/>
        </p:nvSpPr>
        <p:spPr>
          <a:xfrm>
            <a:off x="203200" y="1017995"/>
            <a:ext cx="11734800" cy="6504702"/>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Bodoni MT Black" panose="02070A03080606020203" pitchFamily="18" charset="0"/>
            </a:endParaRPr>
          </a:p>
        </p:txBody>
      </p:sp>
      <p:sp>
        <p:nvSpPr>
          <p:cNvPr id="17" name="TextBox 16">
            <a:extLst>
              <a:ext uri="{FF2B5EF4-FFF2-40B4-BE49-F238E27FC236}">
                <a16:creationId xmlns:a16="http://schemas.microsoft.com/office/drawing/2014/main" id="{3A08022E-4825-4F26-9729-04165C0EA086}"/>
              </a:ext>
            </a:extLst>
          </p:cNvPr>
          <p:cNvSpPr txBox="1"/>
          <p:nvPr/>
        </p:nvSpPr>
        <p:spPr>
          <a:xfrm>
            <a:off x="843591" y="2009996"/>
            <a:ext cx="3331628" cy="5264133"/>
          </a:xfrm>
          <a:prstGeom prst="rect">
            <a:avLst/>
          </a:prstGeom>
          <a:noFill/>
        </p:spPr>
        <p:txBody>
          <a:bodyPr wrap="square">
            <a:spAutoFit/>
          </a:bodyPr>
          <a:lstStyle/>
          <a:p>
            <a:r>
              <a:rPr lang="en-US" sz="1867" dirty="0" err="1">
                <a:latin typeface="+mj-lt"/>
              </a:rPr>
              <a:t>element_id</a:t>
            </a:r>
            <a:r>
              <a:rPr lang="en-US" sz="1867" dirty="0">
                <a:latin typeface="+mj-lt"/>
              </a:rPr>
              <a:t>  </a:t>
            </a:r>
          </a:p>
          <a:p>
            <a:r>
              <a:rPr lang="en-US" sz="1867" dirty="0">
                <a:latin typeface="+mj-lt"/>
              </a:rPr>
              <a:t>-name</a:t>
            </a:r>
          </a:p>
          <a:p>
            <a:r>
              <a:rPr lang="en-US" sz="1867" dirty="0">
                <a:latin typeface="+mj-lt"/>
              </a:rPr>
              <a:t>-symbol  </a:t>
            </a:r>
          </a:p>
          <a:p>
            <a:r>
              <a:rPr lang="en-US" sz="1867" dirty="0">
                <a:latin typeface="+mj-lt"/>
              </a:rPr>
              <a:t>-</a:t>
            </a:r>
            <a:r>
              <a:rPr lang="en-US" sz="1867" dirty="0" err="1">
                <a:latin typeface="+mj-lt"/>
              </a:rPr>
              <a:t>atomic_number</a:t>
            </a:r>
            <a:r>
              <a:rPr lang="en-US" sz="1867" dirty="0">
                <a:latin typeface="+mj-lt"/>
              </a:rPr>
              <a:t>  </a:t>
            </a:r>
          </a:p>
          <a:p>
            <a:r>
              <a:rPr lang="en-US" sz="1867" dirty="0">
                <a:latin typeface="+mj-lt"/>
              </a:rPr>
              <a:t>-</a:t>
            </a:r>
            <a:r>
              <a:rPr lang="en-US" sz="1867" dirty="0" err="1">
                <a:latin typeface="+mj-lt"/>
              </a:rPr>
              <a:t>atomic_mass</a:t>
            </a:r>
            <a:r>
              <a:rPr lang="en-US" sz="1867" dirty="0">
                <a:latin typeface="+mj-lt"/>
              </a:rPr>
              <a:t>  </a:t>
            </a:r>
          </a:p>
          <a:p>
            <a:r>
              <a:rPr lang="en-US" sz="1867" dirty="0">
                <a:latin typeface="+mj-lt"/>
              </a:rPr>
              <a:t>-period  </a:t>
            </a:r>
          </a:p>
          <a:p>
            <a:r>
              <a:rPr lang="en-US" sz="1867" dirty="0">
                <a:latin typeface="+mj-lt"/>
              </a:rPr>
              <a:t>-</a:t>
            </a:r>
            <a:r>
              <a:rPr lang="en-US" sz="1867" dirty="0" err="1">
                <a:latin typeface="+mj-lt"/>
              </a:rPr>
              <a:t>group_id</a:t>
            </a:r>
            <a:r>
              <a:rPr lang="en-US" sz="1867" dirty="0">
                <a:latin typeface="+mj-lt"/>
              </a:rPr>
              <a:t>  </a:t>
            </a:r>
          </a:p>
          <a:p>
            <a:r>
              <a:rPr lang="en-US" sz="1867" dirty="0">
                <a:latin typeface="+mj-lt"/>
              </a:rPr>
              <a:t>-block  </a:t>
            </a:r>
          </a:p>
          <a:p>
            <a:r>
              <a:rPr lang="en-US" sz="1867" dirty="0">
                <a:latin typeface="+mj-lt"/>
              </a:rPr>
              <a:t>-</a:t>
            </a:r>
            <a:r>
              <a:rPr lang="en-US" sz="1867" dirty="0" err="1">
                <a:latin typeface="+mj-lt"/>
              </a:rPr>
              <a:t>electron_configuration</a:t>
            </a:r>
            <a:r>
              <a:rPr lang="en-US" sz="1867" dirty="0">
                <a:latin typeface="+mj-lt"/>
              </a:rPr>
              <a:t>  </a:t>
            </a:r>
          </a:p>
          <a:p>
            <a:r>
              <a:rPr lang="en-US" sz="1867" dirty="0">
                <a:latin typeface="+mj-lt"/>
              </a:rPr>
              <a:t>-</a:t>
            </a:r>
            <a:r>
              <a:rPr lang="en-US" sz="1867" dirty="0" err="1">
                <a:latin typeface="+mj-lt"/>
              </a:rPr>
              <a:t>state_at_stp</a:t>
            </a:r>
            <a:r>
              <a:rPr lang="en-US" sz="1867" dirty="0">
                <a:latin typeface="+mj-lt"/>
              </a:rPr>
              <a:t>  </a:t>
            </a:r>
          </a:p>
          <a:p>
            <a:r>
              <a:rPr lang="en-US" sz="1867" dirty="0">
                <a:latin typeface="+mj-lt"/>
              </a:rPr>
              <a:t>-</a:t>
            </a:r>
            <a:r>
              <a:rPr lang="en-US" sz="1867" dirty="0" err="1">
                <a:latin typeface="+mj-lt"/>
              </a:rPr>
              <a:t>melting_point_k</a:t>
            </a:r>
            <a:r>
              <a:rPr lang="en-US" sz="1867" dirty="0">
                <a:latin typeface="+mj-lt"/>
              </a:rPr>
              <a:t>  </a:t>
            </a:r>
          </a:p>
          <a:p>
            <a:r>
              <a:rPr lang="en-US" sz="1867" dirty="0">
                <a:latin typeface="+mj-lt"/>
              </a:rPr>
              <a:t>-</a:t>
            </a:r>
            <a:r>
              <a:rPr lang="en-US" sz="1867" dirty="0" err="1">
                <a:latin typeface="+mj-lt"/>
              </a:rPr>
              <a:t>boiling_point_k</a:t>
            </a:r>
            <a:r>
              <a:rPr lang="en-US" sz="1867" dirty="0">
                <a:latin typeface="+mj-lt"/>
              </a:rPr>
              <a:t>  </a:t>
            </a:r>
          </a:p>
          <a:p>
            <a:r>
              <a:rPr lang="en-US" sz="1867" dirty="0">
                <a:latin typeface="+mj-lt"/>
              </a:rPr>
              <a:t>-density_g_cm3  </a:t>
            </a:r>
          </a:p>
          <a:p>
            <a:r>
              <a:rPr lang="en-US" sz="1867" dirty="0">
                <a:latin typeface="+mj-lt"/>
              </a:rPr>
              <a:t>-electronegativity  </a:t>
            </a:r>
          </a:p>
          <a:p>
            <a:r>
              <a:rPr lang="en-US" sz="1867" dirty="0">
                <a:latin typeface="+mj-lt"/>
              </a:rPr>
              <a:t>-</a:t>
            </a:r>
            <a:r>
              <a:rPr lang="en-US" sz="1867" dirty="0" err="1">
                <a:latin typeface="+mj-lt"/>
              </a:rPr>
              <a:t>ionization_energy_kj_mol</a:t>
            </a:r>
            <a:r>
              <a:rPr lang="en-US" sz="1867" dirty="0">
                <a:latin typeface="+mj-lt"/>
              </a:rPr>
              <a:t>  </a:t>
            </a:r>
          </a:p>
          <a:p>
            <a:r>
              <a:rPr lang="en-US" sz="1867" dirty="0">
                <a:latin typeface="+mj-lt"/>
              </a:rPr>
              <a:t>-</a:t>
            </a:r>
            <a:r>
              <a:rPr lang="en-US" sz="1867" dirty="0" err="1">
                <a:latin typeface="+mj-lt"/>
              </a:rPr>
              <a:t>electron_affinity_kj_mol</a:t>
            </a:r>
            <a:r>
              <a:rPr lang="en-US" sz="1867" dirty="0">
                <a:latin typeface="+mj-lt"/>
              </a:rPr>
              <a:t>  </a:t>
            </a:r>
          </a:p>
          <a:p>
            <a:r>
              <a:rPr lang="en-US" sz="1867" dirty="0">
                <a:latin typeface="+mj-lt"/>
              </a:rPr>
              <a:t>-description  </a:t>
            </a:r>
          </a:p>
          <a:p>
            <a:r>
              <a:rPr lang="en-US" sz="1867" dirty="0">
                <a:latin typeface="+mj-lt"/>
              </a:rPr>
              <a:t>-</a:t>
            </a:r>
            <a:r>
              <a:rPr lang="en-US" sz="1867" dirty="0" err="1">
                <a:latin typeface="+mj-lt"/>
              </a:rPr>
              <a:t>category_id</a:t>
            </a:r>
            <a:r>
              <a:rPr lang="en-US" sz="1867" dirty="0">
                <a:latin typeface="+mj-lt"/>
              </a:rPr>
              <a:t>  </a:t>
            </a:r>
          </a:p>
        </p:txBody>
      </p:sp>
      <p:sp>
        <p:nvSpPr>
          <p:cNvPr id="18" name="TextBox 17">
            <a:extLst>
              <a:ext uri="{FF2B5EF4-FFF2-40B4-BE49-F238E27FC236}">
                <a16:creationId xmlns:a16="http://schemas.microsoft.com/office/drawing/2014/main" id="{3B9CF4D7-C818-4825-9063-B238EC454F25}"/>
              </a:ext>
            </a:extLst>
          </p:cNvPr>
          <p:cNvSpPr txBox="1"/>
          <p:nvPr/>
        </p:nvSpPr>
        <p:spPr>
          <a:xfrm>
            <a:off x="682923" y="1346201"/>
            <a:ext cx="2456519" cy="502766"/>
          </a:xfrm>
          <a:prstGeom prst="rect">
            <a:avLst/>
          </a:prstGeom>
          <a:noFill/>
        </p:spPr>
        <p:txBody>
          <a:bodyPr wrap="square" rtlCol="0">
            <a:spAutoFit/>
          </a:bodyPr>
          <a:lstStyle/>
          <a:p>
            <a:r>
              <a:rPr lang="en-US" sz="2667" dirty="0">
                <a:latin typeface="Arial Rounded MT Bold" panose="020F0704030504030204" pitchFamily="34" charset="0"/>
              </a:rPr>
              <a:t>Columns</a:t>
            </a:r>
          </a:p>
        </p:txBody>
      </p:sp>
      <p:sp>
        <p:nvSpPr>
          <p:cNvPr id="19" name="TextBox 18">
            <a:extLst>
              <a:ext uri="{FF2B5EF4-FFF2-40B4-BE49-F238E27FC236}">
                <a16:creationId xmlns:a16="http://schemas.microsoft.com/office/drawing/2014/main" id="{C69ED063-CEEA-4DBE-8CC5-18A8A2231C02}"/>
              </a:ext>
            </a:extLst>
          </p:cNvPr>
          <p:cNvSpPr txBox="1"/>
          <p:nvPr/>
        </p:nvSpPr>
        <p:spPr>
          <a:xfrm rot="10800000" flipH="1" flipV="1">
            <a:off x="4148846" y="1865304"/>
            <a:ext cx="3593075" cy="5264133"/>
          </a:xfrm>
          <a:prstGeom prst="rect">
            <a:avLst/>
          </a:prstGeom>
          <a:noFill/>
        </p:spPr>
        <p:txBody>
          <a:bodyPr wrap="square" rtlCol="0">
            <a:spAutoFit/>
          </a:bodyPr>
          <a:lstStyle/>
          <a:p>
            <a:r>
              <a:rPr lang="es-ES" sz="1867" dirty="0"/>
              <a:t>INT  </a:t>
            </a:r>
          </a:p>
          <a:p>
            <a:r>
              <a:rPr lang="es-ES" sz="1867" dirty="0"/>
              <a:t>VARCHAR(50)  </a:t>
            </a:r>
          </a:p>
          <a:p>
            <a:r>
              <a:rPr lang="es-ES" sz="1867" dirty="0"/>
              <a:t>VARCHAR(3)  </a:t>
            </a:r>
          </a:p>
          <a:p>
            <a:r>
              <a:rPr lang="es-ES" sz="1867" dirty="0"/>
              <a:t>INT  </a:t>
            </a:r>
          </a:p>
          <a:p>
            <a:r>
              <a:rPr lang="es-ES" sz="1867" dirty="0"/>
              <a:t>DECIMAL(10, 5)  </a:t>
            </a:r>
          </a:p>
          <a:p>
            <a:r>
              <a:rPr lang="es-ES" sz="1867" dirty="0"/>
              <a:t>INT  </a:t>
            </a:r>
          </a:p>
          <a:p>
            <a:r>
              <a:rPr lang="es-ES" sz="1867" dirty="0"/>
              <a:t>INT  </a:t>
            </a:r>
          </a:p>
          <a:p>
            <a:r>
              <a:rPr lang="es-ES" sz="1867" dirty="0"/>
              <a:t>VARCHAR(1)  </a:t>
            </a:r>
          </a:p>
          <a:p>
            <a:r>
              <a:rPr lang="es-ES" sz="1867" dirty="0"/>
              <a:t>VARCHAR(255)  </a:t>
            </a:r>
          </a:p>
          <a:p>
            <a:r>
              <a:rPr lang="es-ES" sz="1867" dirty="0"/>
              <a:t>VARCHAR(20)  </a:t>
            </a:r>
          </a:p>
          <a:p>
            <a:r>
              <a:rPr lang="es-ES" sz="1867" dirty="0"/>
              <a:t>DECIMAL(8, 2)  </a:t>
            </a:r>
          </a:p>
          <a:p>
            <a:r>
              <a:rPr lang="es-ES" sz="1867" dirty="0"/>
              <a:t>DECIMAL(8, 2)  </a:t>
            </a:r>
          </a:p>
          <a:p>
            <a:r>
              <a:rPr lang="es-ES" sz="1867" dirty="0"/>
              <a:t>DECIMAL(8, 4)  </a:t>
            </a:r>
          </a:p>
          <a:p>
            <a:r>
              <a:rPr lang="es-ES" sz="1867" dirty="0"/>
              <a:t>DECIMAL(4, 2)  </a:t>
            </a:r>
          </a:p>
          <a:p>
            <a:r>
              <a:rPr lang="es-ES" sz="1867" dirty="0"/>
              <a:t>DECIMAL(8, 2)  </a:t>
            </a:r>
          </a:p>
          <a:p>
            <a:r>
              <a:rPr lang="es-ES" sz="1867" dirty="0"/>
              <a:t>DECIMAL(8, 2)  </a:t>
            </a:r>
          </a:p>
          <a:p>
            <a:r>
              <a:rPr lang="es-ES" sz="1867" dirty="0"/>
              <a:t>TEXT  </a:t>
            </a:r>
          </a:p>
          <a:p>
            <a:r>
              <a:rPr lang="es-ES" sz="1867" dirty="0"/>
              <a:t>INT </a:t>
            </a:r>
            <a:endParaRPr lang="en-US" sz="1867" dirty="0"/>
          </a:p>
        </p:txBody>
      </p:sp>
      <p:sp>
        <p:nvSpPr>
          <p:cNvPr id="20" name="TextBox 19">
            <a:extLst>
              <a:ext uri="{FF2B5EF4-FFF2-40B4-BE49-F238E27FC236}">
                <a16:creationId xmlns:a16="http://schemas.microsoft.com/office/drawing/2014/main" id="{429B173A-BDC3-4D1A-8201-6A9D831EC2FD}"/>
              </a:ext>
            </a:extLst>
          </p:cNvPr>
          <p:cNvSpPr txBox="1"/>
          <p:nvPr/>
        </p:nvSpPr>
        <p:spPr>
          <a:xfrm>
            <a:off x="4144427" y="1280620"/>
            <a:ext cx="2456519" cy="502766"/>
          </a:xfrm>
          <a:prstGeom prst="rect">
            <a:avLst/>
          </a:prstGeom>
          <a:noFill/>
        </p:spPr>
        <p:txBody>
          <a:bodyPr wrap="square" rtlCol="0">
            <a:spAutoFit/>
          </a:bodyPr>
          <a:lstStyle/>
          <a:p>
            <a:r>
              <a:rPr lang="en-US" sz="2667" dirty="0">
                <a:latin typeface="Arial Rounded MT Bold" panose="020F0704030504030204" pitchFamily="34" charset="0"/>
              </a:rPr>
              <a:t>Data Type</a:t>
            </a:r>
          </a:p>
        </p:txBody>
      </p:sp>
      <p:sp>
        <p:nvSpPr>
          <p:cNvPr id="21" name="TextBox 20">
            <a:extLst>
              <a:ext uri="{FF2B5EF4-FFF2-40B4-BE49-F238E27FC236}">
                <a16:creationId xmlns:a16="http://schemas.microsoft.com/office/drawing/2014/main" id="{6247C9CA-E2F2-4FBE-B3F0-14F12110FEC9}"/>
              </a:ext>
            </a:extLst>
          </p:cNvPr>
          <p:cNvSpPr txBox="1"/>
          <p:nvPr/>
        </p:nvSpPr>
        <p:spPr>
          <a:xfrm>
            <a:off x="6908800" y="1881269"/>
            <a:ext cx="4191773" cy="5551456"/>
          </a:xfrm>
          <a:prstGeom prst="rect">
            <a:avLst/>
          </a:prstGeom>
          <a:noFill/>
        </p:spPr>
        <p:txBody>
          <a:bodyPr wrap="square" rtlCol="0">
            <a:spAutoFit/>
          </a:bodyPr>
          <a:lstStyle/>
          <a:p>
            <a:r>
              <a:rPr lang="en-US" sz="1867" dirty="0"/>
              <a:t>AUTO_INCREMENT PRIMARY KEY  </a:t>
            </a:r>
          </a:p>
          <a:p>
            <a:r>
              <a:rPr lang="en-US" sz="1867" dirty="0"/>
              <a:t>UNIQUE NOT NULL  </a:t>
            </a:r>
          </a:p>
          <a:p>
            <a:r>
              <a:rPr lang="en-US" sz="1867" dirty="0"/>
              <a:t>UNIQUE NOT NULL  </a:t>
            </a:r>
          </a:p>
          <a:p>
            <a:r>
              <a:rPr lang="en-US" sz="1867" dirty="0"/>
              <a:t>UNIQUE NOT NULL  </a:t>
            </a:r>
          </a:p>
          <a:p>
            <a:r>
              <a:rPr lang="en-US" sz="1867" dirty="0"/>
              <a:t>NOT NULL  </a:t>
            </a:r>
          </a:p>
          <a:p>
            <a:r>
              <a:rPr lang="en-US" sz="1867" dirty="0"/>
              <a:t>NOT NULL  </a:t>
            </a:r>
          </a:p>
          <a:p>
            <a:r>
              <a:rPr lang="en-US" sz="1867" dirty="0"/>
              <a:t>(none)  </a:t>
            </a:r>
          </a:p>
          <a:p>
            <a:r>
              <a:rPr lang="en-US" sz="1867" dirty="0"/>
              <a:t>(none)  </a:t>
            </a:r>
          </a:p>
          <a:p>
            <a:r>
              <a:rPr lang="en-US" sz="1867" dirty="0"/>
              <a:t>(none)  </a:t>
            </a:r>
          </a:p>
          <a:p>
            <a:r>
              <a:rPr lang="en-US" sz="1867" dirty="0"/>
              <a:t>(none)  </a:t>
            </a:r>
          </a:p>
          <a:p>
            <a:r>
              <a:rPr lang="en-US" sz="1867" dirty="0"/>
              <a:t>(none)  </a:t>
            </a:r>
          </a:p>
          <a:p>
            <a:r>
              <a:rPr lang="en-US" sz="1867" dirty="0"/>
              <a:t>(none)  </a:t>
            </a:r>
          </a:p>
          <a:p>
            <a:r>
              <a:rPr lang="en-US" sz="1867" dirty="0"/>
              <a:t>(none)  </a:t>
            </a:r>
          </a:p>
          <a:p>
            <a:r>
              <a:rPr lang="en-US" sz="1867" dirty="0"/>
              <a:t>(none)  </a:t>
            </a:r>
          </a:p>
          <a:p>
            <a:r>
              <a:rPr lang="en-US" sz="1867" dirty="0"/>
              <a:t>(none)  </a:t>
            </a:r>
          </a:p>
          <a:p>
            <a:r>
              <a:rPr lang="en-US" sz="1867" dirty="0"/>
              <a:t>(none)  </a:t>
            </a:r>
          </a:p>
          <a:p>
            <a:r>
              <a:rPr lang="en-US" sz="1867" dirty="0"/>
              <a:t>(none)  </a:t>
            </a:r>
          </a:p>
          <a:p>
            <a:r>
              <a:rPr lang="en-US" sz="1867" dirty="0"/>
              <a:t>FOREIGN KEY (</a:t>
            </a:r>
            <a:r>
              <a:rPr lang="en-US" sz="1867" dirty="0" err="1"/>
              <a:t>category_id</a:t>
            </a:r>
            <a:r>
              <a:rPr lang="en-US" sz="1867" dirty="0"/>
              <a:t>) REFERENCES </a:t>
            </a:r>
            <a:r>
              <a:rPr lang="en-US" sz="1867" dirty="0" err="1"/>
              <a:t>element_categories</a:t>
            </a:r>
            <a:r>
              <a:rPr lang="en-US" sz="1867" dirty="0"/>
              <a:t>(</a:t>
            </a:r>
            <a:r>
              <a:rPr lang="en-US" sz="1867" dirty="0" err="1"/>
              <a:t>category_id</a:t>
            </a:r>
            <a:r>
              <a:rPr lang="en-US" sz="1867" dirty="0"/>
              <a:t>) </a:t>
            </a:r>
          </a:p>
        </p:txBody>
      </p:sp>
      <p:sp>
        <p:nvSpPr>
          <p:cNvPr id="22" name="TextBox 21">
            <a:extLst>
              <a:ext uri="{FF2B5EF4-FFF2-40B4-BE49-F238E27FC236}">
                <a16:creationId xmlns:a16="http://schemas.microsoft.com/office/drawing/2014/main" id="{258BEDFA-83D9-45E5-9F02-EC72D9DE198C}"/>
              </a:ext>
            </a:extLst>
          </p:cNvPr>
          <p:cNvSpPr txBox="1"/>
          <p:nvPr/>
        </p:nvSpPr>
        <p:spPr>
          <a:xfrm>
            <a:off x="7011032" y="1287378"/>
            <a:ext cx="4089541" cy="502766"/>
          </a:xfrm>
          <a:prstGeom prst="rect">
            <a:avLst/>
          </a:prstGeom>
          <a:noFill/>
        </p:spPr>
        <p:txBody>
          <a:bodyPr wrap="square" rtlCol="0">
            <a:spAutoFit/>
          </a:bodyPr>
          <a:lstStyle/>
          <a:p>
            <a:r>
              <a:rPr lang="en-US" sz="2667" dirty="0">
                <a:latin typeface="Arial Rounded MT Bold" panose="020F0704030504030204" pitchFamily="34" charset="0"/>
              </a:rPr>
              <a:t>Constrains/Description</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checkerboard(across)">
                                      <p:cBhvr>
                                        <p:cTn id="25" dur="500"/>
                                        <p:tgtEl>
                                          <p:spTgt spid="18"/>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checkerboard(across)">
                                      <p:cBhvr>
                                        <p:cTn id="28" dur="500"/>
                                        <p:tgtEl>
                                          <p:spTgt spid="20"/>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checkerboard(across)">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47"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1000"/>
                                        <p:tgtEl>
                                          <p:spTgt spid="17"/>
                                        </p:tgtEl>
                                      </p:cBhvr>
                                    </p:animEffect>
                                    <p:anim calcmode="lin" valueType="num">
                                      <p:cBhvr>
                                        <p:cTn id="37" dur="1000" fill="hold"/>
                                        <p:tgtEl>
                                          <p:spTgt spid="17"/>
                                        </p:tgtEl>
                                        <p:attrNameLst>
                                          <p:attrName>ppt_x</p:attrName>
                                        </p:attrNameLst>
                                      </p:cBhvr>
                                      <p:tavLst>
                                        <p:tav tm="0">
                                          <p:val>
                                            <p:strVal val="#ppt_x"/>
                                          </p:val>
                                        </p:tav>
                                        <p:tav tm="100000">
                                          <p:val>
                                            <p:strVal val="#ppt_x"/>
                                          </p:val>
                                        </p:tav>
                                      </p:tavLst>
                                    </p:anim>
                                    <p:anim calcmode="lin" valueType="num">
                                      <p:cBhvr>
                                        <p:cTn id="3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7"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1000"/>
                                        <p:tgtEl>
                                          <p:spTgt spid="19"/>
                                        </p:tgtEl>
                                      </p:cBhvr>
                                    </p:animEffect>
                                    <p:anim calcmode="lin" valueType="num">
                                      <p:cBhvr>
                                        <p:cTn id="44" dur="1000" fill="hold"/>
                                        <p:tgtEl>
                                          <p:spTgt spid="19"/>
                                        </p:tgtEl>
                                        <p:attrNameLst>
                                          <p:attrName>ppt_x</p:attrName>
                                        </p:attrNameLst>
                                      </p:cBhvr>
                                      <p:tavLst>
                                        <p:tav tm="0">
                                          <p:val>
                                            <p:strVal val="#ppt_x"/>
                                          </p:val>
                                        </p:tav>
                                        <p:tav tm="100000">
                                          <p:val>
                                            <p:strVal val="#ppt_x"/>
                                          </p:val>
                                        </p:tav>
                                      </p:tavLst>
                                    </p:anim>
                                    <p:anim calcmode="lin" valueType="num">
                                      <p:cBhvr>
                                        <p:cTn id="45"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7" presetClass="entr" presetSubtype="0"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1000"/>
                                        <p:tgtEl>
                                          <p:spTgt spid="21"/>
                                        </p:tgtEl>
                                      </p:cBhvr>
                                    </p:animEffect>
                                    <p:anim calcmode="lin" valueType="num">
                                      <p:cBhvr>
                                        <p:cTn id="51" dur="1000" fill="hold"/>
                                        <p:tgtEl>
                                          <p:spTgt spid="21"/>
                                        </p:tgtEl>
                                        <p:attrNameLst>
                                          <p:attrName>ppt_x</p:attrName>
                                        </p:attrNameLst>
                                      </p:cBhvr>
                                      <p:tavLst>
                                        <p:tav tm="0">
                                          <p:val>
                                            <p:strVal val="#ppt_x"/>
                                          </p:val>
                                        </p:tav>
                                        <p:tav tm="100000">
                                          <p:val>
                                            <p:strVal val="#ppt_x"/>
                                          </p:val>
                                        </p:tav>
                                      </p:tavLst>
                                    </p:anim>
                                    <p:anim calcmode="lin" valueType="num">
                                      <p:cBhvr>
                                        <p:cTn id="52"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7" grpId="0"/>
      <p:bldP spid="18" grpId="0"/>
      <p:bldP spid="19" grpId="0"/>
      <p:bldP spid="20" grpId="0"/>
      <p:bldP spid="21" grpId="0"/>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4">
            <a:extLst>
              <a:ext uri="{FF2B5EF4-FFF2-40B4-BE49-F238E27FC236}">
                <a16:creationId xmlns:a16="http://schemas.microsoft.com/office/drawing/2014/main" id="{368755D0-0299-414A-BCDA-F2D3452F86FD}"/>
              </a:ext>
            </a:extLst>
          </p:cNvPr>
          <p:cNvGrpSpPr/>
          <p:nvPr/>
        </p:nvGrpSpPr>
        <p:grpSpPr>
          <a:xfrm>
            <a:off x="5661387" y="308113"/>
            <a:ext cx="6558826" cy="6858000"/>
            <a:chOff x="0" y="0"/>
            <a:chExt cx="2591141" cy="2709333"/>
          </a:xfrm>
          <a:solidFill>
            <a:schemeClr val="accent5">
              <a:lumMod val="20000"/>
              <a:lumOff val="80000"/>
            </a:schemeClr>
          </a:solidFill>
        </p:grpSpPr>
        <p:sp>
          <p:nvSpPr>
            <p:cNvPr id="15" name="Freeform 5">
              <a:extLst>
                <a:ext uri="{FF2B5EF4-FFF2-40B4-BE49-F238E27FC236}">
                  <a16:creationId xmlns:a16="http://schemas.microsoft.com/office/drawing/2014/main" id="{CD6570B5-9233-4C66-A63F-4613CD38EB60}"/>
                </a:ext>
              </a:extLst>
            </p:cNvPr>
            <p:cNvSpPr/>
            <p:nvPr/>
          </p:nvSpPr>
          <p:spPr>
            <a:xfrm>
              <a:off x="0" y="0"/>
              <a:ext cx="2591141" cy="2709333"/>
            </a:xfrm>
            <a:custGeom>
              <a:avLst/>
              <a:gdLst/>
              <a:ahLst/>
              <a:cxnLst/>
              <a:rect l="l" t="t" r="r" b="b"/>
              <a:pathLst>
                <a:path w="2591141" h="2709333">
                  <a:moveTo>
                    <a:pt x="0" y="0"/>
                  </a:moveTo>
                  <a:lnTo>
                    <a:pt x="2591141" y="0"/>
                  </a:lnTo>
                  <a:lnTo>
                    <a:pt x="2591141" y="2709333"/>
                  </a:lnTo>
                  <a:lnTo>
                    <a:pt x="0" y="2709333"/>
                  </a:lnTo>
                  <a:close/>
                </a:path>
              </a:pathLst>
            </a:custGeom>
            <a:grpFill/>
          </p:spPr>
        </p:sp>
        <p:sp>
          <p:nvSpPr>
            <p:cNvPr id="16" name="TextBox 6">
              <a:extLst>
                <a:ext uri="{FF2B5EF4-FFF2-40B4-BE49-F238E27FC236}">
                  <a16:creationId xmlns:a16="http://schemas.microsoft.com/office/drawing/2014/main" id="{FDC38ED0-1BEC-4184-BC8F-7822C5AB3E63}"/>
                </a:ext>
              </a:extLst>
            </p:cNvPr>
            <p:cNvSpPr txBox="1"/>
            <p:nvPr/>
          </p:nvSpPr>
          <p:spPr>
            <a:xfrm>
              <a:off x="0" y="-123825"/>
              <a:ext cx="2591141" cy="2833158"/>
            </a:xfrm>
            <a:prstGeom prst="rect">
              <a:avLst/>
            </a:prstGeom>
            <a:grpFill/>
          </p:spPr>
          <p:txBody>
            <a:bodyPr lIns="33867" tIns="33867" rIns="33867" bIns="33867" rtlCol="0" anchor="ctr"/>
            <a:lstStyle/>
            <a:p>
              <a:pPr algn="ctr">
                <a:lnSpc>
                  <a:spcPts val="2719"/>
                </a:lnSpc>
              </a:pPr>
              <a:endParaRPr sz="1200"/>
            </a:p>
          </p:txBody>
        </p:sp>
      </p:grpSp>
      <p:sp>
        <p:nvSpPr>
          <p:cNvPr id="7" name="Scroll: Vertical 6">
            <a:extLst>
              <a:ext uri="{FF2B5EF4-FFF2-40B4-BE49-F238E27FC236}">
                <a16:creationId xmlns:a16="http://schemas.microsoft.com/office/drawing/2014/main" id="{54486860-F3E1-400F-9768-80EC03BE0652}"/>
              </a:ext>
            </a:extLst>
          </p:cNvPr>
          <p:cNvSpPr/>
          <p:nvPr/>
        </p:nvSpPr>
        <p:spPr>
          <a:xfrm>
            <a:off x="5236535" y="1295411"/>
            <a:ext cx="6908800" cy="4830223"/>
          </a:xfrm>
          <a:prstGeom prst="verticalScroll">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accent5">
                  <a:lumMod val="60000"/>
                  <a:lumOff val="40000"/>
                </a:schemeClr>
              </a:solidFill>
            </a:endParaRPr>
          </a:p>
        </p:txBody>
      </p:sp>
      <p:sp>
        <p:nvSpPr>
          <p:cNvPr id="21" name="AutoShape 21"/>
          <p:cNvSpPr/>
          <p:nvPr/>
        </p:nvSpPr>
        <p:spPr>
          <a:xfrm>
            <a:off x="7178040" y="660400"/>
            <a:ext cx="4328160" cy="0"/>
          </a:xfrm>
          <a:prstGeom prst="line">
            <a:avLst/>
          </a:prstGeom>
          <a:ln>
            <a:solidFill>
              <a:schemeClr val="accent5">
                <a:lumMod val="75000"/>
              </a:schemeClr>
            </a:solidFill>
            <a:headEnd type="none" w="sm" len="sm"/>
            <a:tailEnd type="none" w="sm" len="sm"/>
          </a:ln>
        </p:spPr>
        <p:style>
          <a:lnRef idx="2">
            <a:schemeClr val="accent1"/>
          </a:lnRef>
          <a:fillRef idx="1">
            <a:schemeClr val="lt1"/>
          </a:fillRef>
          <a:effectRef idx="0">
            <a:schemeClr val="accent1"/>
          </a:effectRef>
          <a:fontRef idx="minor">
            <a:schemeClr val="dk1"/>
          </a:fontRef>
        </p:style>
      </p:sp>
      <p:sp>
        <p:nvSpPr>
          <p:cNvPr id="22" name="TextBox 21">
            <a:extLst>
              <a:ext uri="{FF2B5EF4-FFF2-40B4-BE49-F238E27FC236}">
                <a16:creationId xmlns:a16="http://schemas.microsoft.com/office/drawing/2014/main" id="{62C5BF09-55DF-443A-ADF5-F5528468F453}"/>
              </a:ext>
            </a:extLst>
          </p:cNvPr>
          <p:cNvSpPr txBox="1"/>
          <p:nvPr/>
        </p:nvSpPr>
        <p:spPr>
          <a:xfrm>
            <a:off x="0" y="121229"/>
            <a:ext cx="9448800" cy="707886"/>
          </a:xfrm>
          <a:prstGeom prst="rect">
            <a:avLst/>
          </a:prstGeom>
          <a:noFill/>
        </p:spPr>
        <p:txBody>
          <a:bodyPr wrap="square" rtlCol="0">
            <a:spAutoFit/>
          </a:bodyPr>
          <a:lstStyle/>
          <a:p>
            <a:r>
              <a:rPr lang="en-US" sz="4000" dirty="0">
                <a:solidFill>
                  <a:schemeClr val="accent1">
                    <a:lumMod val="50000"/>
                  </a:schemeClr>
                </a:solidFill>
                <a:latin typeface="Arial Rounded MT Bold" panose="020F0704030504030204" pitchFamily="34" charset="0"/>
              </a:rPr>
              <a:t> </a:t>
            </a:r>
            <a:r>
              <a:rPr lang="en-US" sz="4000" dirty="0">
                <a:solidFill>
                  <a:schemeClr val="tx2">
                    <a:lumMod val="50000"/>
                  </a:schemeClr>
                </a:solidFill>
                <a:latin typeface="Arial Rounded MT Bold" panose="020F0704030504030204" pitchFamily="34" charset="0"/>
              </a:rPr>
              <a:t> Insert data in element table</a:t>
            </a:r>
          </a:p>
        </p:txBody>
      </p:sp>
      <p:sp>
        <p:nvSpPr>
          <p:cNvPr id="2" name="TextBox 1">
            <a:extLst>
              <a:ext uri="{FF2B5EF4-FFF2-40B4-BE49-F238E27FC236}">
                <a16:creationId xmlns:a16="http://schemas.microsoft.com/office/drawing/2014/main" id="{D5BABE9E-E5E4-4AAC-9B7A-2C291D77A84B}"/>
              </a:ext>
            </a:extLst>
          </p:cNvPr>
          <p:cNvSpPr txBox="1"/>
          <p:nvPr/>
        </p:nvSpPr>
        <p:spPr>
          <a:xfrm>
            <a:off x="5930605" y="2073848"/>
            <a:ext cx="5562600" cy="4401205"/>
          </a:xfrm>
          <a:prstGeom prst="rect">
            <a:avLst/>
          </a:prstGeom>
          <a:noFill/>
        </p:spPr>
        <p:txBody>
          <a:bodyPr wrap="square" rtlCol="0">
            <a:spAutoFit/>
          </a:bodyPr>
          <a:lstStyle/>
          <a:p>
            <a:r>
              <a:rPr lang="en-US" sz="1600" dirty="0">
                <a:solidFill>
                  <a:schemeClr val="tx2">
                    <a:lumMod val="50000"/>
                  </a:schemeClr>
                </a:solidFill>
              </a:rPr>
              <a:t>INSERT INTO elements (</a:t>
            </a:r>
          </a:p>
          <a:p>
            <a:r>
              <a:rPr lang="en-US" sz="1600" dirty="0">
                <a:solidFill>
                  <a:schemeClr val="tx2">
                    <a:lumMod val="50000"/>
                  </a:schemeClr>
                </a:solidFill>
              </a:rPr>
              <a:t>  name, symbol, </a:t>
            </a:r>
            <a:r>
              <a:rPr lang="en-US" sz="1600" dirty="0" err="1">
                <a:solidFill>
                  <a:schemeClr val="tx2">
                    <a:lumMod val="50000"/>
                  </a:schemeClr>
                </a:solidFill>
              </a:rPr>
              <a:t>atomic_number</a:t>
            </a:r>
            <a:r>
              <a:rPr lang="en-US" sz="1600" dirty="0">
                <a:solidFill>
                  <a:schemeClr val="tx2">
                    <a:lumMod val="50000"/>
                  </a:schemeClr>
                </a:solidFill>
              </a:rPr>
              <a:t>, </a:t>
            </a:r>
            <a:r>
              <a:rPr lang="en-US" sz="1600" dirty="0" err="1">
                <a:solidFill>
                  <a:schemeClr val="tx2">
                    <a:lumMod val="50000"/>
                  </a:schemeClr>
                </a:solidFill>
              </a:rPr>
              <a:t>atomic_mass</a:t>
            </a:r>
            <a:r>
              <a:rPr lang="en-US" sz="1600" dirty="0">
                <a:solidFill>
                  <a:schemeClr val="tx2">
                    <a:lumMod val="50000"/>
                  </a:schemeClr>
                </a:solidFill>
              </a:rPr>
              <a:t>, period, </a:t>
            </a:r>
            <a:r>
              <a:rPr lang="en-US" sz="1600" dirty="0" err="1">
                <a:solidFill>
                  <a:schemeClr val="tx2">
                    <a:lumMod val="50000"/>
                  </a:schemeClr>
                </a:solidFill>
              </a:rPr>
              <a:t>group_id</a:t>
            </a:r>
            <a:r>
              <a:rPr lang="en-US" sz="1600" dirty="0">
                <a:solidFill>
                  <a:schemeClr val="tx2">
                    <a:lumMod val="50000"/>
                  </a:schemeClr>
                </a:solidFill>
              </a:rPr>
              <a:t>, block,</a:t>
            </a:r>
          </a:p>
          <a:p>
            <a:r>
              <a:rPr lang="en-US" sz="1600" dirty="0">
                <a:solidFill>
                  <a:schemeClr val="tx2">
                    <a:lumMod val="50000"/>
                  </a:schemeClr>
                </a:solidFill>
              </a:rPr>
              <a:t>  </a:t>
            </a:r>
            <a:r>
              <a:rPr lang="en-US" sz="1600" dirty="0" err="1">
                <a:solidFill>
                  <a:schemeClr val="tx2">
                    <a:lumMod val="50000"/>
                  </a:schemeClr>
                </a:solidFill>
              </a:rPr>
              <a:t>electron_configuration</a:t>
            </a:r>
            <a:r>
              <a:rPr lang="en-US" sz="1600" dirty="0">
                <a:solidFill>
                  <a:schemeClr val="tx2">
                    <a:lumMod val="50000"/>
                  </a:schemeClr>
                </a:solidFill>
              </a:rPr>
              <a:t>, </a:t>
            </a:r>
            <a:r>
              <a:rPr lang="en-US" sz="1600" dirty="0" err="1">
                <a:solidFill>
                  <a:schemeClr val="tx2">
                    <a:lumMod val="50000"/>
                  </a:schemeClr>
                </a:solidFill>
              </a:rPr>
              <a:t>state_at_stp</a:t>
            </a:r>
            <a:r>
              <a:rPr lang="en-US" sz="1600" dirty="0">
                <a:solidFill>
                  <a:schemeClr val="tx2">
                    <a:lumMod val="50000"/>
                  </a:schemeClr>
                </a:solidFill>
              </a:rPr>
              <a:t>, </a:t>
            </a:r>
            <a:r>
              <a:rPr lang="en-US" sz="1600" dirty="0" err="1">
                <a:solidFill>
                  <a:schemeClr val="tx2">
                    <a:lumMod val="50000"/>
                  </a:schemeClr>
                </a:solidFill>
              </a:rPr>
              <a:t>melting_point_k</a:t>
            </a:r>
            <a:r>
              <a:rPr lang="en-US" sz="1600" dirty="0">
                <a:solidFill>
                  <a:schemeClr val="tx2">
                    <a:lumMod val="50000"/>
                  </a:schemeClr>
                </a:solidFill>
              </a:rPr>
              <a:t>, </a:t>
            </a:r>
            <a:r>
              <a:rPr lang="en-US" sz="1600" dirty="0" err="1">
                <a:solidFill>
                  <a:schemeClr val="tx2">
                    <a:lumMod val="50000"/>
                  </a:schemeClr>
                </a:solidFill>
              </a:rPr>
              <a:t>boiling_point_k</a:t>
            </a:r>
            <a:r>
              <a:rPr lang="en-US" sz="1600" dirty="0">
                <a:solidFill>
                  <a:schemeClr val="tx2">
                    <a:lumMod val="50000"/>
                  </a:schemeClr>
                </a:solidFill>
              </a:rPr>
              <a:t>,</a:t>
            </a:r>
          </a:p>
          <a:p>
            <a:r>
              <a:rPr lang="en-US" sz="1600" dirty="0">
                <a:solidFill>
                  <a:schemeClr val="tx2">
                    <a:lumMod val="50000"/>
                  </a:schemeClr>
                </a:solidFill>
              </a:rPr>
              <a:t>  density_g_cm3, electronegativity, </a:t>
            </a:r>
            <a:r>
              <a:rPr lang="en-US" sz="1600" dirty="0" err="1">
                <a:solidFill>
                  <a:schemeClr val="tx2">
                    <a:lumMod val="50000"/>
                  </a:schemeClr>
                </a:solidFill>
              </a:rPr>
              <a:t>ionization_energy_kj_mol</a:t>
            </a:r>
            <a:r>
              <a:rPr lang="en-US" sz="1600" dirty="0">
                <a:solidFill>
                  <a:schemeClr val="tx2">
                    <a:lumMod val="50000"/>
                  </a:schemeClr>
                </a:solidFill>
              </a:rPr>
              <a:t>,</a:t>
            </a:r>
          </a:p>
          <a:p>
            <a:r>
              <a:rPr lang="en-US" sz="1600" dirty="0">
                <a:solidFill>
                  <a:schemeClr val="tx2">
                    <a:lumMod val="50000"/>
                  </a:schemeClr>
                </a:solidFill>
              </a:rPr>
              <a:t>  </a:t>
            </a:r>
            <a:r>
              <a:rPr lang="en-US" sz="1600" dirty="0" err="1">
                <a:solidFill>
                  <a:schemeClr val="tx2">
                    <a:lumMod val="50000"/>
                  </a:schemeClr>
                </a:solidFill>
              </a:rPr>
              <a:t>electron_affinity_kj_mol</a:t>
            </a:r>
            <a:r>
              <a:rPr lang="en-US" sz="1600" dirty="0">
                <a:solidFill>
                  <a:schemeClr val="tx2">
                    <a:lumMod val="50000"/>
                  </a:schemeClr>
                </a:solidFill>
              </a:rPr>
              <a:t>, description, </a:t>
            </a:r>
            <a:r>
              <a:rPr lang="en-US" sz="1600" dirty="0" err="1">
                <a:solidFill>
                  <a:schemeClr val="tx2">
                    <a:lumMod val="50000"/>
                  </a:schemeClr>
                </a:solidFill>
              </a:rPr>
              <a:t>category_id</a:t>
            </a:r>
            <a:endParaRPr lang="en-US" sz="1600" dirty="0">
              <a:solidFill>
                <a:schemeClr val="tx2">
                  <a:lumMod val="50000"/>
                </a:schemeClr>
              </a:solidFill>
            </a:endParaRPr>
          </a:p>
          <a:p>
            <a:r>
              <a:rPr lang="en-US" sz="1600" dirty="0">
                <a:solidFill>
                  <a:schemeClr val="tx2">
                    <a:lumMod val="50000"/>
                  </a:schemeClr>
                </a:solidFill>
              </a:rPr>
              <a:t>) VALUES</a:t>
            </a:r>
          </a:p>
          <a:p>
            <a:endParaRPr lang="en-US" sz="1600" dirty="0">
              <a:solidFill>
                <a:schemeClr val="tx2">
                  <a:lumMod val="50000"/>
                </a:schemeClr>
              </a:solidFill>
            </a:endParaRPr>
          </a:p>
          <a:p>
            <a:r>
              <a:rPr lang="en-US" sz="1600" dirty="0">
                <a:solidFill>
                  <a:schemeClr val="tx2">
                    <a:lumMod val="50000"/>
                  </a:schemeClr>
                </a:solidFill>
              </a:rPr>
              <a:t>(</a:t>
            </a:r>
          </a:p>
          <a:p>
            <a:r>
              <a:rPr lang="en-US" sz="1600" dirty="0">
                <a:solidFill>
                  <a:schemeClr val="tx2">
                    <a:lumMod val="50000"/>
                  </a:schemeClr>
                </a:solidFill>
              </a:rPr>
              <a:t>  'Hydrogen', 'H', 1, 1.00784, 1, 1, 's',</a:t>
            </a:r>
          </a:p>
          <a:p>
            <a:r>
              <a:rPr lang="en-US" sz="1600" dirty="0">
                <a:solidFill>
                  <a:schemeClr val="tx2">
                    <a:lumMod val="50000"/>
                  </a:schemeClr>
                </a:solidFill>
              </a:rPr>
              <a:t>  '1s1', 'gas', 13.99, 20.27,</a:t>
            </a:r>
          </a:p>
          <a:p>
            <a:r>
              <a:rPr lang="en-US" sz="1600" dirty="0">
                <a:solidFill>
                  <a:schemeClr val="tx2">
                    <a:lumMod val="50000"/>
                  </a:schemeClr>
                </a:solidFill>
              </a:rPr>
              <a:t>  0.00008988, 2.20, 1312.00,</a:t>
            </a:r>
          </a:p>
          <a:p>
            <a:r>
              <a:rPr lang="en-US" sz="1600" dirty="0">
                <a:solidFill>
                  <a:schemeClr val="tx2">
                    <a:lumMod val="50000"/>
                  </a:schemeClr>
                </a:solidFill>
              </a:rPr>
              <a:t>  72.8, 'Lightest element, essential in water and organic compounds.', 1</a:t>
            </a:r>
          </a:p>
          <a:p>
            <a:r>
              <a:rPr lang="en-US" sz="1600" dirty="0">
                <a:solidFill>
                  <a:schemeClr val="tx2">
                    <a:lumMod val="50000"/>
                  </a:schemeClr>
                </a:solidFill>
              </a:rPr>
              <a:t>);</a:t>
            </a:r>
          </a:p>
          <a:p>
            <a:endParaRPr lang="en-US" sz="1200" dirty="0">
              <a:solidFill>
                <a:schemeClr val="tx2">
                  <a:lumMod val="50000"/>
                </a:schemeClr>
              </a:solidFill>
            </a:endParaRPr>
          </a:p>
          <a:p>
            <a:endParaRPr lang="en-US" sz="1200" dirty="0">
              <a:solidFill>
                <a:schemeClr val="tx2">
                  <a:lumMod val="50000"/>
                </a:schemeClr>
              </a:solidFill>
            </a:endParaRPr>
          </a:p>
        </p:txBody>
      </p:sp>
      <p:sp>
        <p:nvSpPr>
          <p:cNvPr id="12" name="Rectangle 11">
            <a:extLst>
              <a:ext uri="{FF2B5EF4-FFF2-40B4-BE49-F238E27FC236}">
                <a16:creationId xmlns:a16="http://schemas.microsoft.com/office/drawing/2014/main" id="{967CBB4F-53AC-4729-9DED-18A070506999}"/>
              </a:ext>
            </a:extLst>
          </p:cNvPr>
          <p:cNvSpPr/>
          <p:nvPr/>
        </p:nvSpPr>
        <p:spPr>
          <a:xfrm>
            <a:off x="406400" y="706967"/>
            <a:ext cx="8128000" cy="5418667"/>
          </a:xfrm>
          <a:prstGeom prst="rect">
            <a:avLst/>
          </a:prstGeom>
        </p:spPr>
        <p:txBody>
          <a:bodyPr/>
          <a:lstStyle/>
          <a:p>
            <a:pPr lvl="0">
              <a:buChar char="•"/>
            </a:pPr>
            <a:endParaRPr lang="en-US" sz="1200" dirty="0"/>
          </a:p>
          <a:p>
            <a:pPr lvl="0">
              <a:buChar char="•"/>
            </a:pPr>
            <a:endParaRPr lang="en-US" sz="1200" dirty="0"/>
          </a:p>
          <a:p>
            <a:pPr lvl="0">
              <a:buChar char="•"/>
            </a:pPr>
            <a:endParaRPr lang="en-US" sz="1200" dirty="0"/>
          </a:p>
          <a:p>
            <a:pPr lvl="0">
              <a:buChar char="•"/>
            </a:pPr>
            <a:endParaRPr lang="en-US" sz="1200" dirty="0"/>
          </a:p>
        </p:txBody>
      </p:sp>
      <p:sp>
        <p:nvSpPr>
          <p:cNvPr id="14" name="TextBox 13">
            <a:extLst>
              <a:ext uri="{FF2B5EF4-FFF2-40B4-BE49-F238E27FC236}">
                <a16:creationId xmlns:a16="http://schemas.microsoft.com/office/drawing/2014/main" id="{5E08A05E-3278-4D86-BB04-9912793AF74A}"/>
              </a:ext>
            </a:extLst>
          </p:cNvPr>
          <p:cNvSpPr txBox="1"/>
          <p:nvPr/>
        </p:nvSpPr>
        <p:spPr>
          <a:xfrm>
            <a:off x="5791200" y="3127513"/>
            <a:ext cx="609600" cy="276999"/>
          </a:xfrm>
          <a:prstGeom prst="rect">
            <a:avLst/>
          </a:prstGeom>
          <a:noFill/>
        </p:spPr>
        <p:txBody>
          <a:bodyPr wrap="square" rtlCol="0">
            <a:spAutoFit/>
          </a:bodyPr>
          <a:lstStyle/>
          <a:p>
            <a:endParaRPr lang="en-US" sz="1200" dirty="0"/>
          </a:p>
        </p:txBody>
      </p:sp>
      <p:sp>
        <p:nvSpPr>
          <p:cNvPr id="6" name="Rectangle: Rounded Corners 5">
            <a:extLst>
              <a:ext uri="{FF2B5EF4-FFF2-40B4-BE49-F238E27FC236}">
                <a16:creationId xmlns:a16="http://schemas.microsoft.com/office/drawing/2014/main" id="{D3D0C3ED-869F-4F97-A3B4-7AB52EB6FB58}"/>
              </a:ext>
            </a:extLst>
          </p:cNvPr>
          <p:cNvSpPr/>
          <p:nvPr/>
        </p:nvSpPr>
        <p:spPr>
          <a:xfrm>
            <a:off x="685800" y="1210733"/>
            <a:ext cx="4089400" cy="2115747"/>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 name="Rectangle: Rounded Corners 7">
            <a:extLst>
              <a:ext uri="{FF2B5EF4-FFF2-40B4-BE49-F238E27FC236}">
                <a16:creationId xmlns:a16="http://schemas.microsoft.com/office/drawing/2014/main" id="{310B49BA-0C09-4D72-A6DF-F5AE3D968E11}"/>
              </a:ext>
            </a:extLst>
          </p:cNvPr>
          <p:cNvSpPr/>
          <p:nvPr/>
        </p:nvSpPr>
        <p:spPr>
          <a:xfrm>
            <a:off x="640907" y="3783679"/>
            <a:ext cx="4179186" cy="2258902"/>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p:tgtEl>
                                          <p:spTgt spid="6"/>
                                        </p:tgtEl>
                                        <p:attrNameLst>
                                          <p:attrName>ppt_y</p:attrName>
                                        </p:attrNameLst>
                                      </p:cBhvr>
                                      <p:tavLst>
                                        <p:tav tm="0">
                                          <p:val>
                                            <p:strVal val="#ppt_y+#ppt_h*1.125000"/>
                                          </p:val>
                                        </p:tav>
                                        <p:tav tm="100000">
                                          <p:val>
                                            <p:strVal val="#ppt_y"/>
                                          </p:val>
                                        </p:tav>
                                      </p:tavLst>
                                    </p:anim>
                                    <p:animEffect transition="in" filter="wipe(up)">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p:tgtEl>
                                          <p:spTgt spid="8"/>
                                        </p:tgtEl>
                                        <p:attrNameLst>
                                          <p:attrName>ppt_y</p:attrName>
                                        </p:attrNameLst>
                                      </p:cBhvr>
                                      <p:tavLst>
                                        <p:tav tm="0">
                                          <p:val>
                                            <p:strVal val="#ppt_y+#ppt_h*1.125000"/>
                                          </p:val>
                                        </p:tav>
                                        <p:tav tm="100000">
                                          <p:val>
                                            <p:strVal val="#ppt_y"/>
                                          </p:val>
                                        </p:tav>
                                      </p:tavLst>
                                    </p:anim>
                                    <p:animEffect transition="in" filter="wipe(up)">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trips(downLeft)">
                                      <p:cBhvr>
                                        <p:cTn id="22" dur="500"/>
                                        <p:tgtEl>
                                          <p:spTgt spid="7"/>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strips(downLeft)">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2" grpId="0"/>
      <p:bldP spid="2" grpId="0"/>
      <p:bldP spid="6"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5394415" y="299612"/>
            <a:ext cx="6797585" cy="6558386"/>
            <a:chOff x="0" y="0"/>
            <a:chExt cx="2591141" cy="2709333"/>
          </a:xfrm>
          <a:solidFill>
            <a:schemeClr val="accent5">
              <a:lumMod val="60000"/>
              <a:lumOff val="40000"/>
            </a:schemeClr>
          </a:solidFill>
        </p:grpSpPr>
        <p:sp>
          <p:nvSpPr>
            <p:cNvPr id="5" name="Freeform 5"/>
            <p:cNvSpPr/>
            <p:nvPr/>
          </p:nvSpPr>
          <p:spPr>
            <a:xfrm>
              <a:off x="0" y="0"/>
              <a:ext cx="2591141" cy="2709333"/>
            </a:xfrm>
            <a:custGeom>
              <a:avLst/>
              <a:gdLst/>
              <a:ahLst/>
              <a:cxnLst/>
              <a:rect l="l" t="t" r="r" b="b"/>
              <a:pathLst>
                <a:path w="2591141" h="2709333">
                  <a:moveTo>
                    <a:pt x="0" y="0"/>
                  </a:moveTo>
                  <a:lnTo>
                    <a:pt x="2591141" y="0"/>
                  </a:lnTo>
                  <a:lnTo>
                    <a:pt x="2591141" y="2709333"/>
                  </a:lnTo>
                  <a:lnTo>
                    <a:pt x="0" y="2709333"/>
                  </a:lnTo>
                  <a:close/>
                </a:path>
              </a:pathLst>
            </a:custGeom>
            <a:grpFill/>
          </p:spPr>
        </p:sp>
        <p:sp>
          <p:nvSpPr>
            <p:cNvPr id="6" name="TextBox 6"/>
            <p:cNvSpPr txBox="1"/>
            <p:nvPr/>
          </p:nvSpPr>
          <p:spPr>
            <a:xfrm>
              <a:off x="0" y="-123825"/>
              <a:ext cx="2591141" cy="2833158"/>
            </a:xfrm>
            <a:prstGeom prst="rect">
              <a:avLst/>
            </a:prstGeom>
            <a:solidFill>
              <a:schemeClr val="accent1">
                <a:lumMod val="20000"/>
                <a:lumOff val="80000"/>
              </a:schemeClr>
            </a:solidFill>
          </p:spPr>
          <p:txBody>
            <a:bodyPr lIns="33867" tIns="33867" rIns="33867" bIns="33867" rtlCol="0" anchor="ctr"/>
            <a:lstStyle/>
            <a:p>
              <a:pPr algn="ctr">
                <a:lnSpc>
                  <a:spcPts val="2719"/>
                </a:lnSpc>
              </a:pPr>
              <a:endParaRPr sz="1200"/>
            </a:p>
          </p:txBody>
        </p:sp>
      </p:grpSp>
      <p:sp>
        <p:nvSpPr>
          <p:cNvPr id="7" name="TextBox 7"/>
          <p:cNvSpPr txBox="1"/>
          <p:nvPr/>
        </p:nvSpPr>
        <p:spPr>
          <a:xfrm>
            <a:off x="2574525" y="0"/>
            <a:ext cx="6320499" cy="739561"/>
          </a:xfrm>
          <a:prstGeom prst="rect">
            <a:avLst/>
          </a:prstGeom>
        </p:spPr>
        <p:txBody>
          <a:bodyPr lIns="0" tIns="0" rIns="0" bIns="0" rtlCol="0" anchor="t">
            <a:spAutoFit/>
          </a:bodyPr>
          <a:lstStyle/>
          <a:p>
            <a:pPr>
              <a:lnSpc>
                <a:spcPts val="5973"/>
              </a:lnSpc>
              <a:spcBef>
                <a:spcPct val="0"/>
              </a:spcBef>
            </a:pPr>
            <a:r>
              <a:rPr lang="en-US" sz="4800" b="1" i="1" dirty="0">
                <a:solidFill>
                  <a:srgbClr val="0F4662"/>
                </a:solidFill>
                <a:latin typeface="Cormorant Garamond Bold Italics"/>
                <a:ea typeface="Cormorant Garamond Bold Italics"/>
                <a:cs typeface="Cormorant Garamond Bold Italics"/>
                <a:sym typeface="Cormorant Garamond Bold Italics"/>
              </a:rPr>
              <a:t>Insert data in all tables</a:t>
            </a:r>
          </a:p>
        </p:txBody>
      </p:sp>
      <p:sp>
        <p:nvSpPr>
          <p:cNvPr id="14" name="AutoShape 14"/>
          <p:cNvSpPr/>
          <p:nvPr/>
        </p:nvSpPr>
        <p:spPr>
          <a:xfrm>
            <a:off x="304800" y="6586168"/>
            <a:ext cx="4328160" cy="0"/>
          </a:xfrm>
          <a:prstGeom prst="line">
            <a:avLst/>
          </a:prstGeom>
          <a:ln w="76200" cap="flat">
            <a:solidFill>
              <a:srgbClr val="0F4662"/>
            </a:solidFill>
            <a:prstDash val="solid"/>
            <a:headEnd type="none" w="sm" len="sm"/>
            <a:tailEnd type="none" w="sm" len="sm"/>
          </a:ln>
        </p:spPr>
      </p:sp>
      <p:sp>
        <p:nvSpPr>
          <p:cNvPr id="15" name="AutoShape 15"/>
          <p:cNvSpPr/>
          <p:nvPr/>
        </p:nvSpPr>
        <p:spPr>
          <a:xfrm>
            <a:off x="7342512" y="149806"/>
            <a:ext cx="4328160" cy="0"/>
          </a:xfrm>
          <a:prstGeom prst="line">
            <a:avLst/>
          </a:prstGeom>
          <a:ln w="76200" cap="flat">
            <a:solidFill>
              <a:srgbClr val="0F4662"/>
            </a:solidFill>
            <a:prstDash val="solid"/>
            <a:headEnd type="none" w="sm" len="sm"/>
            <a:tailEnd type="none" w="sm" len="sm"/>
          </a:ln>
        </p:spPr>
      </p:sp>
      <p:sp>
        <p:nvSpPr>
          <p:cNvPr id="21" name="TextBox 6">
            <a:extLst>
              <a:ext uri="{FF2B5EF4-FFF2-40B4-BE49-F238E27FC236}">
                <a16:creationId xmlns:a16="http://schemas.microsoft.com/office/drawing/2014/main" id="{8E6CBB21-44F1-41E8-92C5-7827584503E2}"/>
              </a:ext>
            </a:extLst>
          </p:cNvPr>
          <p:cNvSpPr txBox="1"/>
          <p:nvPr/>
        </p:nvSpPr>
        <p:spPr>
          <a:xfrm>
            <a:off x="5734774" y="-211832"/>
            <a:ext cx="6558826" cy="7171432"/>
          </a:xfrm>
          <a:prstGeom prst="rect">
            <a:avLst/>
          </a:prstGeom>
        </p:spPr>
        <p:txBody>
          <a:bodyPr lIns="33867" tIns="33867" rIns="33867" bIns="33867" rtlCol="0" anchor="ctr"/>
          <a:lstStyle/>
          <a:p>
            <a:pPr algn="ctr">
              <a:lnSpc>
                <a:spcPts val="2719"/>
              </a:lnSpc>
            </a:pPr>
            <a:endParaRPr sz="1200"/>
          </a:p>
        </p:txBody>
      </p:sp>
      <p:sp>
        <p:nvSpPr>
          <p:cNvPr id="27" name="TextBox 26">
            <a:extLst>
              <a:ext uri="{FF2B5EF4-FFF2-40B4-BE49-F238E27FC236}">
                <a16:creationId xmlns:a16="http://schemas.microsoft.com/office/drawing/2014/main" id="{DAAA7EE5-E43E-49D2-8375-619668CDCF2C}"/>
              </a:ext>
            </a:extLst>
          </p:cNvPr>
          <p:cNvSpPr txBox="1"/>
          <p:nvPr/>
        </p:nvSpPr>
        <p:spPr>
          <a:xfrm rot="10800000" flipH="1" flipV="1">
            <a:off x="19772" y="1598174"/>
            <a:ext cx="5635458" cy="1077026"/>
          </a:xfrm>
          <a:prstGeom prst="rect">
            <a:avLst/>
          </a:prstGeom>
          <a:noFill/>
        </p:spPr>
        <p:txBody>
          <a:bodyPr wrap="square" rtlCol="0">
            <a:spAutoFit/>
          </a:bodyPr>
          <a:lstStyle/>
          <a:p>
            <a:r>
              <a:rPr lang="en-US" sz="2133" dirty="0"/>
              <a:t>INSERT INTO Isotopes (</a:t>
            </a:r>
            <a:r>
              <a:rPr lang="en-US" sz="2133" dirty="0" err="1"/>
              <a:t>element_id</a:t>
            </a:r>
            <a:r>
              <a:rPr lang="en-US" sz="2133" dirty="0"/>
              <a:t>, </a:t>
            </a:r>
            <a:r>
              <a:rPr lang="en-US" sz="2133" dirty="0" err="1"/>
              <a:t>mass_number</a:t>
            </a:r>
            <a:r>
              <a:rPr lang="en-US" sz="2133" dirty="0"/>
              <a:t>, symbol, </a:t>
            </a:r>
            <a:r>
              <a:rPr lang="en-US" sz="2133" dirty="0" err="1"/>
              <a:t>natural_abundance</a:t>
            </a:r>
            <a:r>
              <a:rPr lang="en-US" sz="2133" dirty="0"/>
              <a:t>, </a:t>
            </a:r>
            <a:r>
              <a:rPr lang="en-US" sz="2133" dirty="0" err="1"/>
              <a:t>half_life_days</a:t>
            </a:r>
            <a:r>
              <a:rPr lang="en-US" sz="2133" dirty="0"/>
              <a:t>, </a:t>
            </a:r>
            <a:r>
              <a:rPr lang="en-US" sz="2133" dirty="0" err="1"/>
              <a:t>decay_mode</a:t>
            </a:r>
            <a:r>
              <a:rPr lang="en-US" sz="2133" dirty="0"/>
              <a:t>, </a:t>
            </a:r>
            <a:r>
              <a:rPr lang="en-US" sz="2133" dirty="0" err="1"/>
              <a:t>is_radioactive</a:t>
            </a:r>
            <a:r>
              <a:rPr lang="en-US" sz="2133" dirty="0"/>
              <a:t>) VALUES</a:t>
            </a:r>
          </a:p>
        </p:txBody>
      </p:sp>
      <p:sp>
        <p:nvSpPr>
          <p:cNvPr id="28" name="TextBox 27">
            <a:extLst>
              <a:ext uri="{FF2B5EF4-FFF2-40B4-BE49-F238E27FC236}">
                <a16:creationId xmlns:a16="http://schemas.microsoft.com/office/drawing/2014/main" id="{7CEA4906-43F8-4CB0-9A6A-602C6E3D1EEC}"/>
              </a:ext>
            </a:extLst>
          </p:cNvPr>
          <p:cNvSpPr txBox="1"/>
          <p:nvPr/>
        </p:nvSpPr>
        <p:spPr>
          <a:xfrm>
            <a:off x="177209" y="882789"/>
            <a:ext cx="2540000" cy="543675"/>
          </a:xfrm>
          <a:prstGeom prst="rect">
            <a:avLst/>
          </a:prstGeom>
          <a:noFill/>
        </p:spPr>
        <p:txBody>
          <a:bodyPr wrap="square" rtlCol="0">
            <a:spAutoFit/>
          </a:bodyPr>
          <a:lstStyle/>
          <a:p>
            <a:r>
              <a:rPr lang="en-US" sz="2933" dirty="0">
                <a:latin typeface="Bahnschrift SemiBold" panose="020B0502040204020203" pitchFamily="34" charset="0"/>
              </a:rPr>
              <a:t>Isotopes table</a:t>
            </a:r>
          </a:p>
        </p:txBody>
      </p:sp>
      <p:sp>
        <p:nvSpPr>
          <p:cNvPr id="30" name="TextBox 29">
            <a:extLst>
              <a:ext uri="{FF2B5EF4-FFF2-40B4-BE49-F238E27FC236}">
                <a16:creationId xmlns:a16="http://schemas.microsoft.com/office/drawing/2014/main" id="{68515F5B-1BCC-4F87-B08F-9729F60229B2}"/>
              </a:ext>
            </a:extLst>
          </p:cNvPr>
          <p:cNvSpPr txBox="1"/>
          <p:nvPr/>
        </p:nvSpPr>
        <p:spPr>
          <a:xfrm>
            <a:off x="6197600" y="1845724"/>
            <a:ext cx="4978400" cy="276999"/>
          </a:xfrm>
          <a:prstGeom prst="rect">
            <a:avLst/>
          </a:prstGeom>
          <a:noFill/>
        </p:spPr>
        <p:txBody>
          <a:bodyPr wrap="square" rtlCol="0">
            <a:spAutoFit/>
          </a:bodyPr>
          <a:lstStyle/>
          <a:p>
            <a:endParaRPr lang="en-US" sz="1200" dirty="0"/>
          </a:p>
        </p:txBody>
      </p:sp>
      <p:sp>
        <p:nvSpPr>
          <p:cNvPr id="31" name="TextBox 30">
            <a:extLst>
              <a:ext uri="{FF2B5EF4-FFF2-40B4-BE49-F238E27FC236}">
                <a16:creationId xmlns:a16="http://schemas.microsoft.com/office/drawing/2014/main" id="{29BD7D3E-65C6-4B3F-8829-22DE19E51346}"/>
              </a:ext>
            </a:extLst>
          </p:cNvPr>
          <p:cNvSpPr txBox="1"/>
          <p:nvPr/>
        </p:nvSpPr>
        <p:spPr>
          <a:xfrm>
            <a:off x="5606685" y="1395750"/>
            <a:ext cx="6408106" cy="1733488"/>
          </a:xfrm>
          <a:prstGeom prst="rect">
            <a:avLst/>
          </a:prstGeom>
          <a:noFill/>
        </p:spPr>
        <p:txBody>
          <a:bodyPr wrap="square" rtlCol="0">
            <a:spAutoFit/>
          </a:bodyPr>
          <a:lstStyle/>
          <a:p>
            <a:r>
              <a:rPr lang="en-US" sz="2133" dirty="0"/>
              <a:t>INSERT INTO </a:t>
            </a:r>
            <a:r>
              <a:rPr lang="en-US" sz="2133" dirty="0" err="1"/>
              <a:t>element_categories</a:t>
            </a:r>
            <a:r>
              <a:rPr lang="en-US" sz="2133" dirty="0"/>
              <a:t> (</a:t>
            </a:r>
            <a:r>
              <a:rPr lang="en-US" sz="2133" dirty="0" err="1"/>
              <a:t>category_name</a:t>
            </a:r>
            <a:r>
              <a:rPr lang="en-US" sz="2133" dirty="0"/>
              <a:t>, </a:t>
            </a:r>
            <a:r>
              <a:rPr lang="en-US" sz="2133" dirty="0" err="1"/>
              <a:t>category_description</a:t>
            </a:r>
            <a:r>
              <a:rPr lang="en-US" sz="2133" dirty="0"/>
              <a:t>) VALUES('Alkali Metal', 'Very reactive metals that readily lose their outermost electron.'),('Alkaline Earth Metal', 'Reactive metals, commonly found in the </a:t>
            </a:r>
            <a:r>
              <a:rPr lang="en-US" sz="2133" dirty="0" err="1"/>
              <a:t>Earth''s</a:t>
            </a:r>
            <a:r>
              <a:rPr lang="en-US" sz="2133" dirty="0"/>
              <a:t> crust.'),</a:t>
            </a:r>
          </a:p>
        </p:txBody>
      </p:sp>
      <p:sp>
        <p:nvSpPr>
          <p:cNvPr id="32" name="TextBox 31">
            <a:extLst>
              <a:ext uri="{FF2B5EF4-FFF2-40B4-BE49-F238E27FC236}">
                <a16:creationId xmlns:a16="http://schemas.microsoft.com/office/drawing/2014/main" id="{8217561A-7BEB-4D1C-89A9-0E703D78920F}"/>
              </a:ext>
            </a:extLst>
          </p:cNvPr>
          <p:cNvSpPr txBox="1"/>
          <p:nvPr/>
        </p:nvSpPr>
        <p:spPr>
          <a:xfrm>
            <a:off x="5732411" y="903307"/>
            <a:ext cx="4091683" cy="502766"/>
          </a:xfrm>
          <a:prstGeom prst="rect">
            <a:avLst/>
          </a:prstGeom>
          <a:noFill/>
        </p:spPr>
        <p:txBody>
          <a:bodyPr wrap="square" rtlCol="0">
            <a:spAutoFit/>
          </a:bodyPr>
          <a:lstStyle/>
          <a:p>
            <a:r>
              <a:rPr lang="en-US" sz="2667" dirty="0">
                <a:latin typeface="Bahnschrift SemiBold" panose="020B0502040204020203" pitchFamily="34" charset="0"/>
              </a:rPr>
              <a:t>Element </a:t>
            </a:r>
            <a:r>
              <a:rPr lang="en-US" sz="2667" dirty="0" err="1">
                <a:latin typeface="Bahnschrift SemiBold" panose="020B0502040204020203" pitchFamily="34" charset="0"/>
              </a:rPr>
              <a:t>caregories</a:t>
            </a:r>
            <a:r>
              <a:rPr lang="en-US" sz="2667" dirty="0">
                <a:latin typeface="Bahnschrift SemiBold" panose="020B0502040204020203" pitchFamily="34" charset="0"/>
              </a:rPr>
              <a:t> table</a:t>
            </a:r>
          </a:p>
        </p:txBody>
      </p:sp>
      <p:sp>
        <p:nvSpPr>
          <p:cNvPr id="34" name="TextBox 33">
            <a:extLst>
              <a:ext uri="{FF2B5EF4-FFF2-40B4-BE49-F238E27FC236}">
                <a16:creationId xmlns:a16="http://schemas.microsoft.com/office/drawing/2014/main" id="{BA7DA711-E1CD-456E-92EA-F63D7258F32D}"/>
              </a:ext>
            </a:extLst>
          </p:cNvPr>
          <p:cNvSpPr txBox="1"/>
          <p:nvPr/>
        </p:nvSpPr>
        <p:spPr>
          <a:xfrm>
            <a:off x="28042" y="2901960"/>
            <a:ext cx="2079969" cy="502766"/>
          </a:xfrm>
          <a:prstGeom prst="rect">
            <a:avLst/>
          </a:prstGeom>
          <a:noFill/>
        </p:spPr>
        <p:txBody>
          <a:bodyPr wrap="square" rtlCol="0">
            <a:spAutoFit/>
          </a:bodyPr>
          <a:lstStyle/>
          <a:p>
            <a:r>
              <a:rPr lang="en-US" sz="2667" dirty="0">
                <a:latin typeface="Bahnschrift SemiBold" panose="020B0502040204020203" pitchFamily="34" charset="0"/>
              </a:rPr>
              <a:t>Group table</a:t>
            </a:r>
          </a:p>
        </p:txBody>
      </p:sp>
      <p:sp>
        <p:nvSpPr>
          <p:cNvPr id="35" name="TextBox 34">
            <a:extLst>
              <a:ext uri="{FF2B5EF4-FFF2-40B4-BE49-F238E27FC236}">
                <a16:creationId xmlns:a16="http://schemas.microsoft.com/office/drawing/2014/main" id="{769D7F42-8BD3-4AF0-8137-786CBBF97B5B}"/>
              </a:ext>
            </a:extLst>
          </p:cNvPr>
          <p:cNvSpPr txBox="1"/>
          <p:nvPr/>
        </p:nvSpPr>
        <p:spPr>
          <a:xfrm>
            <a:off x="5606685" y="3838014"/>
            <a:ext cx="6432916" cy="1405256"/>
          </a:xfrm>
          <a:prstGeom prst="rect">
            <a:avLst/>
          </a:prstGeom>
          <a:noFill/>
        </p:spPr>
        <p:txBody>
          <a:bodyPr wrap="square" rtlCol="0">
            <a:spAutoFit/>
          </a:bodyPr>
          <a:lstStyle/>
          <a:p>
            <a:r>
              <a:rPr lang="en-US" sz="2133" dirty="0"/>
              <a:t>INSERT INTO Periods (</a:t>
            </a:r>
            <a:r>
              <a:rPr lang="en-US" sz="2133" dirty="0" err="1"/>
              <a:t>period_id</a:t>
            </a:r>
            <a:r>
              <a:rPr lang="en-US" sz="2133" dirty="0"/>
              <a:t>, </a:t>
            </a:r>
            <a:r>
              <a:rPr lang="en-US" sz="2133" dirty="0" err="1"/>
              <a:t>period_name</a:t>
            </a:r>
            <a:r>
              <a:rPr lang="en-US" sz="2133" dirty="0"/>
              <a:t>, description) VALUES(1, 'Period 1', 'Contains hydrogen and helium. Only 2 elements.'),(2, 'Period 2', 'Contains elements from lithium to neon. 8 elements.'),</a:t>
            </a:r>
          </a:p>
        </p:txBody>
      </p:sp>
      <p:sp>
        <p:nvSpPr>
          <p:cNvPr id="36" name="TextBox 35">
            <a:extLst>
              <a:ext uri="{FF2B5EF4-FFF2-40B4-BE49-F238E27FC236}">
                <a16:creationId xmlns:a16="http://schemas.microsoft.com/office/drawing/2014/main" id="{662C0320-8F39-421C-BB00-A46F392AF5E4}"/>
              </a:ext>
            </a:extLst>
          </p:cNvPr>
          <p:cNvSpPr txBox="1"/>
          <p:nvPr/>
        </p:nvSpPr>
        <p:spPr>
          <a:xfrm>
            <a:off x="5637309" y="3374242"/>
            <a:ext cx="2997200" cy="502766"/>
          </a:xfrm>
          <a:prstGeom prst="rect">
            <a:avLst/>
          </a:prstGeom>
          <a:noFill/>
        </p:spPr>
        <p:txBody>
          <a:bodyPr wrap="square" rtlCol="0">
            <a:spAutoFit/>
          </a:bodyPr>
          <a:lstStyle/>
          <a:p>
            <a:r>
              <a:rPr lang="en-US" sz="2667" dirty="0">
                <a:latin typeface="Bahnschrift SemiBold" panose="020B0502040204020203" pitchFamily="34" charset="0"/>
              </a:rPr>
              <a:t>Period table</a:t>
            </a:r>
          </a:p>
        </p:txBody>
      </p:sp>
      <p:sp>
        <p:nvSpPr>
          <p:cNvPr id="37" name="TextBox 36">
            <a:extLst>
              <a:ext uri="{FF2B5EF4-FFF2-40B4-BE49-F238E27FC236}">
                <a16:creationId xmlns:a16="http://schemas.microsoft.com/office/drawing/2014/main" id="{D994A23E-D94B-44B3-8FD0-E2F165D9D820}"/>
              </a:ext>
            </a:extLst>
          </p:cNvPr>
          <p:cNvSpPr txBox="1"/>
          <p:nvPr/>
        </p:nvSpPr>
        <p:spPr>
          <a:xfrm>
            <a:off x="-19493" y="3402268"/>
            <a:ext cx="5201094" cy="1405256"/>
          </a:xfrm>
          <a:prstGeom prst="rect">
            <a:avLst/>
          </a:prstGeom>
          <a:noFill/>
        </p:spPr>
        <p:txBody>
          <a:bodyPr wrap="square" rtlCol="0">
            <a:spAutoFit/>
          </a:bodyPr>
          <a:lstStyle/>
          <a:p>
            <a:r>
              <a:rPr lang="en-US" sz="2133" dirty="0"/>
              <a:t>INSERT INTO Groups_ (</a:t>
            </a:r>
            <a:r>
              <a:rPr lang="en-US" sz="2133" dirty="0" err="1"/>
              <a:t>group_id</a:t>
            </a:r>
            <a:r>
              <a:rPr lang="en-US" sz="2133" dirty="0"/>
              <a:t>, </a:t>
            </a:r>
            <a:r>
              <a:rPr lang="en-US" sz="2133" dirty="0" err="1"/>
              <a:t>group_name</a:t>
            </a:r>
            <a:r>
              <a:rPr lang="en-US" sz="2133" dirty="0"/>
              <a:t>, description) VALUES(1, 'Alkali Metals', 'Highly reactive metals with one valence electron. Form +1 ions.'),</a:t>
            </a:r>
          </a:p>
        </p:txBody>
      </p:sp>
      <p:sp>
        <p:nvSpPr>
          <p:cNvPr id="38" name="TextBox 37">
            <a:extLst>
              <a:ext uri="{FF2B5EF4-FFF2-40B4-BE49-F238E27FC236}">
                <a16:creationId xmlns:a16="http://schemas.microsoft.com/office/drawing/2014/main" id="{7303322D-D399-470B-AB61-7FBB3CD204D4}"/>
              </a:ext>
            </a:extLst>
          </p:cNvPr>
          <p:cNvSpPr txBox="1"/>
          <p:nvPr/>
        </p:nvSpPr>
        <p:spPr>
          <a:xfrm>
            <a:off x="98024" y="5433876"/>
            <a:ext cx="5555201" cy="1077026"/>
          </a:xfrm>
          <a:prstGeom prst="rect">
            <a:avLst/>
          </a:prstGeom>
          <a:noFill/>
        </p:spPr>
        <p:txBody>
          <a:bodyPr wrap="square" rtlCol="0">
            <a:spAutoFit/>
          </a:bodyPr>
          <a:lstStyle/>
          <a:p>
            <a:r>
              <a:rPr lang="en-US" sz="2133" dirty="0"/>
              <a:t>INSERT INTO Uses (</a:t>
            </a:r>
            <a:r>
              <a:rPr lang="en-US" sz="2133" dirty="0" err="1"/>
              <a:t>element_id</a:t>
            </a:r>
            <a:r>
              <a:rPr lang="en-US" sz="2133" dirty="0"/>
              <a:t>, application, details) VALUES-- Hydrogen (</a:t>
            </a:r>
            <a:r>
              <a:rPr lang="en-US" sz="2133" dirty="0" err="1"/>
              <a:t>element_id</a:t>
            </a:r>
            <a:r>
              <a:rPr lang="en-US" sz="2133" dirty="0"/>
              <a:t> = 1)(1, 'Fuel', 'Used as rocket fuel and in fuel cells.'),</a:t>
            </a:r>
          </a:p>
        </p:txBody>
      </p:sp>
      <p:sp>
        <p:nvSpPr>
          <p:cNvPr id="39" name="TextBox 38">
            <a:extLst>
              <a:ext uri="{FF2B5EF4-FFF2-40B4-BE49-F238E27FC236}">
                <a16:creationId xmlns:a16="http://schemas.microsoft.com/office/drawing/2014/main" id="{A563095C-942D-44CF-B448-3ECC24EE546B}"/>
              </a:ext>
            </a:extLst>
          </p:cNvPr>
          <p:cNvSpPr txBox="1"/>
          <p:nvPr/>
        </p:nvSpPr>
        <p:spPr>
          <a:xfrm>
            <a:off x="6776" y="4869477"/>
            <a:ext cx="4013200" cy="502766"/>
          </a:xfrm>
          <a:prstGeom prst="rect">
            <a:avLst/>
          </a:prstGeom>
          <a:noFill/>
        </p:spPr>
        <p:txBody>
          <a:bodyPr wrap="square" rtlCol="0">
            <a:spAutoFit/>
          </a:bodyPr>
          <a:lstStyle/>
          <a:p>
            <a:r>
              <a:rPr lang="en-US" sz="2667" dirty="0">
                <a:latin typeface="Bahnschrift SemiBold" panose="020B0502040204020203" pitchFamily="34" charset="0"/>
              </a:rPr>
              <a:t>Uses table</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3"/>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par>
                                <p:cTn id="17" presetID="47"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1000"/>
                                        <p:tgtEl>
                                          <p:spTgt spid="27"/>
                                        </p:tgtEl>
                                      </p:cBhvr>
                                    </p:animEffect>
                                    <p:anim calcmode="lin" valueType="num">
                                      <p:cBhvr>
                                        <p:cTn id="20" dur="1000" fill="hold"/>
                                        <p:tgtEl>
                                          <p:spTgt spid="27"/>
                                        </p:tgtEl>
                                        <p:attrNameLst>
                                          <p:attrName>ppt_x</p:attrName>
                                        </p:attrNameLst>
                                      </p:cBhvr>
                                      <p:tavLst>
                                        <p:tav tm="0">
                                          <p:val>
                                            <p:strVal val="#ppt_x"/>
                                          </p:val>
                                        </p:tav>
                                        <p:tav tm="100000">
                                          <p:val>
                                            <p:strVal val="#ppt_x"/>
                                          </p:val>
                                        </p:tav>
                                      </p:tavLst>
                                    </p:anim>
                                    <p:anim calcmode="lin" valueType="num">
                                      <p:cBhvr>
                                        <p:cTn id="21" dur="1000" fill="hold"/>
                                        <p:tgtEl>
                                          <p:spTgt spid="27"/>
                                        </p:tgtEl>
                                        <p:attrNameLst>
                                          <p:attrName>ppt_y</p:attrName>
                                        </p:attrNameLst>
                                      </p:cBhvr>
                                      <p:tavLst>
                                        <p:tav tm="0">
                                          <p:val>
                                            <p:strVal val="#ppt_y-.1"/>
                                          </p:val>
                                        </p:tav>
                                        <p:tav tm="100000">
                                          <p:val>
                                            <p:strVal val="#ppt_y"/>
                                          </p:val>
                                        </p:tav>
                                      </p:tavLst>
                                    </p:anim>
                                  </p:childTnLst>
                                </p:cTn>
                              </p:par>
                              <p:par>
                                <p:cTn id="22" presetID="47" presetClass="entr"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1000"/>
                                        <p:tgtEl>
                                          <p:spTgt spid="34"/>
                                        </p:tgtEl>
                                      </p:cBhvr>
                                    </p:animEffect>
                                    <p:anim calcmode="lin" valueType="num">
                                      <p:cBhvr>
                                        <p:cTn id="25" dur="1000" fill="hold"/>
                                        <p:tgtEl>
                                          <p:spTgt spid="34"/>
                                        </p:tgtEl>
                                        <p:attrNameLst>
                                          <p:attrName>ppt_x</p:attrName>
                                        </p:attrNameLst>
                                      </p:cBhvr>
                                      <p:tavLst>
                                        <p:tav tm="0">
                                          <p:val>
                                            <p:strVal val="#ppt_x"/>
                                          </p:val>
                                        </p:tav>
                                        <p:tav tm="100000">
                                          <p:val>
                                            <p:strVal val="#ppt_x"/>
                                          </p:val>
                                        </p:tav>
                                      </p:tavLst>
                                    </p:anim>
                                    <p:anim calcmode="lin" valueType="num">
                                      <p:cBhvr>
                                        <p:cTn id="26" dur="1000" fill="hold"/>
                                        <p:tgtEl>
                                          <p:spTgt spid="34"/>
                                        </p:tgtEl>
                                        <p:attrNameLst>
                                          <p:attrName>ppt_y</p:attrName>
                                        </p:attrNameLst>
                                      </p:cBhvr>
                                      <p:tavLst>
                                        <p:tav tm="0">
                                          <p:val>
                                            <p:strVal val="#ppt_y-.1"/>
                                          </p:val>
                                        </p:tav>
                                        <p:tav tm="100000">
                                          <p:val>
                                            <p:strVal val="#ppt_y"/>
                                          </p:val>
                                        </p:tav>
                                      </p:tavLst>
                                    </p:anim>
                                  </p:childTnLst>
                                </p:cTn>
                              </p:par>
                              <p:par>
                                <p:cTn id="27" presetID="47"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1000"/>
                                        <p:tgtEl>
                                          <p:spTgt spid="37"/>
                                        </p:tgtEl>
                                      </p:cBhvr>
                                    </p:animEffect>
                                    <p:anim calcmode="lin" valueType="num">
                                      <p:cBhvr>
                                        <p:cTn id="30" dur="1000" fill="hold"/>
                                        <p:tgtEl>
                                          <p:spTgt spid="37"/>
                                        </p:tgtEl>
                                        <p:attrNameLst>
                                          <p:attrName>ppt_x</p:attrName>
                                        </p:attrNameLst>
                                      </p:cBhvr>
                                      <p:tavLst>
                                        <p:tav tm="0">
                                          <p:val>
                                            <p:strVal val="#ppt_x"/>
                                          </p:val>
                                        </p:tav>
                                        <p:tav tm="100000">
                                          <p:val>
                                            <p:strVal val="#ppt_x"/>
                                          </p:val>
                                        </p:tav>
                                      </p:tavLst>
                                    </p:anim>
                                    <p:anim calcmode="lin" valueType="num">
                                      <p:cBhvr>
                                        <p:cTn id="31" dur="1000" fill="hold"/>
                                        <p:tgtEl>
                                          <p:spTgt spid="37"/>
                                        </p:tgtEl>
                                        <p:attrNameLst>
                                          <p:attrName>ppt_y</p:attrName>
                                        </p:attrNameLst>
                                      </p:cBhvr>
                                      <p:tavLst>
                                        <p:tav tm="0">
                                          <p:val>
                                            <p:strVal val="#ppt_y-.1"/>
                                          </p:val>
                                        </p:tav>
                                        <p:tav tm="100000">
                                          <p:val>
                                            <p:strVal val="#ppt_y"/>
                                          </p:val>
                                        </p:tav>
                                      </p:tavLst>
                                    </p:anim>
                                  </p:childTnLst>
                                </p:cTn>
                              </p:par>
                              <p:par>
                                <p:cTn id="32" presetID="47"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1000"/>
                                        <p:tgtEl>
                                          <p:spTgt spid="39"/>
                                        </p:tgtEl>
                                      </p:cBhvr>
                                    </p:animEffect>
                                    <p:anim calcmode="lin" valueType="num">
                                      <p:cBhvr>
                                        <p:cTn id="35" dur="1000" fill="hold"/>
                                        <p:tgtEl>
                                          <p:spTgt spid="39"/>
                                        </p:tgtEl>
                                        <p:attrNameLst>
                                          <p:attrName>ppt_x</p:attrName>
                                        </p:attrNameLst>
                                      </p:cBhvr>
                                      <p:tavLst>
                                        <p:tav tm="0">
                                          <p:val>
                                            <p:strVal val="#ppt_x"/>
                                          </p:val>
                                        </p:tav>
                                        <p:tav tm="100000">
                                          <p:val>
                                            <p:strVal val="#ppt_x"/>
                                          </p:val>
                                        </p:tav>
                                      </p:tavLst>
                                    </p:anim>
                                    <p:anim calcmode="lin" valueType="num">
                                      <p:cBhvr>
                                        <p:cTn id="36" dur="1000" fill="hold"/>
                                        <p:tgtEl>
                                          <p:spTgt spid="39"/>
                                        </p:tgtEl>
                                        <p:attrNameLst>
                                          <p:attrName>ppt_y</p:attrName>
                                        </p:attrNameLst>
                                      </p:cBhvr>
                                      <p:tavLst>
                                        <p:tav tm="0">
                                          <p:val>
                                            <p:strVal val="#ppt_y-.1"/>
                                          </p:val>
                                        </p:tav>
                                        <p:tav tm="100000">
                                          <p:val>
                                            <p:strVal val="#ppt_y"/>
                                          </p:val>
                                        </p:tav>
                                      </p:tavLst>
                                    </p:anim>
                                  </p:childTnLst>
                                </p:cTn>
                              </p:par>
                              <p:par>
                                <p:cTn id="37" presetID="47"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1000"/>
                                        <p:tgtEl>
                                          <p:spTgt spid="38"/>
                                        </p:tgtEl>
                                      </p:cBhvr>
                                    </p:animEffect>
                                    <p:anim calcmode="lin" valueType="num">
                                      <p:cBhvr>
                                        <p:cTn id="40" dur="1000" fill="hold"/>
                                        <p:tgtEl>
                                          <p:spTgt spid="38"/>
                                        </p:tgtEl>
                                        <p:attrNameLst>
                                          <p:attrName>ppt_x</p:attrName>
                                        </p:attrNameLst>
                                      </p:cBhvr>
                                      <p:tavLst>
                                        <p:tav tm="0">
                                          <p:val>
                                            <p:strVal val="#ppt_x"/>
                                          </p:val>
                                        </p:tav>
                                        <p:tav tm="100000">
                                          <p:val>
                                            <p:strVal val="#ppt_x"/>
                                          </p:val>
                                        </p:tav>
                                      </p:tavLst>
                                    </p:anim>
                                    <p:anim calcmode="lin" valueType="num">
                                      <p:cBhvr>
                                        <p:cTn id="41"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7" presetClass="entr" presetSubtype="0"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1000"/>
                                        <p:tgtEl>
                                          <p:spTgt spid="32"/>
                                        </p:tgtEl>
                                      </p:cBhvr>
                                    </p:animEffect>
                                    <p:anim calcmode="lin" valueType="num">
                                      <p:cBhvr>
                                        <p:cTn id="47" dur="1000" fill="hold"/>
                                        <p:tgtEl>
                                          <p:spTgt spid="32"/>
                                        </p:tgtEl>
                                        <p:attrNameLst>
                                          <p:attrName>ppt_x</p:attrName>
                                        </p:attrNameLst>
                                      </p:cBhvr>
                                      <p:tavLst>
                                        <p:tav tm="0">
                                          <p:val>
                                            <p:strVal val="#ppt_x"/>
                                          </p:val>
                                        </p:tav>
                                        <p:tav tm="100000">
                                          <p:val>
                                            <p:strVal val="#ppt_x"/>
                                          </p:val>
                                        </p:tav>
                                      </p:tavLst>
                                    </p:anim>
                                    <p:anim calcmode="lin" valueType="num">
                                      <p:cBhvr>
                                        <p:cTn id="48" dur="1000" fill="hold"/>
                                        <p:tgtEl>
                                          <p:spTgt spid="32"/>
                                        </p:tgtEl>
                                        <p:attrNameLst>
                                          <p:attrName>ppt_y</p:attrName>
                                        </p:attrNameLst>
                                      </p:cBhvr>
                                      <p:tavLst>
                                        <p:tav tm="0">
                                          <p:val>
                                            <p:strVal val="#ppt_y-.1"/>
                                          </p:val>
                                        </p:tav>
                                        <p:tav tm="100000">
                                          <p:val>
                                            <p:strVal val="#ppt_y"/>
                                          </p:val>
                                        </p:tav>
                                      </p:tavLst>
                                    </p:anim>
                                  </p:childTnLst>
                                </p:cTn>
                              </p:par>
                              <p:par>
                                <p:cTn id="49" presetID="47"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1000"/>
                                        <p:tgtEl>
                                          <p:spTgt spid="31"/>
                                        </p:tgtEl>
                                      </p:cBhvr>
                                    </p:animEffect>
                                    <p:anim calcmode="lin" valueType="num">
                                      <p:cBhvr>
                                        <p:cTn id="52" dur="1000" fill="hold"/>
                                        <p:tgtEl>
                                          <p:spTgt spid="31"/>
                                        </p:tgtEl>
                                        <p:attrNameLst>
                                          <p:attrName>ppt_x</p:attrName>
                                        </p:attrNameLst>
                                      </p:cBhvr>
                                      <p:tavLst>
                                        <p:tav tm="0">
                                          <p:val>
                                            <p:strVal val="#ppt_x"/>
                                          </p:val>
                                        </p:tav>
                                        <p:tav tm="100000">
                                          <p:val>
                                            <p:strVal val="#ppt_x"/>
                                          </p:val>
                                        </p:tav>
                                      </p:tavLst>
                                    </p:anim>
                                    <p:anim calcmode="lin" valueType="num">
                                      <p:cBhvr>
                                        <p:cTn id="53" dur="1000" fill="hold"/>
                                        <p:tgtEl>
                                          <p:spTgt spid="31"/>
                                        </p:tgtEl>
                                        <p:attrNameLst>
                                          <p:attrName>ppt_y</p:attrName>
                                        </p:attrNameLst>
                                      </p:cBhvr>
                                      <p:tavLst>
                                        <p:tav tm="0">
                                          <p:val>
                                            <p:strVal val="#ppt_y-.1"/>
                                          </p:val>
                                        </p:tav>
                                        <p:tav tm="100000">
                                          <p:val>
                                            <p:strVal val="#ppt_y"/>
                                          </p:val>
                                        </p:tav>
                                      </p:tavLst>
                                    </p:anim>
                                  </p:childTnLst>
                                </p:cTn>
                              </p:par>
                              <p:par>
                                <p:cTn id="54" presetID="47" presetClass="entr" presetSubtype="0"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1000"/>
                                        <p:tgtEl>
                                          <p:spTgt spid="36"/>
                                        </p:tgtEl>
                                      </p:cBhvr>
                                    </p:animEffect>
                                    <p:anim calcmode="lin" valueType="num">
                                      <p:cBhvr>
                                        <p:cTn id="57" dur="1000" fill="hold"/>
                                        <p:tgtEl>
                                          <p:spTgt spid="36"/>
                                        </p:tgtEl>
                                        <p:attrNameLst>
                                          <p:attrName>ppt_x</p:attrName>
                                        </p:attrNameLst>
                                      </p:cBhvr>
                                      <p:tavLst>
                                        <p:tav tm="0">
                                          <p:val>
                                            <p:strVal val="#ppt_x"/>
                                          </p:val>
                                        </p:tav>
                                        <p:tav tm="100000">
                                          <p:val>
                                            <p:strVal val="#ppt_x"/>
                                          </p:val>
                                        </p:tav>
                                      </p:tavLst>
                                    </p:anim>
                                    <p:anim calcmode="lin" valueType="num">
                                      <p:cBhvr>
                                        <p:cTn id="58" dur="1000" fill="hold"/>
                                        <p:tgtEl>
                                          <p:spTgt spid="36"/>
                                        </p:tgtEl>
                                        <p:attrNameLst>
                                          <p:attrName>ppt_y</p:attrName>
                                        </p:attrNameLst>
                                      </p:cBhvr>
                                      <p:tavLst>
                                        <p:tav tm="0">
                                          <p:val>
                                            <p:strVal val="#ppt_y-.1"/>
                                          </p:val>
                                        </p:tav>
                                        <p:tav tm="100000">
                                          <p:val>
                                            <p:strVal val="#ppt_y"/>
                                          </p:val>
                                        </p:tav>
                                      </p:tavLst>
                                    </p:anim>
                                  </p:childTnLst>
                                </p:cTn>
                              </p:par>
                              <p:par>
                                <p:cTn id="59" presetID="47" presetClass="entr"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1000"/>
                                        <p:tgtEl>
                                          <p:spTgt spid="35"/>
                                        </p:tgtEl>
                                      </p:cBhvr>
                                    </p:animEffect>
                                    <p:anim calcmode="lin" valueType="num">
                                      <p:cBhvr>
                                        <p:cTn id="62" dur="1000" fill="hold"/>
                                        <p:tgtEl>
                                          <p:spTgt spid="35"/>
                                        </p:tgtEl>
                                        <p:attrNameLst>
                                          <p:attrName>ppt_x</p:attrName>
                                        </p:attrNameLst>
                                      </p:cBhvr>
                                      <p:tavLst>
                                        <p:tav tm="0">
                                          <p:val>
                                            <p:strVal val="#ppt_x"/>
                                          </p:val>
                                        </p:tav>
                                        <p:tav tm="100000">
                                          <p:val>
                                            <p:strVal val="#ppt_x"/>
                                          </p:val>
                                        </p:tav>
                                      </p:tavLst>
                                    </p:anim>
                                    <p:anim calcmode="lin" valueType="num">
                                      <p:cBhvr>
                                        <p:cTn id="63"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7" grpId="0"/>
      <p:bldP spid="28" grpId="0"/>
      <p:bldP spid="31" grpId="0"/>
      <p:bldP spid="32" grpId="0"/>
      <p:bldP spid="34" grpId="0"/>
      <p:bldP spid="35" grpId="0"/>
      <p:bldP spid="36" grpId="0"/>
      <p:bldP spid="37" grpId="0"/>
      <p:bldP spid="38" grpId="0"/>
      <p:bldP spid="3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88769" y="4135"/>
            <a:ext cx="4267200" cy="6853865"/>
            <a:chOff x="0" y="0"/>
            <a:chExt cx="1218726" cy="2709333"/>
          </a:xfrm>
        </p:grpSpPr>
        <p:sp>
          <p:nvSpPr>
            <p:cNvPr id="3" name="Freeform 3"/>
            <p:cNvSpPr/>
            <p:nvPr/>
          </p:nvSpPr>
          <p:spPr>
            <a:xfrm>
              <a:off x="0" y="0"/>
              <a:ext cx="1218726" cy="2709333"/>
            </a:xfrm>
            <a:custGeom>
              <a:avLst/>
              <a:gdLst/>
              <a:ahLst/>
              <a:cxnLst/>
              <a:rect l="l" t="t" r="r" b="b"/>
              <a:pathLst>
                <a:path w="1218726" h="2709333">
                  <a:moveTo>
                    <a:pt x="0" y="0"/>
                  </a:moveTo>
                  <a:lnTo>
                    <a:pt x="1218726" y="0"/>
                  </a:lnTo>
                  <a:lnTo>
                    <a:pt x="1218726" y="2709333"/>
                  </a:lnTo>
                  <a:lnTo>
                    <a:pt x="0" y="2709333"/>
                  </a:lnTo>
                  <a:close/>
                </a:path>
              </a:pathLst>
            </a:custGeom>
            <a:solidFill>
              <a:schemeClr val="bg2"/>
            </a:solidFill>
          </p:spPr>
        </p:sp>
        <p:sp>
          <p:nvSpPr>
            <p:cNvPr id="4" name="TextBox 4"/>
            <p:cNvSpPr txBox="1"/>
            <p:nvPr/>
          </p:nvSpPr>
          <p:spPr>
            <a:xfrm>
              <a:off x="0" y="-123825"/>
              <a:ext cx="1218726" cy="2833158"/>
            </a:xfrm>
            <a:prstGeom prst="rect">
              <a:avLst/>
            </a:prstGeom>
          </p:spPr>
          <p:txBody>
            <a:bodyPr lIns="33867" tIns="33867" rIns="33867" bIns="33867" rtlCol="0" anchor="ctr"/>
            <a:lstStyle/>
            <a:p>
              <a:pPr algn="ctr">
                <a:lnSpc>
                  <a:spcPts val="2719"/>
                </a:lnSpc>
              </a:pPr>
              <a:endParaRPr sz="1200"/>
            </a:p>
          </p:txBody>
        </p:sp>
      </p:grpSp>
      <p:sp>
        <p:nvSpPr>
          <p:cNvPr id="7" name="TextBox 7"/>
          <p:cNvSpPr txBox="1"/>
          <p:nvPr/>
        </p:nvSpPr>
        <p:spPr>
          <a:xfrm>
            <a:off x="685801" y="399806"/>
            <a:ext cx="4938231" cy="701667"/>
          </a:xfrm>
          <a:prstGeom prst="rect">
            <a:avLst/>
          </a:prstGeom>
        </p:spPr>
        <p:txBody>
          <a:bodyPr wrap="square" lIns="0" tIns="0" rIns="0" bIns="0" rtlCol="0" anchor="t">
            <a:spAutoFit/>
          </a:bodyPr>
          <a:lstStyle/>
          <a:p>
            <a:pPr>
              <a:lnSpc>
                <a:spcPts val="5973"/>
              </a:lnSpc>
              <a:spcBef>
                <a:spcPct val="0"/>
              </a:spcBef>
            </a:pPr>
            <a:r>
              <a:rPr lang="en-US" sz="4266" b="1" i="1" dirty="0">
                <a:solidFill>
                  <a:srgbClr val="0F4662"/>
                </a:solidFill>
                <a:latin typeface="Cormorant Garamond Bold Italics"/>
                <a:ea typeface="Cormorant Garamond Bold Italics"/>
                <a:cs typeface="Cormorant Garamond Bold Italics"/>
                <a:sym typeface="Cormorant Garamond Bold Italics"/>
              </a:rPr>
              <a:t>Sample   queries</a:t>
            </a:r>
          </a:p>
        </p:txBody>
      </p:sp>
      <p:sp>
        <p:nvSpPr>
          <p:cNvPr id="14" name="TextBox 13">
            <a:extLst>
              <a:ext uri="{FF2B5EF4-FFF2-40B4-BE49-F238E27FC236}">
                <a16:creationId xmlns:a16="http://schemas.microsoft.com/office/drawing/2014/main" id="{FBE6C7C3-2A23-49EA-B6EC-DAD377836434}"/>
              </a:ext>
            </a:extLst>
          </p:cNvPr>
          <p:cNvSpPr txBox="1"/>
          <p:nvPr/>
        </p:nvSpPr>
        <p:spPr>
          <a:xfrm>
            <a:off x="606600" y="1501825"/>
            <a:ext cx="5105400" cy="2144498"/>
          </a:xfrm>
          <a:prstGeom prst="rect">
            <a:avLst/>
          </a:prstGeom>
          <a:noFill/>
        </p:spPr>
        <p:txBody>
          <a:bodyPr wrap="square" rtlCol="0">
            <a:spAutoFit/>
          </a:bodyPr>
          <a:lstStyle/>
          <a:p>
            <a:r>
              <a:rPr lang="en-US" sz="2667" dirty="0"/>
              <a:t>&gt;SELECT * FROM elements ; </a:t>
            </a:r>
          </a:p>
          <a:p>
            <a:r>
              <a:rPr lang="en-US" sz="2667" dirty="0"/>
              <a:t>&gt;select * from </a:t>
            </a:r>
            <a:r>
              <a:rPr lang="en-US" sz="2667" dirty="0" err="1"/>
              <a:t>element_categories</a:t>
            </a:r>
            <a:r>
              <a:rPr lang="en-US" sz="2667" dirty="0"/>
              <a:t>;</a:t>
            </a:r>
          </a:p>
          <a:p>
            <a:r>
              <a:rPr lang="en-US" sz="2667" dirty="0"/>
              <a:t>&gt;select * from periods; </a:t>
            </a:r>
          </a:p>
          <a:p>
            <a:r>
              <a:rPr lang="en-US" sz="2667" dirty="0"/>
              <a:t>&gt;select * from isotopes;</a:t>
            </a:r>
          </a:p>
          <a:p>
            <a:r>
              <a:rPr lang="en-US" sz="2667" dirty="0"/>
              <a:t> &gt;select * from uses;</a:t>
            </a:r>
          </a:p>
        </p:txBody>
      </p:sp>
      <p:sp>
        <p:nvSpPr>
          <p:cNvPr id="15" name="TextBox 14">
            <a:extLst>
              <a:ext uri="{FF2B5EF4-FFF2-40B4-BE49-F238E27FC236}">
                <a16:creationId xmlns:a16="http://schemas.microsoft.com/office/drawing/2014/main" id="{F78B4759-D51F-44B1-84BF-A10FB850AE30}"/>
              </a:ext>
            </a:extLst>
          </p:cNvPr>
          <p:cNvSpPr txBox="1"/>
          <p:nvPr/>
        </p:nvSpPr>
        <p:spPr>
          <a:xfrm>
            <a:off x="6567969" y="1743715"/>
            <a:ext cx="5588000" cy="3232039"/>
          </a:xfrm>
          <a:prstGeom prst="rect">
            <a:avLst/>
          </a:prstGeom>
          <a:noFill/>
        </p:spPr>
        <p:txBody>
          <a:bodyPr wrap="square" rtlCol="0">
            <a:spAutoFit/>
          </a:bodyPr>
          <a:lstStyle/>
          <a:p>
            <a:r>
              <a:rPr lang="en-US" sz="4400" dirty="0">
                <a:latin typeface="Bahnschrift SemiBold" panose="020B0502040204020203" pitchFamily="34" charset="0"/>
              </a:rPr>
              <a:t>-- Noble gas</a:t>
            </a:r>
          </a:p>
          <a:p>
            <a:r>
              <a:rPr lang="en-US" sz="2667" dirty="0"/>
              <a:t>SELECT e.name, </a:t>
            </a:r>
            <a:r>
              <a:rPr lang="en-US" sz="2667" dirty="0" err="1"/>
              <a:t>e.symbol</a:t>
            </a:r>
            <a:r>
              <a:rPr lang="en-US" sz="2667" dirty="0"/>
              <a:t>, </a:t>
            </a:r>
            <a:r>
              <a:rPr lang="en-US" sz="2667" dirty="0" err="1"/>
              <a:t>ec.category_name</a:t>
            </a:r>
            <a:endParaRPr lang="en-US" sz="2667" dirty="0"/>
          </a:p>
          <a:p>
            <a:r>
              <a:rPr lang="en-US" sz="2667" dirty="0"/>
              <a:t>FROM elements </a:t>
            </a:r>
            <a:r>
              <a:rPr lang="en-US" sz="2667" dirty="0" err="1"/>
              <a:t>eJOIN</a:t>
            </a:r>
            <a:r>
              <a:rPr lang="en-US" sz="2667" dirty="0"/>
              <a:t> </a:t>
            </a:r>
            <a:r>
              <a:rPr lang="en-US" sz="2667" dirty="0" err="1"/>
              <a:t>element_categories</a:t>
            </a:r>
            <a:r>
              <a:rPr lang="en-US" sz="2667" dirty="0"/>
              <a:t> </a:t>
            </a:r>
            <a:r>
              <a:rPr lang="en-US" sz="2667" dirty="0" err="1"/>
              <a:t>ec</a:t>
            </a:r>
            <a:r>
              <a:rPr lang="en-US" sz="2667" dirty="0"/>
              <a:t> ON </a:t>
            </a:r>
            <a:r>
              <a:rPr lang="en-US" sz="2667" dirty="0" err="1"/>
              <a:t>e.category_id</a:t>
            </a:r>
            <a:r>
              <a:rPr lang="en-US" sz="2667" dirty="0"/>
              <a:t> = </a:t>
            </a:r>
            <a:r>
              <a:rPr lang="en-US" sz="2667" dirty="0" err="1"/>
              <a:t>ec.category_idWHERE</a:t>
            </a:r>
            <a:r>
              <a:rPr lang="en-US" sz="2667" dirty="0"/>
              <a:t> </a:t>
            </a:r>
            <a:r>
              <a:rPr lang="en-US" sz="2667" dirty="0" err="1"/>
              <a:t>ec.category_name</a:t>
            </a:r>
            <a:r>
              <a:rPr lang="en-US" sz="2667" dirty="0"/>
              <a:t> = 'Noble Gas';</a:t>
            </a:r>
          </a:p>
        </p:txBody>
      </p:sp>
      <p:grpSp>
        <p:nvGrpSpPr>
          <p:cNvPr id="22" name="Group 11">
            <a:extLst>
              <a:ext uri="{FF2B5EF4-FFF2-40B4-BE49-F238E27FC236}">
                <a16:creationId xmlns:a16="http://schemas.microsoft.com/office/drawing/2014/main" id="{AF383359-CD3A-4E45-B55F-E68F05C28185}"/>
              </a:ext>
            </a:extLst>
          </p:cNvPr>
          <p:cNvGrpSpPr/>
          <p:nvPr/>
        </p:nvGrpSpPr>
        <p:grpSpPr>
          <a:xfrm>
            <a:off x="93795" y="1220179"/>
            <a:ext cx="540615" cy="540615"/>
            <a:chOff x="0" y="0"/>
            <a:chExt cx="812800" cy="812800"/>
          </a:xfrm>
        </p:grpSpPr>
        <p:sp>
          <p:nvSpPr>
            <p:cNvPr id="23" name="Freeform 12">
              <a:extLst>
                <a:ext uri="{FF2B5EF4-FFF2-40B4-BE49-F238E27FC236}">
                  <a16:creationId xmlns:a16="http://schemas.microsoft.com/office/drawing/2014/main" id="{A279CD7C-2859-4C89-B24C-11A183D027D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lumMod val="40000"/>
                <a:lumOff val="60000"/>
              </a:schemeClr>
            </a:solidFill>
          </p:spPr>
        </p:sp>
        <p:sp>
          <p:nvSpPr>
            <p:cNvPr id="24" name="TextBox 13">
              <a:extLst>
                <a:ext uri="{FF2B5EF4-FFF2-40B4-BE49-F238E27FC236}">
                  <a16:creationId xmlns:a16="http://schemas.microsoft.com/office/drawing/2014/main" id="{8F7F73D8-EC52-4B7C-A520-078E9E0A0A19}"/>
                </a:ext>
              </a:extLst>
            </p:cNvPr>
            <p:cNvSpPr txBox="1"/>
            <p:nvPr/>
          </p:nvSpPr>
          <p:spPr>
            <a:xfrm>
              <a:off x="76200" y="-47625"/>
              <a:ext cx="660400" cy="784225"/>
            </a:xfrm>
            <a:prstGeom prst="rect">
              <a:avLst/>
            </a:prstGeom>
          </p:spPr>
          <p:txBody>
            <a:bodyPr lIns="33867" tIns="33867" rIns="33867" bIns="33867" rtlCol="0" anchor="ctr"/>
            <a:lstStyle/>
            <a:p>
              <a:pPr algn="ctr">
                <a:lnSpc>
                  <a:spcPts val="2719"/>
                </a:lnSpc>
              </a:pPr>
              <a:endParaRPr sz="1200"/>
            </a:p>
          </p:txBody>
        </p:sp>
      </p:grpSp>
      <p:grpSp>
        <p:nvGrpSpPr>
          <p:cNvPr id="28" name="Group 11">
            <a:extLst>
              <a:ext uri="{FF2B5EF4-FFF2-40B4-BE49-F238E27FC236}">
                <a16:creationId xmlns:a16="http://schemas.microsoft.com/office/drawing/2014/main" id="{15CE1218-7F13-4554-AA35-8FE235EE8669}"/>
              </a:ext>
            </a:extLst>
          </p:cNvPr>
          <p:cNvGrpSpPr/>
          <p:nvPr/>
        </p:nvGrpSpPr>
        <p:grpSpPr>
          <a:xfrm>
            <a:off x="9867864" y="76670"/>
            <a:ext cx="804022" cy="1045414"/>
            <a:chOff x="-106632" y="-47625"/>
            <a:chExt cx="843232" cy="1004249"/>
          </a:xfrm>
        </p:grpSpPr>
        <p:sp>
          <p:nvSpPr>
            <p:cNvPr id="29" name="Freeform 12">
              <a:extLst>
                <a:ext uri="{FF2B5EF4-FFF2-40B4-BE49-F238E27FC236}">
                  <a16:creationId xmlns:a16="http://schemas.microsoft.com/office/drawing/2014/main" id="{3C4CC8E2-16E8-47C1-A5EF-49C8884EF105}"/>
                </a:ext>
              </a:extLst>
            </p:cNvPr>
            <p:cNvSpPr/>
            <p:nvPr/>
          </p:nvSpPr>
          <p:spPr>
            <a:xfrm>
              <a:off x="-106632" y="143824"/>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lumMod val="60000"/>
                <a:lumOff val="40000"/>
              </a:schemeClr>
            </a:solidFill>
          </p:spPr>
        </p:sp>
        <p:sp>
          <p:nvSpPr>
            <p:cNvPr id="30" name="TextBox 13">
              <a:extLst>
                <a:ext uri="{FF2B5EF4-FFF2-40B4-BE49-F238E27FC236}">
                  <a16:creationId xmlns:a16="http://schemas.microsoft.com/office/drawing/2014/main" id="{BC65C1E5-76F3-40FD-9350-C058FA051548}"/>
                </a:ext>
              </a:extLst>
            </p:cNvPr>
            <p:cNvSpPr txBox="1"/>
            <p:nvPr/>
          </p:nvSpPr>
          <p:spPr>
            <a:xfrm>
              <a:off x="76200" y="-47625"/>
              <a:ext cx="660400" cy="784225"/>
            </a:xfrm>
            <a:prstGeom prst="rect">
              <a:avLst/>
            </a:prstGeom>
          </p:spPr>
          <p:txBody>
            <a:bodyPr lIns="33867" tIns="33867" rIns="33867" bIns="33867" rtlCol="0" anchor="ctr"/>
            <a:lstStyle/>
            <a:p>
              <a:pPr algn="ctr">
                <a:lnSpc>
                  <a:spcPts val="2719"/>
                </a:lnSpc>
              </a:pPr>
              <a:endParaRPr sz="1200"/>
            </a:p>
          </p:txBody>
        </p:sp>
      </p:grpSp>
      <p:sp>
        <p:nvSpPr>
          <p:cNvPr id="37" name="Flowchart: Connector 36">
            <a:extLst>
              <a:ext uri="{FF2B5EF4-FFF2-40B4-BE49-F238E27FC236}">
                <a16:creationId xmlns:a16="http://schemas.microsoft.com/office/drawing/2014/main" id="{9B66083D-5FC1-496C-B714-C697E9E4874D}"/>
              </a:ext>
            </a:extLst>
          </p:cNvPr>
          <p:cNvSpPr/>
          <p:nvPr/>
        </p:nvSpPr>
        <p:spPr>
          <a:xfrm>
            <a:off x="2572995" y="5882858"/>
            <a:ext cx="736600" cy="790157"/>
          </a:xfrm>
          <a:prstGeom prst="flowChartConnector">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8" name="Flowchart: Connector 37">
            <a:extLst>
              <a:ext uri="{FF2B5EF4-FFF2-40B4-BE49-F238E27FC236}">
                <a16:creationId xmlns:a16="http://schemas.microsoft.com/office/drawing/2014/main" id="{7932A6A6-2D4A-4F52-8FB0-68D7C898CCAF}"/>
              </a:ext>
            </a:extLst>
          </p:cNvPr>
          <p:cNvSpPr/>
          <p:nvPr/>
        </p:nvSpPr>
        <p:spPr>
          <a:xfrm>
            <a:off x="863600" y="5295700"/>
            <a:ext cx="406400" cy="441621"/>
          </a:xfrm>
          <a:prstGeom prst="flowChartConnector">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9" name="Flowchart: Connector 38">
            <a:extLst>
              <a:ext uri="{FF2B5EF4-FFF2-40B4-BE49-F238E27FC236}">
                <a16:creationId xmlns:a16="http://schemas.microsoft.com/office/drawing/2014/main" id="{FA4216C1-945D-41F3-888F-26B8A936A79D}"/>
              </a:ext>
            </a:extLst>
          </p:cNvPr>
          <p:cNvSpPr/>
          <p:nvPr/>
        </p:nvSpPr>
        <p:spPr>
          <a:xfrm>
            <a:off x="10922000" y="1456111"/>
            <a:ext cx="575733" cy="508000"/>
          </a:xfrm>
          <a:prstGeom prst="flowChartConnector">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0" name="Flowchart: Connector 39">
            <a:extLst>
              <a:ext uri="{FF2B5EF4-FFF2-40B4-BE49-F238E27FC236}">
                <a16:creationId xmlns:a16="http://schemas.microsoft.com/office/drawing/2014/main" id="{48ADBAB9-5BD5-4953-8559-41096AB25DE6}"/>
              </a:ext>
            </a:extLst>
          </p:cNvPr>
          <p:cNvSpPr/>
          <p:nvPr/>
        </p:nvSpPr>
        <p:spPr>
          <a:xfrm>
            <a:off x="10042194" y="5295700"/>
            <a:ext cx="371806" cy="441621"/>
          </a:xfrm>
          <a:prstGeom prst="flowChartConnector">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 name="TextBox 7">
            <a:extLst>
              <a:ext uri="{FF2B5EF4-FFF2-40B4-BE49-F238E27FC236}">
                <a16:creationId xmlns:a16="http://schemas.microsoft.com/office/drawing/2014/main" id="{20FF0951-4E70-4606-9FAD-32294E297874}"/>
              </a:ext>
            </a:extLst>
          </p:cNvPr>
          <p:cNvSpPr txBox="1"/>
          <p:nvPr/>
        </p:nvSpPr>
        <p:spPr>
          <a:xfrm>
            <a:off x="685801" y="3823099"/>
            <a:ext cx="5859296" cy="1754326"/>
          </a:xfrm>
          <a:prstGeom prst="rect">
            <a:avLst/>
          </a:prstGeom>
          <a:noFill/>
        </p:spPr>
        <p:txBody>
          <a:bodyPr wrap="none" rtlCol="0">
            <a:spAutoFit/>
          </a:bodyPr>
          <a:lstStyle/>
          <a:p>
            <a:r>
              <a:rPr lang="en-US" sz="2800" dirty="0"/>
              <a:t>---</a:t>
            </a:r>
            <a:r>
              <a:rPr lang="en-US" sz="2800" dirty="0" err="1"/>
              <a:t>AtomicNumber</a:t>
            </a:r>
            <a:endParaRPr lang="en-US" sz="2800" dirty="0"/>
          </a:p>
          <a:p>
            <a:r>
              <a:rPr lang="en-US" sz="2000" dirty="0"/>
              <a:t>SELECT </a:t>
            </a:r>
            <a:r>
              <a:rPr lang="en-US" sz="2000" dirty="0" err="1"/>
              <a:t>name,symbol,Atomic_number,state_at_stp</a:t>
            </a:r>
            <a:endParaRPr lang="en-US" sz="2000" dirty="0"/>
          </a:p>
          <a:p>
            <a:r>
              <a:rPr lang="en-US" sz="2000" dirty="0"/>
              <a:t>FROM elements</a:t>
            </a:r>
          </a:p>
          <a:p>
            <a:r>
              <a:rPr lang="en-US" sz="2000" dirty="0"/>
              <a:t>WHERE </a:t>
            </a:r>
            <a:r>
              <a:rPr lang="en-US" sz="2000" dirty="0" err="1"/>
              <a:t>atomic_number</a:t>
            </a:r>
            <a:r>
              <a:rPr lang="en-US" sz="2000" dirty="0"/>
              <a:t>&lt;=50 AND </a:t>
            </a:r>
            <a:r>
              <a:rPr lang="en-US" sz="2000" dirty="0" err="1"/>
              <a:t>state_at_stp</a:t>
            </a:r>
            <a:r>
              <a:rPr lang="en-US" sz="2000" dirty="0"/>
              <a:t>=‘Solid’</a:t>
            </a:r>
          </a:p>
          <a:p>
            <a:r>
              <a:rPr lang="en-US" sz="2000" dirty="0"/>
              <a:t>ORDER BY </a:t>
            </a:r>
            <a:r>
              <a:rPr lang="en-US" sz="2000" dirty="0" err="1"/>
              <a:t>atomic_number</a:t>
            </a:r>
            <a:r>
              <a:rPr lang="en-US" sz="2000" dirty="0"/>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randombar(horizontal)">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randombar(horizontal)">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randombar(horizontal)">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5"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5503" y="705123"/>
            <a:ext cx="5328289" cy="2778371"/>
            <a:chOff x="0" y="0"/>
            <a:chExt cx="1979031" cy="1667226"/>
          </a:xfrm>
          <a:effectLst>
            <a:outerShdw blurRad="50800" dist="38100" dir="16200000" rotWithShape="0">
              <a:prstClr val="black">
                <a:alpha val="40000"/>
              </a:prstClr>
            </a:outerShdw>
          </a:effectLst>
        </p:grpSpPr>
        <p:sp>
          <p:nvSpPr>
            <p:cNvPr id="3" name="Freeform 3"/>
            <p:cNvSpPr/>
            <p:nvPr/>
          </p:nvSpPr>
          <p:spPr>
            <a:xfrm>
              <a:off x="0" y="0"/>
              <a:ext cx="1979031" cy="1667227"/>
            </a:xfrm>
            <a:custGeom>
              <a:avLst/>
              <a:gdLst/>
              <a:ahLst/>
              <a:cxnLst/>
              <a:rect l="l" t="t" r="r" b="b"/>
              <a:pathLst>
                <a:path w="1979031" h="1667227">
                  <a:moveTo>
                    <a:pt x="52546" y="0"/>
                  </a:moveTo>
                  <a:lnTo>
                    <a:pt x="1926485" y="0"/>
                  </a:lnTo>
                  <a:cubicBezTo>
                    <a:pt x="1955505" y="0"/>
                    <a:pt x="1979031" y="23526"/>
                    <a:pt x="1979031" y="52546"/>
                  </a:cubicBezTo>
                  <a:lnTo>
                    <a:pt x="1979031" y="1614681"/>
                  </a:lnTo>
                  <a:cubicBezTo>
                    <a:pt x="1979031" y="1628617"/>
                    <a:pt x="1973495" y="1641982"/>
                    <a:pt x="1963641" y="1651836"/>
                  </a:cubicBezTo>
                  <a:cubicBezTo>
                    <a:pt x="1953786" y="1661690"/>
                    <a:pt x="1940421" y="1667227"/>
                    <a:pt x="1926485" y="1667227"/>
                  </a:cubicBezTo>
                  <a:lnTo>
                    <a:pt x="52546" y="1667227"/>
                  </a:lnTo>
                  <a:cubicBezTo>
                    <a:pt x="38610" y="1667227"/>
                    <a:pt x="25245" y="1661690"/>
                    <a:pt x="15390" y="1651836"/>
                  </a:cubicBezTo>
                  <a:cubicBezTo>
                    <a:pt x="5536" y="1641982"/>
                    <a:pt x="0" y="1628617"/>
                    <a:pt x="0" y="1614681"/>
                  </a:cubicBezTo>
                  <a:lnTo>
                    <a:pt x="0" y="52546"/>
                  </a:lnTo>
                  <a:cubicBezTo>
                    <a:pt x="0" y="23526"/>
                    <a:pt x="23526" y="0"/>
                    <a:pt x="52546" y="0"/>
                  </a:cubicBezTo>
                  <a:close/>
                </a:path>
              </a:pathLst>
            </a:custGeom>
            <a:solidFill>
              <a:srgbClr val="FFFFFF"/>
            </a:solidFill>
          </p:spPr>
        </p:sp>
        <p:sp>
          <p:nvSpPr>
            <p:cNvPr id="4" name="TextBox 4"/>
            <p:cNvSpPr txBox="1"/>
            <p:nvPr/>
          </p:nvSpPr>
          <p:spPr>
            <a:xfrm>
              <a:off x="0" y="-123825"/>
              <a:ext cx="1979031" cy="1791051"/>
            </a:xfrm>
            <a:prstGeom prst="rect">
              <a:avLst/>
            </a:prstGeom>
          </p:spPr>
          <p:txBody>
            <a:bodyPr lIns="33867" tIns="33867" rIns="33867" bIns="33867" rtlCol="0" anchor="ctr"/>
            <a:lstStyle/>
            <a:p>
              <a:pPr algn="ctr">
                <a:lnSpc>
                  <a:spcPts val="2719"/>
                </a:lnSpc>
              </a:pPr>
              <a:endParaRPr sz="1200"/>
            </a:p>
          </p:txBody>
        </p:sp>
      </p:grpSp>
      <p:grpSp>
        <p:nvGrpSpPr>
          <p:cNvPr id="6" name="Group 6"/>
          <p:cNvGrpSpPr/>
          <p:nvPr/>
        </p:nvGrpSpPr>
        <p:grpSpPr>
          <a:xfrm>
            <a:off x="6502400" y="636722"/>
            <a:ext cx="5009422" cy="2944678"/>
            <a:chOff x="0" y="0"/>
            <a:chExt cx="1979031" cy="1648820"/>
          </a:xfrm>
          <a:effectLst>
            <a:outerShdw blurRad="50800" dist="38100" dir="16200000" rotWithShape="0">
              <a:prstClr val="black">
                <a:alpha val="40000"/>
              </a:prstClr>
            </a:outerShdw>
          </a:effectLst>
        </p:grpSpPr>
        <p:sp>
          <p:nvSpPr>
            <p:cNvPr id="7" name="Freeform 7"/>
            <p:cNvSpPr/>
            <p:nvPr/>
          </p:nvSpPr>
          <p:spPr>
            <a:xfrm>
              <a:off x="0" y="0"/>
              <a:ext cx="1979031" cy="1648820"/>
            </a:xfrm>
            <a:custGeom>
              <a:avLst/>
              <a:gdLst/>
              <a:ahLst/>
              <a:cxnLst/>
              <a:rect l="l" t="t" r="r" b="b"/>
              <a:pathLst>
                <a:path w="1979031" h="1648820">
                  <a:moveTo>
                    <a:pt x="52546" y="0"/>
                  </a:moveTo>
                  <a:lnTo>
                    <a:pt x="1926485" y="0"/>
                  </a:lnTo>
                  <a:cubicBezTo>
                    <a:pt x="1955505" y="0"/>
                    <a:pt x="1979031" y="23526"/>
                    <a:pt x="1979031" y="52546"/>
                  </a:cubicBezTo>
                  <a:lnTo>
                    <a:pt x="1979031" y="1596274"/>
                  </a:lnTo>
                  <a:cubicBezTo>
                    <a:pt x="1979031" y="1610210"/>
                    <a:pt x="1973495" y="1623575"/>
                    <a:pt x="1963641" y="1633430"/>
                  </a:cubicBezTo>
                  <a:cubicBezTo>
                    <a:pt x="1953786" y="1643284"/>
                    <a:pt x="1940421" y="1648820"/>
                    <a:pt x="1926485" y="1648820"/>
                  </a:cubicBezTo>
                  <a:lnTo>
                    <a:pt x="52546" y="1648820"/>
                  </a:lnTo>
                  <a:cubicBezTo>
                    <a:pt x="38610" y="1648820"/>
                    <a:pt x="25245" y="1643284"/>
                    <a:pt x="15390" y="1633430"/>
                  </a:cubicBezTo>
                  <a:cubicBezTo>
                    <a:pt x="5536" y="1623575"/>
                    <a:pt x="0" y="1610210"/>
                    <a:pt x="0" y="1596274"/>
                  </a:cubicBezTo>
                  <a:lnTo>
                    <a:pt x="0" y="52546"/>
                  </a:lnTo>
                  <a:cubicBezTo>
                    <a:pt x="0" y="23526"/>
                    <a:pt x="23526" y="0"/>
                    <a:pt x="52546" y="0"/>
                  </a:cubicBezTo>
                  <a:close/>
                </a:path>
              </a:pathLst>
            </a:custGeom>
            <a:solidFill>
              <a:srgbClr val="FFFFFF"/>
            </a:solidFill>
          </p:spPr>
        </p:sp>
        <p:sp>
          <p:nvSpPr>
            <p:cNvPr id="8" name="TextBox 8"/>
            <p:cNvSpPr txBox="1"/>
            <p:nvPr/>
          </p:nvSpPr>
          <p:spPr>
            <a:xfrm>
              <a:off x="0" y="-123825"/>
              <a:ext cx="1979031" cy="1772645"/>
            </a:xfrm>
            <a:prstGeom prst="rect">
              <a:avLst/>
            </a:prstGeom>
          </p:spPr>
          <p:txBody>
            <a:bodyPr lIns="33867" tIns="33867" rIns="33867" bIns="33867" rtlCol="0" anchor="ctr"/>
            <a:lstStyle/>
            <a:p>
              <a:pPr algn="ctr">
                <a:lnSpc>
                  <a:spcPts val="2719"/>
                </a:lnSpc>
              </a:pPr>
              <a:endParaRPr sz="1200"/>
            </a:p>
          </p:txBody>
        </p:sp>
      </p:grpSp>
      <p:sp>
        <p:nvSpPr>
          <p:cNvPr id="13" name="TextBox 12">
            <a:extLst>
              <a:ext uri="{FF2B5EF4-FFF2-40B4-BE49-F238E27FC236}">
                <a16:creationId xmlns:a16="http://schemas.microsoft.com/office/drawing/2014/main" id="{503AF3BD-2014-4300-99F1-6D62D8DE2694}"/>
              </a:ext>
            </a:extLst>
          </p:cNvPr>
          <p:cNvSpPr txBox="1"/>
          <p:nvPr/>
        </p:nvSpPr>
        <p:spPr>
          <a:xfrm>
            <a:off x="6843091" y="1485287"/>
            <a:ext cx="4419600" cy="1733488"/>
          </a:xfrm>
          <a:prstGeom prst="rect">
            <a:avLst/>
          </a:prstGeom>
          <a:noFill/>
        </p:spPr>
        <p:txBody>
          <a:bodyPr wrap="square">
            <a:spAutoFit/>
          </a:bodyPr>
          <a:lstStyle/>
          <a:p>
            <a:r>
              <a:rPr lang="en-US" sz="2133" dirty="0" err="1"/>
              <a:t>select.name,elements.symbol,element_categories.category_name</a:t>
            </a:r>
            <a:endParaRPr lang="en-US" sz="2133" dirty="0"/>
          </a:p>
          <a:p>
            <a:r>
              <a:rPr lang="en-US" sz="2133" dirty="0"/>
              <a:t>from elements join </a:t>
            </a:r>
            <a:r>
              <a:rPr lang="en-US" sz="2133" dirty="0" err="1"/>
              <a:t>element_categories</a:t>
            </a:r>
            <a:r>
              <a:rPr lang="en-US" sz="2133" dirty="0"/>
              <a:t>  on </a:t>
            </a:r>
            <a:r>
              <a:rPr lang="en-US" sz="2133" dirty="0" err="1"/>
              <a:t>elements.group_id</a:t>
            </a:r>
            <a:r>
              <a:rPr lang="en-US" sz="2133" dirty="0"/>
              <a:t>= </a:t>
            </a:r>
            <a:r>
              <a:rPr lang="en-US" sz="2133" dirty="0" err="1"/>
              <a:t>element_categories.category_id</a:t>
            </a:r>
            <a:r>
              <a:rPr lang="en-US" sz="2133" dirty="0"/>
              <a:t>;</a:t>
            </a:r>
          </a:p>
        </p:txBody>
      </p:sp>
      <p:sp>
        <p:nvSpPr>
          <p:cNvPr id="14" name="TextBox 13">
            <a:extLst>
              <a:ext uri="{FF2B5EF4-FFF2-40B4-BE49-F238E27FC236}">
                <a16:creationId xmlns:a16="http://schemas.microsoft.com/office/drawing/2014/main" id="{563FE724-9590-4F86-9350-EF948F85F121}"/>
              </a:ext>
            </a:extLst>
          </p:cNvPr>
          <p:cNvSpPr txBox="1"/>
          <p:nvPr/>
        </p:nvSpPr>
        <p:spPr>
          <a:xfrm>
            <a:off x="7025911" y="850824"/>
            <a:ext cx="3962400" cy="543675"/>
          </a:xfrm>
          <a:prstGeom prst="rect">
            <a:avLst/>
          </a:prstGeom>
          <a:noFill/>
        </p:spPr>
        <p:txBody>
          <a:bodyPr wrap="square" rtlCol="0">
            <a:spAutoFit/>
          </a:bodyPr>
          <a:lstStyle/>
          <a:p>
            <a:r>
              <a:rPr lang="en-US" sz="2933" dirty="0">
                <a:latin typeface="Bahnschrift SemiBold" panose="020B0502040204020203" pitchFamily="34" charset="0"/>
              </a:rPr>
              <a:t>-- join </a:t>
            </a:r>
            <a:r>
              <a:rPr lang="en-US" sz="2933" dirty="0" err="1">
                <a:latin typeface="Bahnschrift SemiBold" panose="020B0502040204020203" pitchFamily="34" charset="0"/>
              </a:rPr>
              <a:t>opreation</a:t>
            </a:r>
            <a:endParaRPr lang="en-US" sz="2933" dirty="0"/>
          </a:p>
        </p:txBody>
      </p:sp>
      <p:sp>
        <p:nvSpPr>
          <p:cNvPr id="15" name="Rectangle: Rounded Corners 14">
            <a:extLst>
              <a:ext uri="{FF2B5EF4-FFF2-40B4-BE49-F238E27FC236}">
                <a16:creationId xmlns:a16="http://schemas.microsoft.com/office/drawing/2014/main" id="{B801AEAF-4DEA-4A91-81DB-F87C7DB46398}"/>
              </a:ext>
            </a:extLst>
          </p:cNvPr>
          <p:cNvSpPr/>
          <p:nvPr/>
        </p:nvSpPr>
        <p:spPr>
          <a:xfrm>
            <a:off x="561370" y="3849389"/>
            <a:ext cx="4882422" cy="2778371"/>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 name="TextBox 15">
            <a:extLst>
              <a:ext uri="{FF2B5EF4-FFF2-40B4-BE49-F238E27FC236}">
                <a16:creationId xmlns:a16="http://schemas.microsoft.com/office/drawing/2014/main" id="{F59F5119-2B43-42A5-B34C-3BA04467CDF0}"/>
              </a:ext>
            </a:extLst>
          </p:cNvPr>
          <p:cNvSpPr txBox="1"/>
          <p:nvPr/>
        </p:nvSpPr>
        <p:spPr>
          <a:xfrm>
            <a:off x="1179494" y="1683343"/>
            <a:ext cx="3860800" cy="1200329"/>
          </a:xfrm>
          <a:prstGeom prst="rect">
            <a:avLst/>
          </a:prstGeom>
          <a:noFill/>
        </p:spPr>
        <p:txBody>
          <a:bodyPr wrap="square" rtlCol="0">
            <a:spAutoFit/>
          </a:bodyPr>
          <a:lstStyle/>
          <a:p>
            <a:r>
              <a:rPr lang="en-US" sz="2400" dirty="0"/>
              <a:t>select </a:t>
            </a:r>
            <a:r>
              <a:rPr lang="en-US" sz="2400" dirty="0" err="1"/>
              <a:t>name,symbol</a:t>
            </a:r>
            <a:r>
              <a:rPr lang="en-US" sz="2400" dirty="0"/>
              <a:t>, </a:t>
            </a:r>
            <a:r>
              <a:rPr lang="en-US" sz="2400" dirty="0" err="1"/>
              <a:t>atomic_number</a:t>
            </a:r>
            <a:r>
              <a:rPr lang="en-US" sz="2400" dirty="0"/>
              <a:t> from elements order by </a:t>
            </a:r>
            <a:r>
              <a:rPr lang="en-US" sz="2400" dirty="0" err="1"/>
              <a:t>atomic_number</a:t>
            </a:r>
            <a:r>
              <a:rPr lang="en-US" sz="2400" dirty="0"/>
              <a:t> </a:t>
            </a:r>
            <a:r>
              <a:rPr lang="en-US" sz="2400" dirty="0" err="1"/>
              <a:t>asc</a:t>
            </a:r>
            <a:r>
              <a:rPr lang="en-US" sz="2400" dirty="0"/>
              <a:t>;</a:t>
            </a:r>
          </a:p>
        </p:txBody>
      </p:sp>
      <p:sp>
        <p:nvSpPr>
          <p:cNvPr id="17" name="TextBox 16">
            <a:extLst>
              <a:ext uri="{FF2B5EF4-FFF2-40B4-BE49-F238E27FC236}">
                <a16:creationId xmlns:a16="http://schemas.microsoft.com/office/drawing/2014/main" id="{53CF5921-FE8F-4A8C-B24C-A77BD8366CF2}"/>
              </a:ext>
            </a:extLst>
          </p:cNvPr>
          <p:cNvSpPr txBox="1"/>
          <p:nvPr/>
        </p:nvSpPr>
        <p:spPr>
          <a:xfrm>
            <a:off x="1027094" y="922396"/>
            <a:ext cx="4165600" cy="543675"/>
          </a:xfrm>
          <a:prstGeom prst="rect">
            <a:avLst/>
          </a:prstGeom>
          <a:noFill/>
        </p:spPr>
        <p:txBody>
          <a:bodyPr wrap="square" rtlCol="0">
            <a:spAutoFit/>
          </a:bodyPr>
          <a:lstStyle/>
          <a:p>
            <a:r>
              <a:rPr lang="en-US" sz="2933" dirty="0">
                <a:latin typeface="Bahnschrift SemiBold" panose="020B0502040204020203" pitchFamily="34" charset="0"/>
              </a:rPr>
              <a:t>-- </a:t>
            </a:r>
            <a:r>
              <a:rPr lang="en-US" sz="2933" dirty="0" err="1">
                <a:latin typeface="Bahnschrift SemiBold" panose="020B0502040204020203" pitchFamily="34" charset="0"/>
              </a:rPr>
              <a:t>ordering&amp;limiting</a:t>
            </a:r>
            <a:endParaRPr lang="en-US" sz="2933" dirty="0">
              <a:latin typeface="Bahnschrift SemiBold" panose="020B0502040204020203" pitchFamily="34" charset="0"/>
            </a:endParaRPr>
          </a:p>
        </p:txBody>
      </p:sp>
      <p:sp>
        <p:nvSpPr>
          <p:cNvPr id="18" name="Rectangle: Rounded Corners 17">
            <a:extLst>
              <a:ext uri="{FF2B5EF4-FFF2-40B4-BE49-F238E27FC236}">
                <a16:creationId xmlns:a16="http://schemas.microsoft.com/office/drawing/2014/main" id="{48072397-434C-4726-86DB-2B54DEEDB9E4}"/>
              </a:ext>
            </a:extLst>
          </p:cNvPr>
          <p:cNvSpPr/>
          <p:nvPr/>
        </p:nvSpPr>
        <p:spPr>
          <a:xfrm>
            <a:off x="6611680" y="3813544"/>
            <a:ext cx="4882422" cy="2765056"/>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P spid="16" grpId="0"/>
      <p:bldP spid="17" grpId="0"/>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5442B0-19C7-4C92-B2F8-502575755D28}"/>
              </a:ext>
            </a:extLst>
          </p:cNvPr>
          <p:cNvPicPr>
            <a:picLocks noChangeAspect="1"/>
          </p:cNvPicPr>
          <p:nvPr/>
        </p:nvPicPr>
        <p:blipFill>
          <a:blip r:embed="rId2"/>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30188394-A1C8-4173-8F25-2F4D10C4486A}"/>
              </a:ext>
            </a:extLst>
          </p:cNvPr>
          <p:cNvSpPr txBox="1"/>
          <p:nvPr/>
        </p:nvSpPr>
        <p:spPr>
          <a:xfrm>
            <a:off x="211825" y="366721"/>
            <a:ext cx="7706035" cy="6647974"/>
          </a:xfrm>
          <a:prstGeom prst="rect">
            <a:avLst/>
          </a:prstGeom>
          <a:noFill/>
        </p:spPr>
        <p:txBody>
          <a:bodyPr wrap="square" rtlCol="0">
            <a:spAutoFit/>
          </a:bodyPr>
          <a:lstStyle/>
          <a:p>
            <a:r>
              <a:rPr lang="en-US" sz="9600" b="1" dirty="0">
                <a:ln w="76200">
                  <a:solidFill>
                    <a:schemeClr val="bg1"/>
                  </a:solidFill>
                </a:ln>
                <a:noFill/>
              </a:rPr>
              <a:t>THANKYOU </a:t>
            </a:r>
          </a:p>
          <a:p>
            <a:r>
              <a:rPr lang="en-US" sz="9600" b="1" dirty="0">
                <a:ln w="76200">
                  <a:solidFill>
                    <a:schemeClr val="bg1"/>
                  </a:solidFill>
                </a:ln>
                <a:noFill/>
              </a:rPr>
              <a:t>For Your</a:t>
            </a:r>
          </a:p>
          <a:p>
            <a:r>
              <a:rPr lang="en-US" sz="9600" b="1" dirty="0">
                <a:ln w="76200">
                  <a:solidFill>
                    <a:schemeClr val="bg1"/>
                  </a:solidFill>
                </a:ln>
                <a:noFill/>
              </a:rPr>
              <a:t>Attention !</a:t>
            </a:r>
          </a:p>
          <a:p>
            <a:endParaRPr lang="en-US" sz="13800" b="1" dirty="0">
              <a:ln w="76200">
                <a:solidFill>
                  <a:schemeClr val="bg1"/>
                </a:solidFill>
              </a:ln>
              <a:noFill/>
            </a:endParaRPr>
          </a:p>
        </p:txBody>
      </p:sp>
      <p:sp>
        <p:nvSpPr>
          <p:cNvPr id="9" name="TextBox 8">
            <a:extLst>
              <a:ext uri="{FF2B5EF4-FFF2-40B4-BE49-F238E27FC236}">
                <a16:creationId xmlns:a16="http://schemas.microsoft.com/office/drawing/2014/main" id="{21127DE8-9701-4687-8104-7A917491BDEE}"/>
              </a:ext>
            </a:extLst>
          </p:cNvPr>
          <p:cNvSpPr txBox="1"/>
          <p:nvPr/>
        </p:nvSpPr>
        <p:spPr>
          <a:xfrm>
            <a:off x="5563328" y="3589276"/>
            <a:ext cx="5711314" cy="2677656"/>
          </a:xfrm>
          <a:prstGeom prst="rect">
            <a:avLst/>
          </a:prstGeom>
          <a:noFill/>
          <a:ln>
            <a:noFill/>
          </a:ln>
        </p:spPr>
        <p:txBody>
          <a:bodyPr wrap="square" rtlCol="0">
            <a:spAutoFit/>
          </a:bodyPr>
          <a:lstStyle/>
          <a:p>
            <a:r>
              <a:rPr lang="en-US" sz="6000" dirty="0">
                <a:solidFill>
                  <a:schemeClr val="bg1"/>
                </a:solidFill>
                <a:latin typeface="NSimSun" panose="02010609030101010101" pitchFamily="49" charset="-122"/>
                <a:ea typeface="NSimSun" panose="02010609030101010101" pitchFamily="49" charset="-122"/>
              </a:rPr>
              <a:t>Got Question</a:t>
            </a:r>
          </a:p>
          <a:p>
            <a:endParaRPr lang="en-US" sz="6000" dirty="0">
              <a:solidFill>
                <a:schemeClr val="bg1"/>
              </a:solidFill>
              <a:latin typeface="NSimSun" panose="02010609030101010101" pitchFamily="49" charset="-122"/>
              <a:ea typeface="NSimSun" panose="02010609030101010101" pitchFamily="49" charset="-122"/>
            </a:endParaRPr>
          </a:p>
          <a:p>
            <a:endParaRPr lang="en-US" sz="4800" dirty="0">
              <a:solidFill>
                <a:schemeClr val="bg1"/>
              </a:solidFill>
            </a:endParaRPr>
          </a:p>
        </p:txBody>
      </p:sp>
      <p:sp>
        <p:nvSpPr>
          <p:cNvPr id="3" name="Rectangle 2">
            <a:extLst>
              <a:ext uri="{FF2B5EF4-FFF2-40B4-BE49-F238E27FC236}">
                <a16:creationId xmlns:a16="http://schemas.microsoft.com/office/drawing/2014/main" id="{3D67A2F4-105D-4366-A202-603CF8CE58C3}"/>
              </a:ext>
            </a:extLst>
          </p:cNvPr>
          <p:cNvSpPr/>
          <p:nvPr/>
        </p:nvSpPr>
        <p:spPr>
          <a:xfrm>
            <a:off x="9609464" y="-134093"/>
            <a:ext cx="2386837" cy="6447919"/>
          </a:xfrm>
          <a:prstGeom prst="rect">
            <a:avLst/>
          </a:prstGeom>
          <a:noFill/>
        </p:spPr>
        <p:txBody>
          <a:bodyPr wrap="square" lIns="91440" tIns="45720" rIns="91440" bIns="45720">
            <a:spAutoFit/>
            <a:scene3d>
              <a:camera prst="isometricOffAxis2Left"/>
              <a:lightRig rig="threePt" dir="t"/>
            </a:scene3d>
            <a:sp3d extrusionH="57150">
              <a:bevelT w="38100" h="38100"/>
            </a:sp3d>
          </a:bodyPr>
          <a:lstStyle/>
          <a:p>
            <a:pPr algn="ctr"/>
            <a:r>
              <a:rPr lang="en-US" sz="41300" b="1" dirty="0">
                <a:ln w="12700">
                  <a:noFill/>
                  <a:prstDash val="solid"/>
                </a:ln>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lin ang="16200000" scaled="1"/>
                  <a:tileRect/>
                </a:gradFill>
                <a:effectLst>
                  <a:outerShdw blurRad="50800" dist="38100" dir="2700000" algn="tl" rotWithShape="0">
                    <a:prstClr val="black">
                      <a:alpha val="40000"/>
                    </a:prstClr>
                  </a:outerShdw>
                </a:effectLst>
                <a:latin typeface="Zurich LtCn BT" panose="020B0406020202040204" pitchFamily="34" charset="0"/>
              </a:rPr>
              <a:t>?</a:t>
            </a:r>
            <a:endParaRPr lang="en-US" sz="41300" b="1" cap="none" spc="0" dirty="0">
              <a:ln w="12700">
                <a:noFill/>
                <a:prstDash val="solid"/>
              </a:ln>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lin ang="16200000" scaled="1"/>
                <a:tileRect/>
              </a:gradFill>
              <a:effectLst>
                <a:outerShdw blurRad="50800" dist="38100" dir="2700000" algn="tl" rotWithShape="0">
                  <a:prstClr val="black">
                    <a:alpha val="40000"/>
                  </a:prstClr>
                </a:outerShdw>
              </a:effectLst>
              <a:latin typeface="Zurich LtCn BT" panose="020B0406020202040204" pitchFamily="34" charset="0"/>
            </a:endParaRPr>
          </a:p>
        </p:txBody>
      </p:sp>
    </p:spTree>
    <p:extLst>
      <p:ext uri="{BB962C8B-B14F-4D97-AF65-F5344CB8AC3E}">
        <p14:creationId xmlns:p14="http://schemas.microsoft.com/office/powerpoint/2010/main" val="38022258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3"/>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arn(inVertical)">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3" grpId="0"/>
    </p:bldLst>
  </p:timing>
</p:sld>
</file>

<file path=ppt/theme/_rels/theme3.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Theme1">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Theme1" id="{17BD9075-3701-4EA3-8FE0-F9696FCDB662}" vid="{094E2CC9-F092-4255-BC1A-53752818F30D}"/>
    </a:ext>
  </a:extLst>
</a:theme>
</file>

<file path=ppt/theme/theme3.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219</TotalTime>
  <Words>898</Words>
  <Application>Microsoft Office PowerPoint</Application>
  <PresentationFormat>Widescreen</PresentationFormat>
  <Paragraphs>127</Paragraphs>
  <Slides>16</Slides>
  <Notes>1</Notes>
  <HiddenSlides>0</HiddenSlides>
  <MMClips>0</MMClips>
  <ScaleCrop>false</ScaleCrop>
  <HeadingPairs>
    <vt:vector size="6" baseType="variant">
      <vt:variant>
        <vt:lpstr>Fonts Used</vt:lpstr>
      </vt:variant>
      <vt:variant>
        <vt:i4>19</vt:i4>
      </vt:variant>
      <vt:variant>
        <vt:lpstr>Theme</vt:lpstr>
      </vt:variant>
      <vt:variant>
        <vt:i4>3</vt:i4>
      </vt:variant>
      <vt:variant>
        <vt:lpstr>Slide Titles</vt:lpstr>
      </vt:variant>
      <vt:variant>
        <vt:i4>16</vt:i4>
      </vt:variant>
    </vt:vector>
  </HeadingPairs>
  <TitlesOfParts>
    <vt:vector size="38" baseType="lpstr">
      <vt:lpstr>NSimSun</vt:lpstr>
      <vt:lpstr>Arial</vt:lpstr>
      <vt:lpstr>Arial Narrow</vt:lpstr>
      <vt:lpstr>Arial Rounded MT Bold</vt:lpstr>
      <vt:lpstr>Bahnschrift SemiBold</vt:lpstr>
      <vt:lpstr>BankGothic Lt BT</vt:lpstr>
      <vt:lpstr>Berlin Sans FB Demi</vt:lpstr>
      <vt:lpstr>Bodoni MT Black</vt:lpstr>
      <vt:lpstr>Calibri</vt:lpstr>
      <vt:lpstr>Calibri Light</vt:lpstr>
      <vt:lpstr>Cascadia Mono SemiBold</vt:lpstr>
      <vt:lpstr>Cormorant Garamond Bold Italics</vt:lpstr>
      <vt:lpstr>Forte</vt:lpstr>
      <vt:lpstr>Quicksand</vt:lpstr>
      <vt:lpstr>Quicksand Bold</vt:lpstr>
      <vt:lpstr>Tw Cen MT</vt:lpstr>
      <vt:lpstr>Tw Cen MT Condensed</vt:lpstr>
      <vt:lpstr>Wingdings 3</vt:lpstr>
      <vt:lpstr>Zurich LtCn BT</vt:lpstr>
      <vt:lpstr>Office Theme</vt:lpstr>
      <vt:lpstr>Theme1</vt:lpstr>
      <vt:lpstr>Integral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Al jae Jeon</cp:lastModifiedBy>
  <cp:revision>22</cp:revision>
  <dcterms:created xsi:type="dcterms:W3CDTF">2025-06-09T16:08:40Z</dcterms:created>
  <dcterms:modified xsi:type="dcterms:W3CDTF">2025-07-04T01:35:09Z</dcterms:modified>
</cp:coreProperties>
</file>