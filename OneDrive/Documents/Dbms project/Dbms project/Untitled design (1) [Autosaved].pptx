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rial Rounded MT Bold" panose="020F0704030504030204" pitchFamily="34" charset="0"/>
      <p:regular r:id="rId16"/>
    </p:embeddedFont>
    <p:embeddedFont>
      <p:font typeface="Bahnschrift SemiBold" panose="020B0502040204020203" pitchFamily="34" charset="0"/>
      <p:bold r:id="rId17"/>
    </p:embeddedFont>
    <p:embeddedFont>
      <p:font typeface="Baskerville Old Face" panose="02020602080505020303" pitchFamily="18" charset="0"/>
      <p:regular r:id="rId18"/>
    </p:embeddedFont>
    <p:embeddedFont>
      <p:font typeface="Bodoni MT Black" panose="02070A03080606020203" pitchFamily="18" charset="0"/>
      <p:bold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ormorant Garamond Bold Italics" panose="020B0604020202020204" charset="0"/>
      <p:regular r:id="rId25"/>
    </p:embeddedFont>
    <p:embeddedFont>
      <p:font typeface="Quicksan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F6360EB-43D0-4314-A05A-4395A77A3AB9}">
          <p14:sldIdLst>
            <p14:sldId id="256"/>
            <p14:sldId id="257"/>
            <p14:sldId id="258"/>
            <p14:sldId id="259"/>
            <p14:sldId id="260"/>
          </p14:sldIdLst>
        </p14:section>
        <p14:section name="Untitled Section" id="{668B8066-659B-484F-9A66-29989371EEB7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 jae Jeon" initials="AjJ" lastIdx="1" clrIdx="0">
    <p:extLst>
      <p:ext uri="{19B8F6BF-5375-455C-9EA6-DF929625EA0E}">
        <p15:presenceInfo xmlns:p15="http://schemas.microsoft.com/office/powerpoint/2012/main" userId="a1457b7d8d895bc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1481" autoAdjust="0"/>
  </p:normalViewPr>
  <p:slideViewPr>
    <p:cSldViewPr>
      <p:cViewPr>
        <p:scale>
          <a:sx n="30" d="100"/>
          <a:sy n="30" d="100"/>
        </p:scale>
        <p:origin x="664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0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F15EC-B669-4B51-9C72-82C581AA6060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5A7C9-E98A-4DCA-954D-43B2F9222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3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5A7C9-E98A-4DCA-954D-43B2F92227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75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3.svg"/><Relationship Id="rId7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2499" y="2325254"/>
            <a:ext cx="16229942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b="1" i="1" dirty="0">
                <a:solidFill>
                  <a:schemeClr val="accent6">
                    <a:lumMod val="75000"/>
                  </a:schemeClr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DBMS Project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14600" y="5969585"/>
            <a:ext cx="12812922" cy="804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44"/>
              </a:lnSpc>
              <a:spcBef>
                <a:spcPct val="0"/>
              </a:spcBef>
            </a:pPr>
            <a:r>
              <a:rPr lang="en-US" sz="4889" dirty="0">
                <a:solidFill>
                  <a:srgbClr val="FFFF00"/>
                </a:solidFill>
                <a:latin typeface="Quicksand"/>
                <a:ea typeface="Quicksand"/>
                <a:cs typeface="Quicksand"/>
                <a:sym typeface="Quicksand"/>
              </a:rPr>
              <a:t>Prepared by group3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22178" y="2066346"/>
            <a:ext cx="11643643" cy="529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 dirty="0">
                <a:solidFill>
                  <a:srgbClr val="FFFF00"/>
                </a:solidFill>
                <a:latin typeface="Quicksand"/>
                <a:ea typeface="Quicksand"/>
                <a:cs typeface="Quicksand"/>
                <a:sym typeface="Quicksand"/>
              </a:rPr>
              <a:t>GTI (POL)</a:t>
            </a:r>
          </a:p>
        </p:txBody>
      </p:sp>
      <p:sp>
        <p:nvSpPr>
          <p:cNvPr id="9" name="Freeform 9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B15EA9F-0557-4829-8D0D-9B9400B0EF2A}"/>
              </a:ext>
            </a:extLst>
          </p:cNvPr>
          <p:cNvSpPr/>
          <p:nvPr/>
        </p:nvSpPr>
        <p:spPr>
          <a:xfrm>
            <a:off x="38127" y="361278"/>
            <a:ext cx="17532626" cy="9879496"/>
          </a:xfrm>
          <a:custGeom>
            <a:avLst/>
            <a:gdLst>
              <a:gd name="connsiteX0" fmla="*/ 17532626 w 17532626"/>
              <a:gd name="connsiteY0" fmla="*/ 0 h 9879496"/>
              <a:gd name="connsiteX1" fmla="*/ 17532626 w 17532626"/>
              <a:gd name="connsiteY1" fmla="*/ 0 h 9879496"/>
              <a:gd name="connsiteX2" fmla="*/ 17373600 w 17532626"/>
              <a:gd name="connsiteY2" fmla="*/ 79513 h 9879496"/>
              <a:gd name="connsiteX3" fmla="*/ 17234452 w 17532626"/>
              <a:gd name="connsiteY3" fmla="*/ 198783 h 9879496"/>
              <a:gd name="connsiteX4" fmla="*/ 17095305 w 17532626"/>
              <a:gd name="connsiteY4" fmla="*/ 258418 h 9879496"/>
              <a:gd name="connsiteX5" fmla="*/ 16995913 w 17532626"/>
              <a:gd name="connsiteY5" fmla="*/ 337931 h 9879496"/>
              <a:gd name="connsiteX6" fmla="*/ 16737496 w 17532626"/>
              <a:gd name="connsiteY6" fmla="*/ 437322 h 9879496"/>
              <a:gd name="connsiteX7" fmla="*/ 16538713 w 17532626"/>
              <a:gd name="connsiteY7" fmla="*/ 576470 h 9879496"/>
              <a:gd name="connsiteX8" fmla="*/ 16399565 w 17532626"/>
              <a:gd name="connsiteY8" fmla="*/ 596348 h 9879496"/>
              <a:gd name="connsiteX9" fmla="*/ 16161026 w 17532626"/>
              <a:gd name="connsiteY9" fmla="*/ 715618 h 9879496"/>
              <a:gd name="connsiteX10" fmla="*/ 16101392 w 17532626"/>
              <a:gd name="connsiteY10" fmla="*/ 775252 h 9879496"/>
              <a:gd name="connsiteX11" fmla="*/ 16041757 w 17532626"/>
              <a:gd name="connsiteY11" fmla="*/ 815009 h 9879496"/>
              <a:gd name="connsiteX12" fmla="*/ 15962244 w 17532626"/>
              <a:gd name="connsiteY12" fmla="*/ 974035 h 9879496"/>
              <a:gd name="connsiteX13" fmla="*/ 15882731 w 17532626"/>
              <a:gd name="connsiteY13" fmla="*/ 1113183 h 9879496"/>
              <a:gd name="connsiteX14" fmla="*/ 15743583 w 17532626"/>
              <a:gd name="connsiteY14" fmla="*/ 1172818 h 9879496"/>
              <a:gd name="connsiteX15" fmla="*/ 15544800 w 17532626"/>
              <a:gd name="connsiteY15" fmla="*/ 1391478 h 9879496"/>
              <a:gd name="connsiteX16" fmla="*/ 15365896 w 17532626"/>
              <a:gd name="connsiteY16" fmla="*/ 1510748 h 9879496"/>
              <a:gd name="connsiteX17" fmla="*/ 15266505 w 17532626"/>
              <a:gd name="connsiteY17" fmla="*/ 1630018 h 9879496"/>
              <a:gd name="connsiteX18" fmla="*/ 15127357 w 17532626"/>
              <a:gd name="connsiteY18" fmla="*/ 1769165 h 9879496"/>
              <a:gd name="connsiteX19" fmla="*/ 15107479 w 17532626"/>
              <a:gd name="connsiteY19" fmla="*/ 2325757 h 9879496"/>
              <a:gd name="connsiteX20" fmla="*/ 15246626 w 17532626"/>
              <a:gd name="connsiteY20" fmla="*/ 2484783 h 9879496"/>
              <a:gd name="connsiteX21" fmla="*/ 15385774 w 17532626"/>
              <a:gd name="connsiteY21" fmla="*/ 2623931 h 9879496"/>
              <a:gd name="connsiteX22" fmla="*/ 15425531 w 17532626"/>
              <a:gd name="connsiteY22" fmla="*/ 2703444 h 9879496"/>
              <a:gd name="connsiteX23" fmla="*/ 15584557 w 17532626"/>
              <a:gd name="connsiteY23" fmla="*/ 2922105 h 9879496"/>
              <a:gd name="connsiteX24" fmla="*/ 15703826 w 17532626"/>
              <a:gd name="connsiteY24" fmla="*/ 3101009 h 9879496"/>
              <a:gd name="connsiteX25" fmla="*/ 15783339 w 17532626"/>
              <a:gd name="connsiteY25" fmla="*/ 3160644 h 9879496"/>
              <a:gd name="connsiteX26" fmla="*/ 15842974 w 17532626"/>
              <a:gd name="connsiteY26" fmla="*/ 3200400 h 9879496"/>
              <a:gd name="connsiteX27" fmla="*/ 16021879 w 17532626"/>
              <a:gd name="connsiteY27" fmla="*/ 3379305 h 9879496"/>
              <a:gd name="connsiteX28" fmla="*/ 16161026 w 17532626"/>
              <a:gd name="connsiteY28" fmla="*/ 3458818 h 9879496"/>
              <a:gd name="connsiteX29" fmla="*/ 16220661 w 17532626"/>
              <a:gd name="connsiteY29" fmla="*/ 3518452 h 9879496"/>
              <a:gd name="connsiteX30" fmla="*/ 16300174 w 17532626"/>
              <a:gd name="connsiteY30" fmla="*/ 3558209 h 9879496"/>
              <a:gd name="connsiteX31" fmla="*/ 16359809 w 17532626"/>
              <a:gd name="connsiteY31" fmla="*/ 3617844 h 9879496"/>
              <a:gd name="connsiteX32" fmla="*/ 16518835 w 17532626"/>
              <a:gd name="connsiteY32" fmla="*/ 3677478 h 9879496"/>
              <a:gd name="connsiteX33" fmla="*/ 16578470 w 17532626"/>
              <a:gd name="connsiteY33" fmla="*/ 3717235 h 9879496"/>
              <a:gd name="connsiteX34" fmla="*/ 16657983 w 17532626"/>
              <a:gd name="connsiteY34" fmla="*/ 3955774 h 9879496"/>
              <a:gd name="connsiteX35" fmla="*/ 16677861 w 17532626"/>
              <a:gd name="connsiteY35" fmla="*/ 4035287 h 9879496"/>
              <a:gd name="connsiteX36" fmla="*/ 16717618 w 17532626"/>
              <a:gd name="connsiteY36" fmla="*/ 4094922 h 9879496"/>
              <a:gd name="connsiteX37" fmla="*/ 16797131 w 17532626"/>
              <a:gd name="connsiteY37" fmla="*/ 4393096 h 9879496"/>
              <a:gd name="connsiteX38" fmla="*/ 16777252 w 17532626"/>
              <a:gd name="connsiteY38" fmla="*/ 4929809 h 9879496"/>
              <a:gd name="connsiteX39" fmla="*/ 16757374 w 17532626"/>
              <a:gd name="connsiteY39" fmla="*/ 5088835 h 9879496"/>
              <a:gd name="connsiteX40" fmla="*/ 16737496 w 17532626"/>
              <a:gd name="connsiteY40" fmla="*/ 5168348 h 9879496"/>
              <a:gd name="connsiteX41" fmla="*/ 16598348 w 17532626"/>
              <a:gd name="connsiteY41" fmla="*/ 5247861 h 9879496"/>
              <a:gd name="connsiteX42" fmla="*/ 16558592 w 17532626"/>
              <a:gd name="connsiteY42" fmla="*/ 5307496 h 9879496"/>
              <a:gd name="connsiteX43" fmla="*/ 16439322 w 17532626"/>
              <a:gd name="connsiteY43" fmla="*/ 5406887 h 9879496"/>
              <a:gd name="connsiteX44" fmla="*/ 16379687 w 17532626"/>
              <a:gd name="connsiteY44" fmla="*/ 5426765 h 9879496"/>
              <a:gd name="connsiteX45" fmla="*/ 16280296 w 17532626"/>
              <a:gd name="connsiteY45" fmla="*/ 5546035 h 9879496"/>
              <a:gd name="connsiteX46" fmla="*/ 16161026 w 17532626"/>
              <a:gd name="connsiteY46" fmla="*/ 5645426 h 9879496"/>
              <a:gd name="connsiteX47" fmla="*/ 16101392 w 17532626"/>
              <a:gd name="connsiteY47" fmla="*/ 5685183 h 9879496"/>
              <a:gd name="connsiteX48" fmla="*/ 15564679 w 17532626"/>
              <a:gd name="connsiteY48" fmla="*/ 5784574 h 9879496"/>
              <a:gd name="connsiteX49" fmla="*/ 15505044 w 17532626"/>
              <a:gd name="connsiteY49" fmla="*/ 5804452 h 9879496"/>
              <a:gd name="connsiteX50" fmla="*/ 15047844 w 17532626"/>
              <a:gd name="connsiteY50" fmla="*/ 5844209 h 9879496"/>
              <a:gd name="connsiteX51" fmla="*/ 14709913 w 17532626"/>
              <a:gd name="connsiteY51" fmla="*/ 5883965 h 9879496"/>
              <a:gd name="connsiteX52" fmla="*/ 14570765 w 17532626"/>
              <a:gd name="connsiteY52" fmla="*/ 5903844 h 9879496"/>
              <a:gd name="connsiteX53" fmla="*/ 13914783 w 17532626"/>
              <a:gd name="connsiteY53" fmla="*/ 5943600 h 9879496"/>
              <a:gd name="connsiteX54" fmla="*/ 13795513 w 17532626"/>
              <a:gd name="connsiteY54" fmla="*/ 5963478 h 9879496"/>
              <a:gd name="connsiteX55" fmla="*/ 13616609 w 17532626"/>
              <a:gd name="connsiteY55" fmla="*/ 6023113 h 9879496"/>
              <a:gd name="connsiteX56" fmla="*/ 13556974 w 17532626"/>
              <a:gd name="connsiteY56" fmla="*/ 6062870 h 9879496"/>
              <a:gd name="connsiteX57" fmla="*/ 13477461 w 17532626"/>
              <a:gd name="connsiteY57" fmla="*/ 6122505 h 9879496"/>
              <a:gd name="connsiteX58" fmla="*/ 13417826 w 17532626"/>
              <a:gd name="connsiteY58" fmla="*/ 6182139 h 9879496"/>
              <a:gd name="connsiteX59" fmla="*/ 13318435 w 17532626"/>
              <a:gd name="connsiteY59" fmla="*/ 6221896 h 9879496"/>
              <a:gd name="connsiteX60" fmla="*/ 13219044 w 17532626"/>
              <a:gd name="connsiteY60" fmla="*/ 6281531 h 9879496"/>
              <a:gd name="connsiteX61" fmla="*/ 13179287 w 17532626"/>
              <a:gd name="connsiteY61" fmla="*/ 6380922 h 9879496"/>
              <a:gd name="connsiteX62" fmla="*/ 13060018 w 17532626"/>
              <a:gd name="connsiteY62" fmla="*/ 6460435 h 9879496"/>
              <a:gd name="connsiteX63" fmla="*/ 13000383 w 17532626"/>
              <a:gd name="connsiteY63" fmla="*/ 6520070 h 9879496"/>
              <a:gd name="connsiteX64" fmla="*/ 12980505 w 17532626"/>
              <a:gd name="connsiteY64" fmla="*/ 6599583 h 9879496"/>
              <a:gd name="connsiteX65" fmla="*/ 12960626 w 17532626"/>
              <a:gd name="connsiteY65" fmla="*/ 6659218 h 9879496"/>
              <a:gd name="connsiteX66" fmla="*/ 12920870 w 17532626"/>
              <a:gd name="connsiteY66" fmla="*/ 6877878 h 9879496"/>
              <a:gd name="connsiteX67" fmla="*/ 13040139 w 17532626"/>
              <a:gd name="connsiteY67" fmla="*/ 7116418 h 9879496"/>
              <a:gd name="connsiteX68" fmla="*/ 13079896 w 17532626"/>
              <a:gd name="connsiteY68" fmla="*/ 7176052 h 9879496"/>
              <a:gd name="connsiteX69" fmla="*/ 13119652 w 17532626"/>
              <a:gd name="connsiteY69" fmla="*/ 7335078 h 9879496"/>
              <a:gd name="connsiteX70" fmla="*/ 13139531 w 17532626"/>
              <a:gd name="connsiteY70" fmla="*/ 7394713 h 9879496"/>
              <a:gd name="connsiteX71" fmla="*/ 13219044 w 17532626"/>
              <a:gd name="connsiteY71" fmla="*/ 7434470 h 9879496"/>
              <a:gd name="connsiteX72" fmla="*/ 13278679 w 17532626"/>
              <a:gd name="connsiteY72" fmla="*/ 7474226 h 9879496"/>
              <a:gd name="connsiteX73" fmla="*/ 13298557 w 17532626"/>
              <a:gd name="connsiteY73" fmla="*/ 7533861 h 9879496"/>
              <a:gd name="connsiteX74" fmla="*/ 13278679 w 17532626"/>
              <a:gd name="connsiteY74" fmla="*/ 7732644 h 9879496"/>
              <a:gd name="connsiteX75" fmla="*/ 13238922 w 17532626"/>
              <a:gd name="connsiteY75" fmla="*/ 7792278 h 9879496"/>
              <a:gd name="connsiteX76" fmla="*/ 13159409 w 17532626"/>
              <a:gd name="connsiteY76" fmla="*/ 7832035 h 9879496"/>
              <a:gd name="connsiteX77" fmla="*/ 13020261 w 17532626"/>
              <a:gd name="connsiteY77" fmla="*/ 7871791 h 9879496"/>
              <a:gd name="connsiteX78" fmla="*/ 12761844 w 17532626"/>
              <a:gd name="connsiteY78" fmla="*/ 7851913 h 9879496"/>
              <a:gd name="connsiteX79" fmla="*/ 12662452 w 17532626"/>
              <a:gd name="connsiteY79" fmla="*/ 7812157 h 9879496"/>
              <a:gd name="connsiteX80" fmla="*/ 12582939 w 17532626"/>
              <a:gd name="connsiteY80" fmla="*/ 7792278 h 9879496"/>
              <a:gd name="connsiteX81" fmla="*/ 12563061 w 17532626"/>
              <a:gd name="connsiteY81" fmla="*/ 7871791 h 9879496"/>
              <a:gd name="connsiteX82" fmla="*/ 12483548 w 17532626"/>
              <a:gd name="connsiteY82" fmla="*/ 7792278 h 9879496"/>
              <a:gd name="connsiteX83" fmla="*/ 12404035 w 17532626"/>
              <a:gd name="connsiteY83" fmla="*/ 7732644 h 9879496"/>
              <a:gd name="connsiteX84" fmla="*/ 12225131 w 17532626"/>
              <a:gd name="connsiteY84" fmla="*/ 7653131 h 9879496"/>
              <a:gd name="connsiteX85" fmla="*/ 11986592 w 17532626"/>
              <a:gd name="connsiteY85" fmla="*/ 7434470 h 9879496"/>
              <a:gd name="connsiteX86" fmla="*/ 11926957 w 17532626"/>
              <a:gd name="connsiteY86" fmla="*/ 7394713 h 9879496"/>
              <a:gd name="connsiteX87" fmla="*/ 11767931 w 17532626"/>
              <a:gd name="connsiteY87" fmla="*/ 7315200 h 9879496"/>
              <a:gd name="connsiteX88" fmla="*/ 11728174 w 17532626"/>
              <a:gd name="connsiteY88" fmla="*/ 7255565 h 9879496"/>
              <a:gd name="connsiteX89" fmla="*/ 11708296 w 17532626"/>
              <a:gd name="connsiteY89" fmla="*/ 7195931 h 9879496"/>
              <a:gd name="connsiteX90" fmla="*/ 11529392 w 17532626"/>
              <a:gd name="connsiteY90" fmla="*/ 7036905 h 9879496"/>
              <a:gd name="connsiteX91" fmla="*/ 11469757 w 17532626"/>
              <a:gd name="connsiteY91" fmla="*/ 6977270 h 9879496"/>
              <a:gd name="connsiteX92" fmla="*/ 11231218 w 17532626"/>
              <a:gd name="connsiteY92" fmla="*/ 6818244 h 9879496"/>
              <a:gd name="connsiteX93" fmla="*/ 11131826 w 17532626"/>
              <a:gd name="connsiteY93" fmla="*/ 6798365 h 9879496"/>
              <a:gd name="connsiteX94" fmla="*/ 10992679 w 17532626"/>
              <a:gd name="connsiteY94" fmla="*/ 6698974 h 9879496"/>
              <a:gd name="connsiteX95" fmla="*/ 10913165 w 17532626"/>
              <a:gd name="connsiteY95" fmla="*/ 6639339 h 9879496"/>
              <a:gd name="connsiteX96" fmla="*/ 10595113 w 17532626"/>
              <a:gd name="connsiteY96" fmla="*/ 6480313 h 9879496"/>
              <a:gd name="connsiteX97" fmla="*/ 10515600 w 17532626"/>
              <a:gd name="connsiteY97" fmla="*/ 6440557 h 9879496"/>
              <a:gd name="connsiteX98" fmla="*/ 10197548 w 17532626"/>
              <a:gd name="connsiteY98" fmla="*/ 6400800 h 9879496"/>
              <a:gd name="connsiteX99" fmla="*/ 9839739 w 17532626"/>
              <a:gd name="connsiteY99" fmla="*/ 6460435 h 9879496"/>
              <a:gd name="connsiteX100" fmla="*/ 9780105 w 17532626"/>
              <a:gd name="connsiteY100" fmla="*/ 6500191 h 9879496"/>
              <a:gd name="connsiteX101" fmla="*/ 9700592 w 17532626"/>
              <a:gd name="connsiteY101" fmla="*/ 6539948 h 9879496"/>
              <a:gd name="connsiteX102" fmla="*/ 9521687 w 17532626"/>
              <a:gd name="connsiteY102" fmla="*/ 6679096 h 9879496"/>
              <a:gd name="connsiteX103" fmla="*/ 9382539 w 17532626"/>
              <a:gd name="connsiteY103" fmla="*/ 6718852 h 9879496"/>
              <a:gd name="connsiteX104" fmla="*/ 9223513 w 17532626"/>
              <a:gd name="connsiteY104" fmla="*/ 6818244 h 9879496"/>
              <a:gd name="connsiteX105" fmla="*/ 8825948 w 17532626"/>
              <a:gd name="connsiteY105" fmla="*/ 6977270 h 9879496"/>
              <a:gd name="connsiteX106" fmla="*/ 8627165 w 17532626"/>
              <a:gd name="connsiteY106" fmla="*/ 7136296 h 9879496"/>
              <a:gd name="connsiteX107" fmla="*/ 8488018 w 17532626"/>
              <a:gd name="connsiteY107" fmla="*/ 7275444 h 9879496"/>
              <a:gd name="connsiteX108" fmla="*/ 8169965 w 17532626"/>
              <a:gd name="connsiteY108" fmla="*/ 7494105 h 9879496"/>
              <a:gd name="connsiteX109" fmla="*/ 8050696 w 17532626"/>
              <a:gd name="connsiteY109" fmla="*/ 7593496 h 9879496"/>
              <a:gd name="connsiteX110" fmla="*/ 7951305 w 17532626"/>
              <a:gd name="connsiteY110" fmla="*/ 7633252 h 9879496"/>
              <a:gd name="connsiteX111" fmla="*/ 7772400 w 17532626"/>
              <a:gd name="connsiteY111" fmla="*/ 7712765 h 9879496"/>
              <a:gd name="connsiteX112" fmla="*/ 7335079 w 17532626"/>
              <a:gd name="connsiteY112" fmla="*/ 7732644 h 9879496"/>
              <a:gd name="connsiteX113" fmla="*/ 6957392 w 17532626"/>
              <a:gd name="connsiteY113" fmla="*/ 7732644 h 9879496"/>
              <a:gd name="connsiteX114" fmla="*/ 6897757 w 17532626"/>
              <a:gd name="connsiteY114" fmla="*/ 7772400 h 9879496"/>
              <a:gd name="connsiteX115" fmla="*/ 6798365 w 17532626"/>
              <a:gd name="connsiteY115" fmla="*/ 7971183 h 9879496"/>
              <a:gd name="connsiteX116" fmla="*/ 6778487 w 17532626"/>
              <a:gd name="connsiteY116" fmla="*/ 8070574 h 9879496"/>
              <a:gd name="connsiteX117" fmla="*/ 6718852 w 17532626"/>
              <a:gd name="connsiteY117" fmla="*/ 8130209 h 9879496"/>
              <a:gd name="connsiteX118" fmla="*/ 6579705 w 17532626"/>
              <a:gd name="connsiteY118" fmla="*/ 8309113 h 9879496"/>
              <a:gd name="connsiteX119" fmla="*/ 6460435 w 17532626"/>
              <a:gd name="connsiteY119" fmla="*/ 8507896 h 9879496"/>
              <a:gd name="connsiteX120" fmla="*/ 6281531 w 17532626"/>
              <a:gd name="connsiteY120" fmla="*/ 8607287 h 9879496"/>
              <a:gd name="connsiteX121" fmla="*/ 6221896 w 17532626"/>
              <a:gd name="connsiteY121" fmla="*/ 8666922 h 9879496"/>
              <a:gd name="connsiteX122" fmla="*/ 6142383 w 17532626"/>
              <a:gd name="connsiteY122" fmla="*/ 8686800 h 9879496"/>
              <a:gd name="connsiteX123" fmla="*/ 6062870 w 17532626"/>
              <a:gd name="connsiteY123" fmla="*/ 8726557 h 9879496"/>
              <a:gd name="connsiteX124" fmla="*/ 5963479 w 17532626"/>
              <a:gd name="connsiteY124" fmla="*/ 8746435 h 9879496"/>
              <a:gd name="connsiteX125" fmla="*/ 5864087 w 17532626"/>
              <a:gd name="connsiteY125" fmla="*/ 8786191 h 9879496"/>
              <a:gd name="connsiteX126" fmla="*/ 5764696 w 17532626"/>
              <a:gd name="connsiteY126" fmla="*/ 8806070 h 9879496"/>
              <a:gd name="connsiteX127" fmla="*/ 5685183 w 17532626"/>
              <a:gd name="connsiteY127" fmla="*/ 8825948 h 9879496"/>
              <a:gd name="connsiteX128" fmla="*/ 5327374 w 17532626"/>
              <a:gd name="connsiteY128" fmla="*/ 8786191 h 9879496"/>
              <a:gd name="connsiteX129" fmla="*/ 5267739 w 17532626"/>
              <a:gd name="connsiteY129" fmla="*/ 8766313 h 9879496"/>
              <a:gd name="connsiteX130" fmla="*/ 5208105 w 17532626"/>
              <a:gd name="connsiteY130" fmla="*/ 8786191 h 9879496"/>
              <a:gd name="connsiteX131" fmla="*/ 4870174 w 17532626"/>
              <a:gd name="connsiteY131" fmla="*/ 8865705 h 9879496"/>
              <a:gd name="connsiteX132" fmla="*/ 4750905 w 17532626"/>
              <a:gd name="connsiteY132" fmla="*/ 8925339 h 9879496"/>
              <a:gd name="connsiteX133" fmla="*/ 4572000 w 17532626"/>
              <a:gd name="connsiteY133" fmla="*/ 9044609 h 9879496"/>
              <a:gd name="connsiteX134" fmla="*/ 4452731 w 17532626"/>
              <a:gd name="connsiteY134" fmla="*/ 9064487 h 9879496"/>
              <a:gd name="connsiteX135" fmla="*/ 4154557 w 17532626"/>
              <a:gd name="connsiteY135" fmla="*/ 9243391 h 9879496"/>
              <a:gd name="connsiteX136" fmla="*/ 3995531 w 17532626"/>
              <a:gd name="connsiteY136" fmla="*/ 9362661 h 9879496"/>
              <a:gd name="connsiteX137" fmla="*/ 3816626 w 17532626"/>
              <a:gd name="connsiteY137" fmla="*/ 9402418 h 9879496"/>
              <a:gd name="connsiteX138" fmla="*/ 3399183 w 17532626"/>
              <a:gd name="connsiteY138" fmla="*/ 9382539 h 9879496"/>
              <a:gd name="connsiteX139" fmla="*/ 3260035 w 17532626"/>
              <a:gd name="connsiteY139" fmla="*/ 9322905 h 9879496"/>
              <a:gd name="connsiteX140" fmla="*/ 3101009 w 17532626"/>
              <a:gd name="connsiteY140" fmla="*/ 9283148 h 9879496"/>
              <a:gd name="connsiteX141" fmla="*/ 2504661 w 17532626"/>
              <a:gd name="connsiteY141" fmla="*/ 9322905 h 9879496"/>
              <a:gd name="connsiteX142" fmla="*/ 2445026 w 17532626"/>
              <a:gd name="connsiteY142" fmla="*/ 9342783 h 9879496"/>
              <a:gd name="connsiteX143" fmla="*/ 2365513 w 17532626"/>
              <a:gd name="connsiteY143" fmla="*/ 9362661 h 9879496"/>
              <a:gd name="connsiteX144" fmla="*/ 2007705 w 17532626"/>
              <a:gd name="connsiteY144" fmla="*/ 9481931 h 9879496"/>
              <a:gd name="connsiteX145" fmla="*/ 1928192 w 17532626"/>
              <a:gd name="connsiteY145" fmla="*/ 9521687 h 9879496"/>
              <a:gd name="connsiteX146" fmla="*/ 1709531 w 17532626"/>
              <a:gd name="connsiteY146" fmla="*/ 9561444 h 9879496"/>
              <a:gd name="connsiteX147" fmla="*/ 1490870 w 17532626"/>
              <a:gd name="connsiteY147" fmla="*/ 9621078 h 9879496"/>
              <a:gd name="connsiteX148" fmla="*/ 1431235 w 17532626"/>
              <a:gd name="connsiteY148" fmla="*/ 9640957 h 9879496"/>
              <a:gd name="connsiteX149" fmla="*/ 1331844 w 17532626"/>
              <a:gd name="connsiteY149" fmla="*/ 9660835 h 9879496"/>
              <a:gd name="connsiteX150" fmla="*/ 755374 w 17532626"/>
              <a:gd name="connsiteY150" fmla="*/ 9700591 h 9879496"/>
              <a:gd name="connsiteX151" fmla="*/ 596348 w 17532626"/>
              <a:gd name="connsiteY151" fmla="*/ 9819861 h 9879496"/>
              <a:gd name="connsiteX152" fmla="*/ 556592 w 17532626"/>
              <a:gd name="connsiteY152" fmla="*/ 9819861 h 9879496"/>
              <a:gd name="connsiteX153" fmla="*/ 496957 w 17532626"/>
              <a:gd name="connsiteY153" fmla="*/ 9660835 h 9879496"/>
              <a:gd name="connsiteX154" fmla="*/ 0 w 17532626"/>
              <a:gd name="connsiteY154" fmla="*/ 9879496 h 987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</a:cxnLst>
            <a:rect l="l" t="t" r="r" b="b"/>
            <a:pathLst>
              <a:path w="17532626" h="9879496">
                <a:moveTo>
                  <a:pt x="17532626" y="0"/>
                </a:moveTo>
                <a:lnTo>
                  <a:pt x="17532626" y="0"/>
                </a:lnTo>
                <a:cubicBezTo>
                  <a:pt x="17479617" y="26504"/>
                  <a:pt x="17422912" y="46638"/>
                  <a:pt x="17373600" y="79513"/>
                </a:cubicBezTo>
                <a:cubicBezTo>
                  <a:pt x="17226874" y="177330"/>
                  <a:pt x="17357347" y="137335"/>
                  <a:pt x="17234452" y="198783"/>
                </a:cubicBezTo>
                <a:cubicBezTo>
                  <a:pt x="17128429" y="251795"/>
                  <a:pt x="17219406" y="175684"/>
                  <a:pt x="17095305" y="258418"/>
                </a:cubicBezTo>
                <a:cubicBezTo>
                  <a:pt x="17060003" y="281953"/>
                  <a:pt x="17033862" y="318957"/>
                  <a:pt x="16995913" y="337931"/>
                </a:cubicBezTo>
                <a:cubicBezTo>
                  <a:pt x="16913366" y="379204"/>
                  <a:pt x="16809563" y="379668"/>
                  <a:pt x="16737496" y="437322"/>
                </a:cubicBezTo>
                <a:cubicBezTo>
                  <a:pt x="16693131" y="472814"/>
                  <a:pt x="16596902" y="557074"/>
                  <a:pt x="16538713" y="576470"/>
                </a:cubicBezTo>
                <a:cubicBezTo>
                  <a:pt x="16494264" y="591286"/>
                  <a:pt x="16445948" y="589722"/>
                  <a:pt x="16399565" y="596348"/>
                </a:cubicBezTo>
                <a:cubicBezTo>
                  <a:pt x="16299276" y="636464"/>
                  <a:pt x="16258241" y="647568"/>
                  <a:pt x="16161026" y="715618"/>
                </a:cubicBezTo>
                <a:cubicBezTo>
                  <a:pt x="16137996" y="731739"/>
                  <a:pt x="16122988" y="757255"/>
                  <a:pt x="16101392" y="775252"/>
                </a:cubicBezTo>
                <a:cubicBezTo>
                  <a:pt x="16083039" y="790547"/>
                  <a:pt x="16061635" y="801757"/>
                  <a:pt x="16041757" y="815009"/>
                </a:cubicBezTo>
                <a:cubicBezTo>
                  <a:pt x="16015253" y="868018"/>
                  <a:pt x="15985039" y="919328"/>
                  <a:pt x="15962244" y="974035"/>
                </a:cubicBezTo>
                <a:cubicBezTo>
                  <a:pt x="15928869" y="1054135"/>
                  <a:pt x="15968555" y="1061689"/>
                  <a:pt x="15882731" y="1113183"/>
                </a:cubicBezTo>
                <a:cubicBezTo>
                  <a:pt x="15839460" y="1139146"/>
                  <a:pt x="15789966" y="1152940"/>
                  <a:pt x="15743583" y="1172818"/>
                </a:cubicBezTo>
                <a:cubicBezTo>
                  <a:pt x="15689294" y="1237964"/>
                  <a:pt x="15612796" y="1337082"/>
                  <a:pt x="15544800" y="1391478"/>
                </a:cubicBezTo>
                <a:cubicBezTo>
                  <a:pt x="15450170" y="1467182"/>
                  <a:pt x="15447875" y="1428769"/>
                  <a:pt x="15365896" y="1510748"/>
                </a:cubicBezTo>
                <a:cubicBezTo>
                  <a:pt x="15329302" y="1547342"/>
                  <a:pt x="15303099" y="1593424"/>
                  <a:pt x="15266505" y="1630018"/>
                </a:cubicBezTo>
                <a:cubicBezTo>
                  <a:pt x="15080970" y="1815553"/>
                  <a:pt x="15286388" y="1557124"/>
                  <a:pt x="15127357" y="1769165"/>
                </a:cubicBezTo>
                <a:cubicBezTo>
                  <a:pt x="15088197" y="2004122"/>
                  <a:pt x="15058772" y="2070046"/>
                  <a:pt x="15107479" y="2325757"/>
                </a:cubicBezTo>
                <a:cubicBezTo>
                  <a:pt x="15127082" y="2428674"/>
                  <a:pt x="15185147" y="2423304"/>
                  <a:pt x="15246626" y="2484783"/>
                </a:cubicBezTo>
                <a:cubicBezTo>
                  <a:pt x="15432157" y="2670314"/>
                  <a:pt x="15173739" y="2464904"/>
                  <a:pt x="15385774" y="2623931"/>
                </a:cubicBezTo>
                <a:cubicBezTo>
                  <a:pt x="15399026" y="2650435"/>
                  <a:pt x="15410829" y="2677716"/>
                  <a:pt x="15425531" y="2703444"/>
                </a:cubicBezTo>
                <a:cubicBezTo>
                  <a:pt x="15457646" y="2759644"/>
                  <a:pt x="15574089" y="2906403"/>
                  <a:pt x="15584557" y="2922105"/>
                </a:cubicBezTo>
                <a:cubicBezTo>
                  <a:pt x="15624313" y="2981740"/>
                  <a:pt x="15646489" y="3058006"/>
                  <a:pt x="15703826" y="3101009"/>
                </a:cubicBezTo>
                <a:cubicBezTo>
                  <a:pt x="15730330" y="3120887"/>
                  <a:pt x="15756380" y="3141387"/>
                  <a:pt x="15783339" y="3160644"/>
                </a:cubicBezTo>
                <a:cubicBezTo>
                  <a:pt x="15802780" y="3174530"/>
                  <a:pt x="15825363" y="3184257"/>
                  <a:pt x="15842974" y="3200400"/>
                </a:cubicBezTo>
                <a:cubicBezTo>
                  <a:pt x="15905143" y="3257388"/>
                  <a:pt x="15948654" y="3337462"/>
                  <a:pt x="16021879" y="3379305"/>
                </a:cubicBezTo>
                <a:cubicBezTo>
                  <a:pt x="16068261" y="3405809"/>
                  <a:pt x="16117262" y="3428183"/>
                  <a:pt x="16161026" y="3458818"/>
                </a:cubicBezTo>
                <a:cubicBezTo>
                  <a:pt x="16184056" y="3474939"/>
                  <a:pt x="16197785" y="3502112"/>
                  <a:pt x="16220661" y="3518452"/>
                </a:cubicBezTo>
                <a:cubicBezTo>
                  <a:pt x="16244774" y="3535676"/>
                  <a:pt x="16276061" y="3540985"/>
                  <a:pt x="16300174" y="3558209"/>
                </a:cubicBezTo>
                <a:cubicBezTo>
                  <a:pt x="16323050" y="3574549"/>
                  <a:pt x="16336933" y="3601504"/>
                  <a:pt x="16359809" y="3617844"/>
                </a:cubicBezTo>
                <a:cubicBezTo>
                  <a:pt x="16415781" y="3657824"/>
                  <a:pt x="16454807" y="3661471"/>
                  <a:pt x="16518835" y="3677478"/>
                </a:cubicBezTo>
                <a:cubicBezTo>
                  <a:pt x="16538713" y="3690730"/>
                  <a:pt x="16563176" y="3698881"/>
                  <a:pt x="16578470" y="3717235"/>
                </a:cubicBezTo>
                <a:cubicBezTo>
                  <a:pt x="16624320" y="3772256"/>
                  <a:pt x="16644859" y="3903277"/>
                  <a:pt x="16657983" y="3955774"/>
                </a:cubicBezTo>
                <a:cubicBezTo>
                  <a:pt x="16664609" y="3982278"/>
                  <a:pt x="16662706" y="4012555"/>
                  <a:pt x="16677861" y="4035287"/>
                </a:cubicBezTo>
                <a:lnTo>
                  <a:pt x="16717618" y="4094922"/>
                </a:lnTo>
                <a:cubicBezTo>
                  <a:pt x="16764372" y="4328695"/>
                  <a:pt x="16732278" y="4230965"/>
                  <a:pt x="16797131" y="4393096"/>
                </a:cubicBezTo>
                <a:cubicBezTo>
                  <a:pt x="16790505" y="4572000"/>
                  <a:pt x="16787466" y="4751074"/>
                  <a:pt x="16777252" y="4929809"/>
                </a:cubicBezTo>
                <a:cubicBezTo>
                  <a:pt x="16774204" y="4983143"/>
                  <a:pt x="16766156" y="5036141"/>
                  <a:pt x="16757374" y="5088835"/>
                </a:cubicBezTo>
                <a:cubicBezTo>
                  <a:pt x="16752883" y="5115783"/>
                  <a:pt x="16752650" y="5145616"/>
                  <a:pt x="16737496" y="5168348"/>
                </a:cubicBezTo>
                <a:cubicBezTo>
                  <a:pt x="16723447" y="5189422"/>
                  <a:pt x="16612107" y="5240982"/>
                  <a:pt x="16598348" y="5247861"/>
                </a:cubicBezTo>
                <a:cubicBezTo>
                  <a:pt x="16585096" y="5267739"/>
                  <a:pt x="16573886" y="5289143"/>
                  <a:pt x="16558592" y="5307496"/>
                </a:cubicBezTo>
                <a:cubicBezTo>
                  <a:pt x="16527190" y="5345179"/>
                  <a:pt x="16483999" y="5384549"/>
                  <a:pt x="16439322" y="5406887"/>
                </a:cubicBezTo>
                <a:cubicBezTo>
                  <a:pt x="16420580" y="5416258"/>
                  <a:pt x="16399565" y="5420139"/>
                  <a:pt x="16379687" y="5426765"/>
                </a:cubicBezTo>
                <a:cubicBezTo>
                  <a:pt x="16294399" y="5597344"/>
                  <a:pt x="16392683" y="5433648"/>
                  <a:pt x="16280296" y="5546035"/>
                </a:cubicBezTo>
                <a:cubicBezTo>
                  <a:pt x="16171986" y="5654345"/>
                  <a:pt x="16274925" y="5607460"/>
                  <a:pt x="16161026" y="5645426"/>
                </a:cubicBezTo>
                <a:cubicBezTo>
                  <a:pt x="16141148" y="5658678"/>
                  <a:pt x="16122365" y="5673743"/>
                  <a:pt x="16101392" y="5685183"/>
                </a:cubicBezTo>
                <a:cubicBezTo>
                  <a:pt x="15854675" y="5819756"/>
                  <a:pt x="15948220" y="5764388"/>
                  <a:pt x="15564679" y="5784574"/>
                </a:cubicBezTo>
                <a:cubicBezTo>
                  <a:pt x="15544801" y="5791200"/>
                  <a:pt x="15525660" y="5800704"/>
                  <a:pt x="15505044" y="5804452"/>
                </a:cubicBezTo>
                <a:cubicBezTo>
                  <a:pt x="15374404" y="5828205"/>
                  <a:pt x="15162084" y="5836593"/>
                  <a:pt x="15047844" y="5844209"/>
                </a:cubicBezTo>
                <a:cubicBezTo>
                  <a:pt x="14870618" y="5888515"/>
                  <a:pt x="15039523" y="5851004"/>
                  <a:pt x="14709913" y="5883965"/>
                </a:cubicBezTo>
                <a:cubicBezTo>
                  <a:pt x="14663292" y="5888627"/>
                  <a:pt x="14617148" y="5897218"/>
                  <a:pt x="14570765" y="5903844"/>
                </a:cubicBezTo>
                <a:cubicBezTo>
                  <a:pt x="14317242" y="5988352"/>
                  <a:pt x="14581455" y="5906563"/>
                  <a:pt x="13914783" y="5943600"/>
                </a:cubicBezTo>
                <a:cubicBezTo>
                  <a:pt x="13874540" y="5945836"/>
                  <a:pt x="13835035" y="5955573"/>
                  <a:pt x="13795513" y="5963478"/>
                </a:cubicBezTo>
                <a:cubicBezTo>
                  <a:pt x="13732249" y="5976131"/>
                  <a:pt x="13674931" y="5993952"/>
                  <a:pt x="13616609" y="6023113"/>
                </a:cubicBezTo>
                <a:cubicBezTo>
                  <a:pt x="13595240" y="6033797"/>
                  <a:pt x="13576415" y="6048984"/>
                  <a:pt x="13556974" y="6062870"/>
                </a:cubicBezTo>
                <a:cubicBezTo>
                  <a:pt x="13530015" y="6082127"/>
                  <a:pt x="13502616" y="6100944"/>
                  <a:pt x="13477461" y="6122505"/>
                </a:cubicBezTo>
                <a:cubicBezTo>
                  <a:pt x="13456117" y="6140800"/>
                  <a:pt x="13441665" y="6167240"/>
                  <a:pt x="13417826" y="6182139"/>
                </a:cubicBezTo>
                <a:cubicBezTo>
                  <a:pt x="13387567" y="6201051"/>
                  <a:pt x="13350350" y="6205938"/>
                  <a:pt x="13318435" y="6221896"/>
                </a:cubicBezTo>
                <a:cubicBezTo>
                  <a:pt x="13283878" y="6239175"/>
                  <a:pt x="13252174" y="6261653"/>
                  <a:pt x="13219044" y="6281531"/>
                </a:cubicBezTo>
                <a:cubicBezTo>
                  <a:pt x="13205792" y="6314661"/>
                  <a:pt x="13202993" y="6354253"/>
                  <a:pt x="13179287" y="6380922"/>
                </a:cubicBezTo>
                <a:cubicBezTo>
                  <a:pt x="13147543" y="6416634"/>
                  <a:pt x="13093804" y="6426649"/>
                  <a:pt x="13060018" y="6460435"/>
                </a:cubicBezTo>
                <a:lnTo>
                  <a:pt x="13000383" y="6520070"/>
                </a:lnTo>
                <a:cubicBezTo>
                  <a:pt x="12993757" y="6546574"/>
                  <a:pt x="12988010" y="6573314"/>
                  <a:pt x="12980505" y="6599583"/>
                </a:cubicBezTo>
                <a:cubicBezTo>
                  <a:pt x="12974749" y="6619730"/>
                  <a:pt x="12964374" y="6638602"/>
                  <a:pt x="12960626" y="6659218"/>
                </a:cubicBezTo>
                <a:cubicBezTo>
                  <a:pt x="12915670" y="6906472"/>
                  <a:pt x="12966458" y="6741114"/>
                  <a:pt x="12920870" y="6877878"/>
                </a:cubicBezTo>
                <a:cubicBezTo>
                  <a:pt x="12955323" y="7015692"/>
                  <a:pt x="12927609" y="6939585"/>
                  <a:pt x="13040139" y="7116418"/>
                </a:cubicBezTo>
                <a:cubicBezTo>
                  <a:pt x="13052965" y="7136574"/>
                  <a:pt x="13079896" y="7176052"/>
                  <a:pt x="13079896" y="7176052"/>
                </a:cubicBezTo>
                <a:cubicBezTo>
                  <a:pt x="13093148" y="7229061"/>
                  <a:pt x="13102373" y="7283242"/>
                  <a:pt x="13119652" y="7335078"/>
                </a:cubicBezTo>
                <a:cubicBezTo>
                  <a:pt x="13126278" y="7354956"/>
                  <a:pt x="13124715" y="7379897"/>
                  <a:pt x="13139531" y="7394713"/>
                </a:cubicBezTo>
                <a:cubicBezTo>
                  <a:pt x="13160485" y="7415667"/>
                  <a:pt x="13193315" y="7419768"/>
                  <a:pt x="13219044" y="7434470"/>
                </a:cubicBezTo>
                <a:cubicBezTo>
                  <a:pt x="13239787" y="7446323"/>
                  <a:pt x="13258801" y="7460974"/>
                  <a:pt x="13278679" y="7474226"/>
                </a:cubicBezTo>
                <a:cubicBezTo>
                  <a:pt x="13285305" y="7494104"/>
                  <a:pt x="13298557" y="7512907"/>
                  <a:pt x="13298557" y="7533861"/>
                </a:cubicBezTo>
                <a:cubicBezTo>
                  <a:pt x="13298557" y="7600452"/>
                  <a:pt x="13293653" y="7667758"/>
                  <a:pt x="13278679" y="7732644"/>
                </a:cubicBezTo>
                <a:cubicBezTo>
                  <a:pt x="13273307" y="7755923"/>
                  <a:pt x="13257275" y="7776984"/>
                  <a:pt x="13238922" y="7792278"/>
                </a:cubicBezTo>
                <a:cubicBezTo>
                  <a:pt x="13216157" y="7811248"/>
                  <a:pt x="13186646" y="7820362"/>
                  <a:pt x="13159409" y="7832035"/>
                </a:cubicBezTo>
                <a:cubicBezTo>
                  <a:pt x="13119486" y="7849145"/>
                  <a:pt x="13060607" y="7861705"/>
                  <a:pt x="13020261" y="7871791"/>
                </a:cubicBezTo>
                <a:cubicBezTo>
                  <a:pt x="12934122" y="7865165"/>
                  <a:pt x="12847062" y="7866116"/>
                  <a:pt x="12761844" y="7851913"/>
                </a:cubicBezTo>
                <a:cubicBezTo>
                  <a:pt x="12726647" y="7846047"/>
                  <a:pt x="12696304" y="7823441"/>
                  <a:pt x="12662452" y="7812157"/>
                </a:cubicBezTo>
                <a:cubicBezTo>
                  <a:pt x="12636534" y="7803518"/>
                  <a:pt x="12609443" y="7798904"/>
                  <a:pt x="12582939" y="7792278"/>
                </a:cubicBezTo>
                <a:cubicBezTo>
                  <a:pt x="12576313" y="7818782"/>
                  <a:pt x="12590381" y="7871791"/>
                  <a:pt x="12563061" y="7871791"/>
                </a:cubicBezTo>
                <a:cubicBezTo>
                  <a:pt x="12525578" y="7871791"/>
                  <a:pt x="12511757" y="7816961"/>
                  <a:pt x="12483548" y="7792278"/>
                </a:cubicBezTo>
                <a:cubicBezTo>
                  <a:pt x="12458615" y="7770462"/>
                  <a:pt x="12432996" y="7748733"/>
                  <a:pt x="12404035" y="7732644"/>
                </a:cubicBezTo>
                <a:cubicBezTo>
                  <a:pt x="12321475" y="7686778"/>
                  <a:pt x="12299734" y="7704779"/>
                  <a:pt x="12225131" y="7653131"/>
                </a:cubicBezTo>
                <a:cubicBezTo>
                  <a:pt x="11817735" y="7371089"/>
                  <a:pt x="12180286" y="7628166"/>
                  <a:pt x="11986592" y="7434470"/>
                </a:cubicBezTo>
                <a:cubicBezTo>
                  <a:pt x="11969699" y="7417577"/>
                  <a:pt x="11947931" y="7406153"/>
                  <a:pt x="11926957" y="7394713"/>
                </a:cubicBezTo>
                <a:cubicBezTo>
                  <a:pt x="11874928" y="7366334"/>
                  <a:pt x="11767931" y="7315200"/>
                  <a:pt x="11767931" y="7315200"/>
                </a:cubicBezTo>
                <a:cubicBezTo>
                  <a:pt x="11754679" y="7295322"/>
                  <a:pt x="11738858" y="7276934"/>
                  <a:pt x="11728174" y="7255565"/>
                </a:cubicBezTo>
                <a:cubicBezTo>
                  <a:pt x="11718803" y="7236824"/>
                  <a:pt x="11720868" y="7212694"/>
                  <a:pt x="11708296" y="7195931"/>
                </a:cubicBezTo>
                <a:cubicBezTo>
                  <a:pt x="11634219" y="7097161"/>
                  <a:pt x="11611924" y="7107646"/>
                  <a:pt x="11529392" y="7036905"/>
                </a:cubicBezTo>
                <a:cubicBezTo>
                  <a:pt x="11508048" y="7018610"/>
                  <a:pt x="11490914" y="6995782"/>
                  <a:pt x="11469757" y="6977270"/>
                </a:cubicBezTo>
                <a:cubicBezTo>
                  <a:pt x="11398937" y="6915303"/>
                  <a:pt x="11318704" y="6854697"/>
                  <a:pt x="11231218" y="6818244"/>
                </a:cubicBezTo>
                <a:cubicBezTo>
                  <a:pt x="11200030" y="6805249"/>
                  <a:pt x="11164957" y="6804991"/>
                  <a:pt x="11131826" y="6798365"/>
                </a:cubicBezTo>
                <a:cubicBezTo>
                  <a:pt x="11018145" y="6684684"/>
                  <a:pt x="11132220" y="6786187"/>
                  <a:pt x="10992679" y="6698974"/>
                </a:cubicBezTo>
                <a:cubicBezTo>
                  <a:pt x="10964584" y="6681415"/>
                  <a:pt x="10942195" y="6655305"/>
                  <a:pt x="10913165" y="6639339"/>
                </a:cubicBezTo>
                <a:cubicBezTo>
                  <a:pt x="10809306" y="6582217"/>
                  <a:pt x="10701130" y="6533322"/>
                  <a:pt x="10595113" y="6480313"/>
                </a:cubicBezTo>
                <a:cubicBezTo>
                  <a:pt x="10568609" y="6467061"/>
                  <a:pt x="10545086" y="6443506"/>
                  <a:pt x="10515600" y="6440557"/>
                </a:cubicBezTo>
                <a:cubicBezTo>
                  <a:pt x="10276713" y="6416667"/>
                  <a:pt x="10382503" y="6431625"/>
                  <a:pt x="10197548" y="6400800"/>
                </a:cubicBezTo>
                <a:cubicBezTo>
                  <a:pt x="10031459" y="6414641"/>
                  <a:pt x="9974716" y="6400445"/>
                  <a:pt x="9839739" y="6460435"/>
                </a:cubicBezTo>
                <a:cubicBezTo>
                  <a:pt x="9817908" y="6470138"/>
                  <a:pt x="9800848" y="6488338"/>
                  <a:pt x="9780105" y="6500191"/>
                </a:cubicBezTo>
                <a:cubicBezTo>
                  <a:pt x="9754377" y="6514893"/>
                  <a:pt x="9724956" y="6523081"/>
                  <a:pt x="9700592" y="6539948"/>
                </a:cubicBezTo>
                <a:cubicBezTo>
                  <a:pt x="9638476" y="6582951"/>
                  <a:pt x="9587534" y="6642057"/>
                  <a:pt x="9521687" y="6679096"/>
                </a:cubicBezTo>
                <a:cubicBezTo>
                  <a:pt x="9479643" y="6702745"/>
                  <a:pt x="9428922" y="6705600"/>
                  <a:pt x="9382539" y="6718852"/>
                </a:cubicBezTo>
                <a:cubicBezTo>
                  <a:pt x="9329530" y="6751983"/>
                  <a:pt x="9282169" y="6796634"/>
                  <a:pt x="9223513" y="6818244"/>
                </a:cubicBezTo>
                <a:cubicBezTo>
                  <a:pt x="8835224" y="6961298"/>
                  <a:pt x="9162380" y="6729373"/>
                  <a:pt x="8825948" y="6977270"/>
                </a:cubicBezTo>
                <a:cubicBezTo>
                  <a:pt x="8757635" y="7027606"/>
                  <a:pt x="8690793" y="7080154"/>
                  <a:pt x="8627165" y="7136296"/>
                </a:cubicBezTo>
                <a:cubicBezTo>
                  <a:pt x="8577980" y="7179695"/>
                  <a:pt x="8540124" y="7235598"/>
                  <a:pt x="8488018" y="7275444"/>
                </a:cubicBezTo>
                <a:cubicBezTo>
                  <a:pt x="8041667" y="7616771"/>
                  <a:pt x="8484680" y="7214358"/>
                  <a:pt x="8169965" y="7494105"/>
                </a:cubicBezTo>
                <a:cubicBezTo>
                  <a:pt x="8113443" y="7544347"/>
                  <a:pt x="8116720" y="7560484"/>
                  <a:pt x="8050696" y="7593496"/>
                </a:cubicBezTo>
                <a:cubicBezTo>
                  <a:pt x="8018781" y="7609454"/>
                  <a:pt x="7983220" y="7617294"/>
                  <a:pt x="7951305" y="7633252"/>
                </a:cubicBezTo>
                <a:cubicBezTo>
                  <a:pt x="7873394" y="7672207"/>
                  <a:pt x="7885229" y="7707636"/>
                  <a:pt x="7772400" y="7712765"/>
                </a:cubicBezTo>
                <a:lnTo>
                  <a:pt x="7335079" y="7732644"/>
                </a:lnTo>
                <a:cubicBezTo>
                  <a:pt x="7173937" y="7709623"/>
                  <a:pt x="7145569" y="7695009"/>
                  <a:pt x="6957392" y="7732644"/>
                </a:cubicBezTo>
                <a:cubicBezTo>
                  <a:pt x="6933965" y="7737329"/>
                  <a:pt x="6917635" y="7759148"/>
                  <a:pt x="6897757" y="7772400"/>
                </a:cubicBezTo>
                <a:cubicBezTo>
                  <a:pt x="6864626" y="7838661"/>
                  <a:pt x="6812894" y="7898539"/>
                  <a:pt x="6798365" y="7971183"/>
                </a:cubicBezTo>
                <a:cubicBezTo>
                  <a:pt x="6791739" y="8004313"/>
                  <a:pt x="6793597" y="8040354"/>
                  <a:pt x="6778487" y="8070574"/>
                </a:cubicBezTo>
                <a:cubicBezTo>
                  <a:pt x="6765915" y="8095718"/>
                  <a:pt x="6738730" y="8110331"/>
                  <a:pt x="6718852" y="8130209"/>
                </a:cubicBezTo>
                <a:cubicBezTo>
                  <a:pt x="6683970" y="8304619"/>
                  <a:pt x="6735052" y="8171026"/>
                  <a:pt x="6579705" y="8309113"/>
                </a:cubicBezTo>
                <a:cubicBezTo>
                  <a:pt x="6444035" y="8429708"/>
                  <a:pt x="6601117" y="8351583"/>
                  <a:pt x="6460435" y="8507896"/>
                </a:cubicBezTo>
                <a:cubicBezTo>
                  <a:pt x="6401848" y="8572993"/>
                  <a:pt x="6352238" y="8583718"/>
                  <a:pt x="6281531" y="8607287"/>
                </a:cubicBezTo>
                <a:cubicBezTo>
                  <a:pt x="6261653" y="8627165"/>
                  <a:pt x="6246304" y="8652974"/>
                  <a:pt x="6221896" y="8666922"/>
                </a:cubicBezTo>
                <a:cubicBezTo>
                  <a:pt x="6198176" y="8680477"/>
                  <a:pt x="6167964" y="8677207"/>
                  <a:pt x="6142383" y="8686800"/>
                </a:cubicBezTo>
                <a:cubicBezTo>
                  <a:pt x="6114637" y="8697205"/>
                  <a:pt x="6090982" y="8717186"/>
                  <a:pt x="6062870" y="8726557"/>
                </a:cubicBezTo>
                <a:cubicBezTo>
                  <a:pt x="6030817" y="8737241"/>
                  <a:pt x="5995841" y="8736727"/>
                  <a:pt x="5963479" y="8746435"/>
                </a:cubicBezTo>
                <a:cubicBezTo>
                  <a:pt x="5929301" y="8756688"/>
                  <a:pt x="5898265" y="8775938"/>
                  <a:pt x="5864087" y="8786191"/>
                </a:cubicBezTo>
                <a:cubicBezTo>
                  <a:pt x="5831725" y="8795899"/>
                  <a:pt x="5797678" y="8798741"/>
                  <a:pt x="5764696" y="8806070"/>
                </a:cubicBezTo>
                <a:cubicBezTo>
                  <a:pt x="5738027" y="8811997"/>
                  <a:pt x="5711687" y="8819322"/>
                  <a:pt x="5685183" y="8825948"/>
                </a:cubicBezTo>
                <a:cubicBezTo>
                  <a:pt x="5565913" y="8812696"/>
                  <a:pt x="5446172" y="8803162"/>
                  <a:pt x="5327374" y="8786191"/>
                </a:cubicBezTo>
                <a:cubicBezTo>
                  <a:pt x="5306631" y="8783228"/>
                  <a:pt x="5288693" y="8766313"/>
                  <a:pt x="5267739" y="8766313"/>
                </a:cubicBezTo>
                <a:cubicBezTo>
                  <a:pt x="5246786" y="8766313"/>
                  <a:pt x="5228433" y="8781109"/>
                  <a:pt x="5208105" y="8786191"/>
                </a:cubicBezTo>
                <a:cubicBezTo>
                  <a:pt x="5095840" y="8814257"/>
                  <a:pt x="4982818" y="8839200"/>
                  <a:pt x="4870174" y="8865705"/>
                </a:cubicBezTo>
                <a:cubicBezTo>
                  <a:pt x="4830418" y="8885583"/>
                  <a:pt x="4789020" y="8902470"/>
                  <a:pt x="4750905" y="8925339"/>
                </a:cubicBezTo>
                <a:cubicBezTo>
                  <a:pt x="4679993" y="8967886"/>
                  <a:pt x="4653725" y="9014891"/>
                  <a:pt x="4572000" y="9044609"/>
                </a:cubicBezTo>
                <a:cubicBezTo>
                  <a:pt x="4534122" y="9058383"/>
                  <a:pt x="4492487" y="9057861"/>
                  <a:pt x="4452731" y="9064487"/>
                </a:cubicBezTo>
                <a:cubicBezTo>
                  <a:pt x="4209070" y="9219544"/>
                  <a:pt x="4311343" y="9164999"/>
                  <a:pt x="4154557" y="9243391"/>
                </a:cubicBezTo>
                <a:cubicBezTo>
                  <a:pt x="4101549" y="9296399"/>
                  <a:pt x="4072373" y="9335217"/>
                  <a:pt x="3995531" y="9362661"/>
                </a:cubicBezTo>
                <a:cubicBezTo>
                  <a:pt x="3938000" y="9383208"/>
                  <a:pt x="3876261" y="9389166"/>
                  <a:pt x="3816626" y="9402418"/>
                </a:cubicBezTo>
                <a:cubicBezTo>
                  <a:pt x="3677478" y="9395792"/>
                  <a:pt x="3537088" y="9402240"/>
                  <a:pt x="3399183" y="9382539"/>
                </a:cubicBezTo>
                <a:cubicBezTo>
                  <a:pt x="3349227" y="9375402"/>
                  <a:pt x="3307908" y="9338863"/>
                  <a:pt x="3260035" y="9322905"/>
                </a:cubicBezTo>
                <a:cubicBezTo>
                  <a:pt x="3208199" y="9305626"/>
                  <a:pt x="3154018" y="9296400"/>
                  <a:pt x="3101009" y="9283148"/>
                </a:cubicBezTo>
                <a:cubicBezTo>
                  <a:pt x="2902226" y="9296400"/>
                  <a:pt x="2703067" y="9304868"/>
                  <a:pt x="2504661" y="9322905"/>
                </a:cubicBezTo>
                <a:cubicBezTo>
                  <a:pt x="2483793" y="9324802"/>
                  <a:pt x="2465173" y="9337027"/>
                  <a:pt x="2445026" y="9342783"/>
                </a:cubicBezTo>
                <a:cubicBezTo>
                  <a:pt x="2418757" y="9350288"/>
                  <a:pt x="2392017" y="9356035"/>
                  <a:pt x="2365513" y="9362661"/>
                </a:cubicBezTo>
                <a:cubicBezTo>
                  <a:pt x="2055925" y="9517455"/>
                  <a:pt x="2367357" y="9379173"/>
                  <a:pt x="2007705" y="9481931"/>
                </a:cubicBezTo>
                <a:cubicBezTo>
                  <a:pt x="1979212" y="9490072"/>
                  <a:pt x="1956824" y="9514052"/>
                  <a:pt x="1928192" y="9521687"/>
                </a:cubicBezTo>
                <a:cubicBezTo>
                  <a:pt x="1856611" y="9540775"/>
                  <a:pt x="1782418" y="9548192"/>
                  <a:pt x="1709531" y="9561444"/>
                </a:cubicBezTo>
                <a:cubicBezTo>
                  <a:pt x="1595869" y="9637217"/>
                  <a:pt x="1695018" y="9583960"/>
                  <a:pt x="1490870" y="9621078"/>
                </a:cubicBezTo>
                <a:cubicBezTo>
                  <a:pt x="1470254" y="9624826"/>
                  <a:pt x="1451382" y="9635201"/>
                  <a:pt x="1431235" y="9640957"/>
                </a:cubicBezTo>
                <a:cubicBezTo>
                  <a:pt x="1356038" y="9662442"/>
                  <a:pt x="1376436" y="9660835"/>
                  <a:pt x="1331844" y="9660835"/>
                </a:cubicBezTo>
                <a:lnTo>
                  <a:pt x="755374" y="9700591"/>
                </a:lnTo>
                <a:cubicBezTo>
                  <a:pt x="608601" y="9805430"/>
                  <a:pt x="656531" y="9759678"/>
                  <a:pt x="596348" y="9819861"/>
                </a:cubicBezTo>
                <a:lnTo>
                  <a:pt x="556592" y="9819861"/>
                </a:lnTo>
                <a:lnTo>
                  <a:pt x="496957" y="9660835"/>
                </a:lnTo>
                <a:lnTo>
                  <a:pt x="0" y="987949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38127" y="46226"/>
            <a:ext cx="18516242" cy="10713806"/>
            <a:chOff x="0" y="-47625"/>
            <a:chExt cx="4876706" cy="112732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60114" y="-4864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324600" y="619563"/>
            <a:ext cx="4724400" cy="109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Team Members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785709" y="95631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8303999" y="980984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64739F59-B0F1-40B7-A70F-3BF3083DDECE}"/>
              </a:ext>
            </a:extLst>
          </p:cNvPr>
          <p:cNvSpPr/>
          <p:nvPr/>
        </p:nvSpPr>
        <p:spPr>
          <a:xfrm>
            <a:off x="239869" y="1395836"/>
            <a:ext cx="2665865" cy="2763868"/>
          </a:xfrm>
          <a:prstGeom prst="foldedCorner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FCB26D6E-F8EC-45F2-BFA0-26C5E3565C9A}"/>
              </a:ext>
            </a:extLst>
          </p:cNvPr>
          <p:cNvSpPr/>
          <p:nvPr/>
        </p:nvSpPr>
        <p:spPr>
          <a:xfrm>
            <a:off x="239870" y="4381499"/>
            <a:ext cx="2665864" cy="2763867"/>
          </a:xfrm>
          <a:prstGeom prst="foldedCorner">
            <a:avLst/>
          </a:prstGeom>
          <a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Folded Corner 20">
            <a:extLst>
              <a:ext uri="{FF2B5EF4-FFF2-40B4-BE49-F238E27FC236}">
                <a16:creationId xmlns:a16="http://schemas.microsoft.com/office/drawing/2014/main" id="{1BB1FD2B-7A1C-4CAD-A6C2-CCAFDC05F6CE}"/>
              </a:ext>
            </a:extLst>
          </p:cNvPr>
          <p:cNvSpPr/>
          <p:nvPr/>
        </p:nvSpPr>
        <p:spPr>
          <a:xfrm>
            <a:off x="239869" y="7365387"/>
            <a:ext cx="2571719" cy="2444460"/>
          </a:xfrm>
          <a:prstGeom prst="foldedCorner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553D7EC1-0DB7-4954-8814-0937B2EFC7D0}"/>
              </a:ext>
            </a:extLst>
          </p:cNvPr>
          <p:cNvSpPr/>
          <p:nvPr/>
        </p:nvSpPr>
        <p:spPr>
          <a:xfrm>
            <a:off x="14912952" y="1545176"/>
            <a:ext cx="2449024" cy="2580119"/>
          </a:xfrm>
          <a:prstGeom prst="foldedCorner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6F83A43C-0F4B-4AB3-BB88-DCEEA7E2BD21}"/>
              </a:ext>
            </a:extLst>
          </p:cNvPr>
          <p:cNvSpPr/>
          <p:nvPr/>
        </p:nvSpPr>
        <p:spPr>
          <a:xfrm>
            <a:off x="14842240" y="4381499"/>
            <a:ext cx="2519736" cy="2409343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Folded Corner 24">
            <a:extLst>
              <a:ext uri="{FF2B5EF4-FFF2-40B4-BE49-F238E27FC236}">
                <a16:creationId xmlns:a16="http://schemas.microsoft.com/office/drawing/2014/main" id="{D99CE4D4-99A7-4F08-99D1-BA28F2016E39}"/>
              </a:ext>
            </a:extLst>
          </p:cNvPr>
          <p:cNvSpPr/>
          <p:nvPr/>
        </p:nvSpPr>
        <p:spPr>
          <a:xfrm>
            <a:off x="14912951" y="7118631"/>
            <a:ext cx="2449025" cy="269121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B7818-8166-4627-8B33-FB00480C4588}"/>
              </a:ext>
            </a:extLst>
          </p:cNvPr>
          <p:cNvSpPr txBox="1"/>
          <p:nvPr/>
        </p:nvSpPr>
        <p:spPr>
          <a:xfrm>
            <a:off x="2638161" y="2214051"/>
            <a:ext cx="4363850" cy="707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.Ma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Shoon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Lae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Wai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FE122A-16F6-4E88-9A10-0F5125D6AB1D}"/>
              </a:ext>
            </a:extLst>
          </p:cNvPr>
          <p:cNvSpPr txBox="1"/>
          <p:nvPr/>
        </p:nvSpPr>
        <p:spPr>
          <a:xfrm>
            <a:off x="2905736" y="5110179"/>
            <a:ext cx="4561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.Ma Shar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Thet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Han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2749F6-88D1-4C62-BC08-BD3FE3DC5EB1}"/>
              </a:ext>
            </a:extLst>
          </p:cNvPr>
          <p:cNvSpPr txBox="1"/>
          <p:nvPr/>
        </p:nvSpPr>
        <p:spPr>
          <a:xfrm>
            <a:off x="2905736" y="7719015"/>
            <a:ext cx="4561864" cy="70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.Ma Aye Nyein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Phyo</a:t>
            </a:r>
            <a:endParaRPr lang="en-US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24DF49-86B5-4DFB-9562-151A08F597F7}"/>
              </a:ext>
            </a:extLst>
          </p:cNvPr>
          <p:cNvSpPr txBox="1"/>
          <p:nvPr/>
        </p:nvSpPr>
        <p:spPr>
          <a:xfrm>
            <a:off x="9144000" y="5330310"/>
            <a:ext cx="5339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Ma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Khain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Htike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Htar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Oo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AAD53E-6110-450F-B574-DD51195F02F7}"/>
              </a:ext>
            </a:extLst>
          </p:cNvPr>
          <p:cNvSpPr txBox="1"/>
          <p:nvPr/>
        </p:nvSpPr>
        <p:spPr>
          <a:xfrm>
            <a:off x="8303999" y="2143962"/>
            <a:ext cx="5869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Ma Yoon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Darli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Win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Maung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40A819-3D53-4E12-B3B6-349669C0E5C2}"/>
              </a:ext>
            </a:extLst>
          </p:cNvPr>
          <p:cNvSpPr txBox="1"/>
          <p:nvPr/>
        </p:nvSpPr>
        <p:spPr>
          <a:xfrm>
            <a:off x="10591800" y="7888283"/>
            <a:ext cx="4070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Mg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Htet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Yan Aung.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1" grpId="0" animBg="1"/>
      <p:bldP spid="23" grpId="0" animBg="1"/>
      <p:bldP spid="6" grpId="0"/>
      <p:bldP spid="7" grpId="0"/>
      <p:bldP spid="27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gonal Stripe 7">
            <a:extLst>
              <a:ext uri="{FF2B5EF4-FFF2-40B4-BE49-F238E27FC236}">
                <a16:creationId xmlns:a16="http://schemas.microsoft.com/office/drawing/2014/main" id="{B8813444-B181-45AB-88A7-95B91C1A147C}"/>
              </a:ext>
            </a:extLst>
          </p:cNvPr>
          <p:cNvSpPr/>
          <p:nvPr/>
        </p:nvSpPr>
        <p:spPr>
          <a:xfrm>
            <a:off x="8724" y="-1"/>
            <a:ext cx="11954676" cy="11010827"/>
          </a:xfrm>
          <a:prstGeom prst="diagStrip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2FE85C-D40A-4846-95DC-164F68BD4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1" y="1316051"/>
            <a:ext cx="9220200" cy="75612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2" name="TextBox 2"/>
          <p:cNvSpPr txBox="1"/>
          <p:nvPr/>
        </p:nvSpPr>
        <p:spPr>
          <a:xfrm>
            <a:off x="609601" y="3365891"/>
            <a:ext cx="7924800" cy="4682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079"/>
              </a:lnSpc>
            </a:pPr>
            <a:r>
              <a:rPr lang="en-US" sz="2400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ffffffffffffffffffon</a:t>
            </a:r>
            <a:r>
              <a:rPr lang="en-US" sz="24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3429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6128278" y="9334500"/>
            <a:ext cx="6492240" cy="0"/>
          </a:xfrm>
          <a:prstGeom prst="line">
            <a:avLst/>
          </a:prstGeom>
          <a:ln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5" name="Freeform 5"/>
          <p:cNvSpPr/>
          <p:nvPr/>
        </p:nvSpPr>
        <p:spPr>
          <a:xfrm>
            <a:off x="8304001" y="70452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99709"/>
            <a:ext cx="8048163" cy="109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Periodic Table</a:t>
            </a:r>
          </a:p>
        </p:txBody>
      </p:sp>
      <p:sp>
        <p:nvSpPr>
          <p:cNvPr id="7" name="Freeform 7"/>
          <p:cNvSpPr/>
          <p:nvPr/>
        </p:nvSpPr>
        <p:spPr>
          <a:xfrm>
            <a:off x="8534400" y="9582474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87200" y="190499"/>
            <a:ext cx="6400801" cy="10096501"/>
            <a:chOff x="0" y="0"/>
            <a:chExt cx="1104621" cy="2705159"/>
          </a:xfrm>
          <a:solidFill>
            <a:schemeClr val="accent5">
              <a:lumMod val="75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solidFill>
              <a:schemeClr val="bg2"/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 dirty="0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8974931"/>
            <a:ext cx="1905000" cy="283369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1" y="599709"/>
            <a:ext cx="2476499" cy="10990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Tables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699" y="3386083"/>
            <a:ext cx="6938067" cy="468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9"/>
              </a:lnSpc>
            </a:pPr>
            <a:r>
              <a:rPr lang="en-US" sz="2400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ggggggggggggggggggg</a:t>
            </a:r>
            <a:endParaRPr lang="en-US" sz="2400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FE415A46-EA47-4A2B-8337-4463596EE576}"/>
              </a:ext>
            </a:extLst>
          </p:cNvPr>
          <p:cNvSpPr/>
          <p:nvPr/>
        </p:nvSpPr>
        <p:spPr>
          <a:xfrm>
            <a:off x="9753600" y="1638246"/>
            <a:ext cx="7772400" cy="6553200"/>
          </a:xfrm>
          <a:prstGeom prst="wedgeRectCallou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A1892E7-5DE2-4C0A-BC35-F87B39B29EDF}"/>
              </a:ext>
            </a:extLst>
          </p:cNvPr>
          <p:cNvSpPr/>
          <p:nvPr/>
        </p:nvSpPr>
        <p:spPr>
          <a:xfrm>
            <a:off x="0" y="963909"/>
            <a:ext cx="18288000" cy="107038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utoShape 4"/>
          <p:cNvSpPr/>
          <p:nvPr/>
        </p:nvSpPr>
        <p:spPr>
          <a:xfrm>
            <a:off x="13258800" y="342900"/>
            <a:ext cx="4346753" cy="0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219200" y="10020300"/>
            <a:ext cx="4716390" cy="0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4343400" y="36506"/>
            <a:ext cx="7848600" cy="109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Element table structure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24384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7D3121-E61A-4CA0-8A37-A362BAF79C4A}"/>
              </a:ext>
            </a:extLst>
          </p:cNvPr>
          <p:cNvSpPr/>
          <p:nvPr/>
        </p:nvSpPr>
        <p:spPr>
          <a:xfrm>
            <a:off x="304800" y="1526992"/>
            <a:ext cx="17602200" cy="97570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odoni MT Black" panose="02070A030806060202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08022E-4825-4F26-9729-04165C0EA086}"/>
              </a:ext>
            </a:extLst>
          </p:cNvPr>
          <p:cNvSpPr txBox="1"/>
          <p:nvPr/>
        </p:nvSpPr>
        <p:spPr>
          <a:xfrm>
            <a:off x="1265387" y="3014993"/>
            <a:ext cx="4997442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+mj-lt"/>
              </a:rPr>
              <a:t>element_id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-name</a:t>
            </a:r>
          </a:p>
          <a:p>
            <a:r>
              <a:rPr lang="en-US" sz="2800" dirty="0">
                <a:latin typeface="+mj-lt"/>
              </a:rPr>
              <a:t>-symbol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atomic_number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atomic_mass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-period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group_id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-block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electron_configuration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state_at_stp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melting_point_k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boiling_point_k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-density_g_cm3  </a:t>
            </a:r>
          </a:p>
          <a:p>
            <a:r>
              <a:rPr lang="en-US" sz="2800" dirty="0">
                <a:latin typeface="+mj-lt"/>
              </a:rPr>
              <a:t>-electronegativity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ionization_energy_kj_mol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electron_affinity_kj_mol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-description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category_id</a:t>
            </a:r>
            <a:r>
              <a:rPr lang="en-US" sz="2800" dirty="0">
                <a:latin typeface="+mj-lt"/>
              </a:rPr>
              <a:t>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9CF4D7-C818-4825-9063-B238EC454F25}"/>
              </a:ext>
            </a:extLst>
          </p:cNvPr>
          <p:cNvSpPr txBox="1"/>
          <p:nvPr/>
        </p:nvSpPr>
        <p:spPr>
          <a:xfrm>
            <a:off x="1024384" y="2019301"/>
            <a:ext cx="3684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Rounded MT Bold" panose="020F0704030504030204" pitchFamily="34" charset="0"/>
              </a:rPr>
              <a:t>Columns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9ED063-CEEA-4DBE-8CC5-18A8A2231C02}"/>
              </a:ext>
            </a:extLst>
          </p:cNvPr>
          <p:cNvSpPr txBox="1"/>
          <p:nvPr/>
        </p:nvSpPr>
        <p:spPr>
          <a:xfrm rot="10800000" flipH="1" flipV="1">
            <a:off x="6223268" y="2821904"/>
            <a:ext cx="5389613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INT  </a:t>
            </a:r>
          </a:p>
          <a:p>
            <a:r>
              <a:rPr lang="es-ES" sz="2800" dirty="0"/>
              <a:t>VARCHAR(50)  </a:t>
            </a:r>
          </a:p>
          <a:p>
            <a:r>
              <a:rPr lang="es-ES" sz="2800" dirty="0"/>
              <a:t>VARCHAR(3)  </a:t>
            </a:r>
          </a:p>
          <a:p>
            <a:r>
              <a:rPr lang="es-ES" sz="2800" dirty="0"/>
              <a:t>INT  </a:t>
            </a:r>
          </a:p>
          <a:p>
            <a:r>
              <a:rPr lang="es-ES" sz="2800" dirty="0"/>
              <a:t>DECIMAL(10, 5)  </a:t>
            </a:r>
          </a:p>
          <a:p>
            <a:r>
              <a:rPr lang="es-ES" sz="2800" dirty="0"/>
              <a:t>INT  </a:t>
            </a:r>
          </a:p>
          <a:p>
            <a:r>
              <a:rPr lang="es-ES" sz="2800" dirty="0"/>
              <a:t>INT  </a:t>
            </a:r>
          </a:p>
          <a:p>
            <a:r>
              <a:rPr lang="es-ES" sz="2800" dirty="0"/>
              <a:t>VARCHAR(1)  </a:t>
            </a:r>
          </a:p>
          <a:p>
            <a:r>
              <a:rPr lang="es-ES" sz="2800" dirty="0"/>
              <a:t>VARCHAR(255)  </a:t>
            </a:r>
          </a:p>
          <a:p>
            <a:r>
              <a:rPr lang="es-ES" sz="2800" dirty="0"/>
              <a:t>VARCHAR(20)  </a:t>
            </a:r>
          </a:p>
          <a:p>
            <a:r>
              <a:rPr lang="es-ES" sz="2800" dirty="0"/>
              <a:t>DECIMAL(8, 2)  </a:t>
            </a:r>
          </a:p>
          <a:p>
            <a:r>
              <a:rPr lang="es-ES" sz="2800" dirty="0"/>
              <a:t>DECIMAL(8, 2)  </a:t>
            </a:r>
          </a:p>
          <a:p>
            <a:r>
              <a:rPr lang="es-ES" sz="2800" dirty="0"/>
              <a:t>DECIMAL(8, 4)  </a:t>
            </a:r>
          </a:p>
          <a:p>
            <a:r>
              <a:rPr lang="es-ES" sz="2800" dirty="0"/>
              <a:t>DECIMAL(4, 2)  </a:t>
            </a:r>
          </a:p>
          <a:p>
            <a:r>
              <a:rPr lang="es-ES" sz="2800" dirty="0"/>
              <a:t>DECIMAL(8, 2)  </a:t>
            </a:r>
          </a:p>
          <a:p>
            <a:r>
              <a:rPr lang="es-ES" sz="2800" dirty="0"/>
              <a:t>DECIMAL(8, 2)  </a:t>
            </a:r>
          </a:p>
          <a:p>
            <a:r>
              <a:rPr lang="es-ES" sz="2800" dirty="0"/>
              <a:t>TEXT  </a:t>
            </a:r>
          </a:p>
          <a:p>
            <a:r>
              <a:rPr lang="es-ES" sz="2800" dirty="0"/>
              <a:t>INT </a:t>
            </a:r>
            <a:endParaRPr lang="en-US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9B173A-BDC3-4D1A-8201-6A9D831EC2FD}"/>
              </a:ext>
            </a:extLst>
          </p:cNvPr>
          <p:cNvSpPr txBox="1"/>
          <p:nvPr/>
        </p:nvSpPr>
        <p:spPr>
          <a:xfrm>
            <a:off x="6216640" y="1920930"/>
            <a:ext cx="3684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Rounded MT Bold" panose="020F0704030504030204" pitchFamily="34" charset="0"/>
              </a:rPr>
              <a:t>Data Type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47C9CA-E2F2-4FBE-B3F0-14F12110FEC9}"/>
              </a:ext>
            </a:extLst>
          </p:cNvPr>
          <p:cNvSpPr txBox="1"/>
          <p:nvPr/>
        </p:nvSpPr>
        <p:spPr>
          <a:xfrm>
            <a:off x="10363200" y="2821904"/>
            <a:ext cx="6287660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AUTO_INCREMENT PRIMARY KEY  </a:t>
            </a:r>
          </a:p>
          <a:p>
            <a:r>
              <a:rPr lang="en-US" sz="2800" dirty="0"/>
              <a:t>UNIQUE NOT NULL  </a:t>
            </a:r>
          </a:p>
          <a:p>
            <a:r>
              <a:rPr lang="en-US" sz="2800" dirty="0"/>
              <a:t>UNIQUE NOT NULL  </a:t>
            </a:r>
          </a:p>
          <a:p>
            <a:r>
              <a:rPr lang="en-US" sz="2800" dirty="0"/>
              <a:t>UNIQUE NOT NULL  </a:t>
            </a:r>
          </a:p>
          <a:p>
            <a:r>
              <a:rPr lang="en-US" sz="2800" dirty="0"/>
              <a:t>NOT NULL  </a:t>
            </a:r>
          </a:p>
          <a:p>
            <a:r>
              <a:rPr lang="en-US" sz="2800" dirty="0"/>
              <a:t>NOT NULL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FOREIGN KEY (</a:t>
            </a:r>
            <a:r>
              <a:rPr lang="en-US" sz="2800" dirty="0" err="1"/>
              <a:t>category_id</a:t>
            </a:r>
            <a:r>
              <a:rPr lang="en-US" sz="2800" dirty="0"/>
              <a:t>) REFERENCES </a:t>
            </a:r>
            <a:r>
              <a:rPr lang="en-US" sz="2800" dirty="0" err="1"/>
              <a:t>element_categories</a:t>
            </a:r>
            <a:r>
              <a:rPr lang="en-US" sz="2800" dirty="0"/>
              <a:t>(</a:t>
            </a:r>
            <a:r>
              <a:rPr lang="en-US" sz="2800" dirty="0" err="1"/>
              <a:t>category_id</a:t>
            </a:r>
            <a:r>
              <a:rPr lang="en-US" sz="2800" dirty="0"/>
              <a:t>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8BEDFA-83D9-45E5-9F02-EC72D9DE198C}"/>
              </a:ext>
            </a:extLst>
          </p:cNvPr>
          <p:cNvSpPr txBox="1"/>
          <p:nvPr/>
        </p:nvSpPr>
        <p:spPr>
          <a:xfrm>
            <a:off x="10516548" y="1931067"/>
            <a:ext cx="6134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Rounded MT Bold" panose="020F0704030504030204" pitchFamily="34" charset="0"/>
              </a:rPr>
              <a:t>Constrains/Description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l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4">
            <a:extLst>
              <a:ext uri="{FF2B5EF4-FFF2-40B4-BE49-F238E27FC236}">
                <a16:creationId xmlns:a16="http://schemas.microsoft.com/office/drawing/2014/main" id="{368755D0-0299-414A-BCDA-F2D3452F86FD}"/>
              </a:ext>
            </a:extLst>
          </p:cNvPr>
          <p:cNvGrpSpPr/>
          <p:nvPr/>
        </p:nvGrpSpPr>
        <p:grpSpPr>
          <a:xfrm>
            <a:off x="8492080" y="462169"/>
            <a:ext cx="9838239" cy="10287000"/>
            <a:chOff x="0" y="0"/>
            <a:chExt cx="2591141" cy="2709333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D6570B5-9233-4C66-A63F-4613CD38EB60}"/>
                </a:ext>
              </a:extLst>
            </p:cNvPr>
            <p:cNvSpPr/>
            <p:nvPr/>
          </p:nvSpPr>
          <p:spPr>
            <a:xfrm>
              <a:off x="0" y="0"/>
              <a:ext cx="2591141" cy="2709333"/>
            </a:xfrm>
            <a:custGeom>
              <a:avLst/>
              <a:gdLst/>
              <a:ahLst/>
              <a:cxnLst/>
              <a:rect l="l" t="t" r="r" b="b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FDC38ED0-1BEC-4184-BC8F-7822C5AB3E63}"/>
                </a:ext>
              </a:extLst>
            </p:cNvPr>
            <p:cNvSpPr txBox="1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7" name="Scroll: Vertical 6">
            <a:extLst>
              <a:ext uri="{FF2B5EF4-FFF2-40B4-BE49-F238E27FC236}">
                <a16:creationId xmlns:a16="http://schemas.microsoft.com/office/drawing/2014/main" id="{54486860-F3E1-400F-9768-80EC03BE0652}"/>
              </a:ext>
            </a:extLst>
          </p:cNvPr>
          <p:cNvSpPr/>
          <p:nvPr/>
        </p:nvSpPr>
        <p:spPr>
          <a:xfrm>
            <a:off x="7854802" y="1943117"/>
            <a:ext cx="10363200" cy="7245334"/>
          </a:xfrm>
          <a:prstGeom prst="verticalScroll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C5BF09-55DF-443A-ADF5-F5528468F453}"/>
              </a:ext>
            </a:extLst>
          </p:cNvPr>
          <p:cNvSpPr txBox="1"/>
          <p:nvPr/>
        </p:nvSpPr>
        <p:spPr>
          <a:xfrm>
            <a:off x="0" y="181844"/>
            <a:ext cx="1417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6000" dirty="0">
                <a:solidFill>
                  <a:schemeClr val="tx2">
                    <a:lumMod val="50000"/>
                  </a:schemeClr>
                </a:solidFill>
                <a:latin typeface="Arial Rounded MT Bold" panose="020F0704030504030204" pitchFamily="34" charset="0"/>
              </a:rPr>
              <a:t> Insert data in element table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BABE9E-E5E4-4AAC-9B7A-2C291D77A84B}"/>
              </a:ext>
            </a:extLst>
          </p:cNvPr>
          <p:cNvSpPr txBox="1"/>
          <p:nvPr/>
        </p:nvSpPr>
        <p:spPr>
          <a:xfrm>
            <a:off x="8895907" y="3110772"/>
            <a:ext cx="83439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INSERT INTO elements (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name, symbol,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atomic_number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atomic_mass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 period,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group_id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 block,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electron_configuration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state_at_stp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melting_point_k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boiling_point_k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density_g_cm3, electronegativity,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ionization_energy_kj_mol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electron_affinity_kj_mol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 description,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category_id</a:t>
            </a:r>
            <a:endParaRPr lang="en-US" sz="24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) VALUES</a:t>
            </a:r>
          </a:p>
          <a:p>
            <a:endParaRPr lang="en-US" sz="24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(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'Hydrogen', 'H', 1, 1.00784, 1, 1, 's',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'1s1', 'gas', 13.99, 20.27,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0.00008988, 2.20, 1312.00,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72.8, 'Lightest element, essential in water and organic compounds.', 1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);</a:t>
            </a: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7CBB4F-53AC-4729-9DED-18A070506999}"/>
              </a:ext>
            </a:extLst>
          </p:cNvPr>
          <p:cNvSpPr/>
          <p:nvPr/>
        </p:nvSpPr>
        <p:spPr>
          <a:xfrm>
            <a:off x="609600" y="1060451"/>
            <a:ext cx="12192000" cy="8128000"/>
          </a:xfrm>
          <a:prstGeom prst="rect">
            <a:avLst/>
          </a:prstGeom>
        </p:spPr>
        <p:txBody>
          <a:bodyPr/>
          <a:lstStyle/>
          <a:p>
            <a:pPr lvl="0">
              <a:buChar char="•"/>
            </a:pPr>
            <a:endParaRPr lang="en-US" dirty="0"/>
          </a:p>
          <a:p>
            <a:pPr lvl="0">
              <a:buChar char="•"/>
            </a:pPr>
            <a:endParaRPr lang="en-US" dirty="0"/>
          </a:p>
          <a:p>
            <a:pPr lvl="0">
              <a:buChar char="•"/>
            </a:pPr>
            <a:endParaRPr lang="en-US" dirty="0"/>
          </a:p>
          <a:p>
            <a:pPr lvl="0">
              <a:buChar char="•"/>
            </a:pP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08A05E-3278-4D86-BB04-9912793AF74A}"/>
              </a:ext>
            </a:extLst>
          </p:cNvPr>
          <p:cNvSpPr txBox="1"/>
          <p:nvPr/>
        </p:nvSpPr>
        <p:spPr>
          <a:xfrm>
            <a:off x="8686800" y="469126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D0C3ED-869F-4F97-A3B4-7AB52EB6FB58}"/>
              </a:ext>
            </a:extLst>
          </p:cNvPr>
          <p:cNvSpPr/>
          <p:nvPr/>
        </p:nvSpPr>
        <p:spPr>
          <a:xfrm>
            <a:off x="1028700" y="1816100"/>
            <a:ext cx="6134100" cy="31736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0B49BA-0C09-4D72-A6DF-F5AE3D968E11}"/>
              </a:ext>
            </a:extLst>
          </p:cNvPr>
          <p:cNvSpPr/>
          <p:nvPr/>
        </p:nvSpPr>
        <p:spPr>
          <a:xfrm>
            <a:off x="961360" y="5675519"/>
            <a:ext cx="6268779" cy="31736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091622" y="449418"/>
            <a:ext cx="10196377" cy="9837579"/>
            <a:chOff x="0" y="0"/>
            <a:chExt cx="2591141" cy="270933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2591141" cy="2709333"/>
            </a:xfrm>
            <a:custGeom>
              <a:avLst/>
              <a:gdLst/>
              <a:ahLst/>
              <a:cxnLst/>
              <a:rect l="l" t="t" r="r" b="b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861786" y="0"/>
            <a:ext cx="9480749" cy="112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7200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Insert data in all tables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57200" y="9879252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1013768" y="224709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8E6CBB21-44F1-41E8-92C5-7827584503E2}"/>
              </a:ext>
            </a:extLst>
          </p:cNvPr>
          <p:cNvSpPr txBox="1"/>
          <p:nvPr/>
        </p:nvSpPr>
        <p:spPr>
          <a:xfrm>
            <a:off x="8602161" y="-317748"/>
            <a:ext cx="9838239" cy="1075714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079"/>
              </a:lnSpc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AA7EE5-E43E-49D2-8375-619668CDCF2C}"/>
              </a:ext>
            </a:extLst>
          </p:cNvPr>
          <p:cNvSpPr txBox="1"/>
          <p:nvPr/>
        </p:nvSpPr>
        <p:spPr>
          <a:xfrm rot="10800000" flipH="1" flipV="1">
            <a:off x="29657" y="2173978"/>
            <a:ext cx="84531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INSERT INTO Isotopes (</a:t>
            </a:r>
            <a:r>
              <a:rPr lang="en-US" sz="3200" dirty="0" err="1"/>
              <a:t>element_id</a:t>
            </a:r>
            <a:r>
              <a:rPr lang="en-US" sz="3200" dirty="0"/>
              <a:t>, </a:t>
            </a:r>
            <a:r>
              <a:rPr lang="en-US" sz="3200" dirty="0" err="1"/>
              <a:t>mass_number</a:t>
            </a:r>
            <a:r>
              <a:rPr lang="en-US" sz="3200" dirty="0"/>
              <a:t>, symbol, </a:t>
            </a:r>
            <a:r>
              <a:rPr lang="en-US" sz="3200" dirty="0" err="1"/>
              <a:t>natural_abundance</a:t>
            </a:r>
            <a:r>
              <a:rPr lang="en-US" sz="3200" dirty="0"/>
              <a:t>, </a:t>
            </a:r>
            <a:r>
              <a:rPr lang="en-US" sz="3200" dirty="0" err="1"/>
              <a:t>half_life_days</a:t>
            </a:r>
            <a:r>
              <a:rPr lang="en-US" sz="3200" dirty="0"/>
              <a:t>, </a:t>
            </a:r>
            <a:r>
              <a:rPr lang="en-US" sz="3200" dirty="0" err="1"/>
              <a:t>decay_mode</a:t>
            </a:r>
            <a:r>
              <a:rPr lang="en-US" sz="3200" dirty="0"/>
              <a:t>, </a:t>
            </a:r>
            <a:r>
              <a:rPr lang="en-US" sz="3200" dirty="0" err="1"/>
              <a:t>is_radioactive</a:t>
            </a:r>
            <a:r>
              <a:rPr lang="en-US" sz="3200" dirty="0"/>
              <a:t>) VALUES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EA4906-43F8-4CB0-9A6A-602C6E3D1EEC}"/>
              </a:ext>
            </a:extLst>
          </p:cNvPr>
          <p:cNvSpPr txBox="1"/>
          <p:nvPr/>
        </p:nvSpPr>
        <p:spPr>
          <a:xfrm>
            <a:off x="265814" y="1324183"/>
            <a:ext cx="381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ahnschrift SemiBold" panose="020B0502040204020203" pitchFamily="34" charset="0"/>
              </a:rPr>
              <a:t>Isotopes table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515F5B-1BCC-4F87-B08F-9729F60229B2}"/>
              </a:ext>
            </a:extLst>
          </p:cNvPr>
          <p:cNvSpPr txBox="1"/>
          <p:nvPr/>
        </p:nvSpPr>
        <p:spPr>
          <a:xfrm>
            <a:off x="9296400" y="2768585"/>
            <a:ext cx="7467600" cy="3822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BD7D3E-65C6-4B3F-8829-22DE19E51346}"/>
              </a:ext>
            </a:extLst>
          </p:cNvPr>
          <p:cNvSpPr txBox="1"/>
          <p:nvPr/>
        </p:nvSpPr>
        <p:spPr>
          <a:xfrm>
            <a:off x="8410027" y="2093624"/>
            <a:ext cx="9612159" cy="2636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INSERT INTO </a:t>
            </a:r>
            <a:r>
              <a:rPr lang="en-US" sz="3200" dirty="0" err="1"/>
              <a:t>element_categories</a:t>
            </a:r>
            <a:r>
              <a:rPr lang="en-US" sz="3200" dirty="0"/>
              <a:t> (</a:t>
            </a:r>
            <a:r>
              <a:rPr lang="en-US" sz="3200" dirty="0" err="1"/>
              <a:t>category_name</a:t>
            </a:r>
            <a:r>
              <a:rPr lang="en-US" sz="3200" dirty="0"/>
              <a:t>, </a:t>
            </a:r>
            <a:r>
              <a:rPr lang="en-US" sz="3200" dirty="0" err="1"/>
              <a:t>category_description</a:t>
            </a:r>
            <a:r>
              <a:rPr lang="en-US" sz="3200" dirty="0"/>
              <a:t>) VALUES('Alkali Metal', 'Very reactive metals that readily lose their outermost electron.'),('Alkaline Earth Metal', 'Reactive metals, commonly found in the </a:t>
            </a:r>
            <a:r>
              <a:rPr lang="en-US" sz="3200" dirty="0" err="1"/>
              <a:t>Earth''s</a:t>
            </a:r>
            <a:r>
              <a:rPr lang="en-US" sz="3200" dirty="0"/>
              <a:t> crust.'),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17561A-7BEB-4D1C-89A9-0E703D78920F}"/>
              </a:ext>
            </a:extLst>
          </p:cNvPr>
          <p:cNvSpPr txBox="1"/>
          <p:nvPr/>
        </p:nvSpPr>
        <p:spPr>
          <a:xfrm>
            <a:off x="8598616" y="1354960"/>
            <a:ext cx="6137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ahnschrift SemiBold" panose="020B0502040204020203" pitchFamily="34" charset="0"/>
              </a:rPr>
              <a:t>Element </a:t>
            </a:r>
            <a:r>
              <a:rPr lang="en-US" sz="4000" dirty="0" err="1">
                <a:latin typeface="Bahnschrift SemiBold" panose="020B0502040204020203" pitchFamily="34" charset="0"/>
              </a:rPr>
              <a:t>caregories</a:t>
            </a:r>
            <a:r>
              <a:rPr lang="en-US" sz="4000" dirty="0">
                <a:latin typeface="Bahnschrift SemiBold" panose="020B0502040204020203" pitchFamily="34" charset="0"/>
              </a:rPr>
              <a:t> table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7DA711-E1CD-456E-92EA-F63D7258F32D}"/>
              </a:ext>
            </a:extLst>
          </p:cNvPr>
          <p:cNvSpPr txBox="1"/>
          <p:nvPr/>
        </p:nvSpPr>
        <p:spPr>
          <a:xfrm>
            <a:off x="42062" y="4352940"/>
            <a:ext cx="3119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ahnschrift SemiBold" panose="020B0502040204020203" pitchFamily="34" charset="0"/>
              </a:rPr>
              <a:t>Group table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9D7F42-8BD3-4AF0-8137-786CBBF97B5B}"/>
              </a:ext>
            </a:extLst>
          </p:cNvPr>
          <p:cNvSpPr txBox="1"/>
          <p:nvPr/>
        </p:nvSpPr>
        <p:spPr>
          <a:xfrm>
            <a:off x="8410027" y="5757020"/>
            <a:ext cx="964937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INSERT INTO Periods (</a:t>
            </a:r>
            <a:r>
              <a:rPr lang="en-US" sz="3200" dirty="0" err="1"/>
              <a:t>period_id</a:t>
            </a:r>
            <a:r>
              <a:rPr lang="en-US" sz="3200" dirty="0"/>
              <a:t>, </a:t>
            </a:r>
            <a:r>
              <a:rPr lang="en-US" sz="3200" dirty="0" err="1"/>
              <a:t>period_name</a:t>
            </a:r>
            <a:r>
              <a:rPr lang="en-US" sz="3200" dirty="0"/>
              <a:t>, description) VALUES(1, 'Period 1', 'Contains hydrogen and helium. Only 2 elements.'),(2, 'Period 2', 'Contains elements from lithium to neon. 8 elements.'),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2C0320-8F39-421C-BB00-A46F392AF5E4}"/>
              </a:ext>
            </a:extLst>
          </p:cNvPr>
          <p:cNvSpPr txBox="1"/>
          <p:nvPr/>
        </p:nvSpPr>
        <p:spPr>
          <a:xfrm>
            <a:off x="8455963" y="5061363"/>
            <a:ext cx="449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ahnschrift SemiBold" panose="020B0502040204020203" pitchFamily="34" charset="0"/>
              </a:rPr>
              <a:t>Period table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94A23E-D94B-44B3-8FD0-E2F165D9D820}"/>
              </a:ext>
            </a:extLst>
          </p:cNvPr>
          <p:cNvSpPr txBox="1"/>
          <p:nvPr/>
        </p:nvSpPr>
        <p:spPr>
          <a:xfrm>
            <a:off x="-29240" y="5103401"/>
            <a:ext cx="780164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INSERT INTO Groups_ (</a:t>
            </a:r>
            <a:r>
              <a:rPr lang="en-US" sz="3200" dirty="0" err="1"/>
              <a:t>group_id</a:t>
            </a:r>
            <a:r>
              <a:rPr lang="en-US" sz="3200" dirty="0"/>
              <a:t>, </a:t>
            </a:r>
            <a:r>
              <a:rPr lang="en-US" sz="3200" dirty="0" err="1"/>
              <a:t>group_name</a:t>
            </a:r>
            <a:r>
              <a:rPr lang="en-US" sz="3200" dirty="0"/>
              <a:t>, description) VALUES(1, 'Alkali Metals', 'Highly reactive metals with one valence electron. Form +1 ions.'),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03322D-D399-470B-AB61-7FBB3CD204D4}"/>
              </a:ext>
            </a:extLst>
          </p:cNvPr>
          <p:cNvSpPr txBox="1"/>
          <p:nvPr/>
        </p:nvSpPr>
        <p:spPr>
          <a:xfrm>
            <a:off x="147036" y="8150813"/>
            <a:ext cx="83328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INSERT INTO Uses (</a:t>
            </a:r>
            <a:r>
              <a:rPr lang="en-US" sz="3200" dirty="0" err="1"/>
              <a:t>element_id</a:t>
            </a:r>
            <a:r>
              <a:rPr lang="en-US" sz="3200" dirty="0"/>
              <a:t>, application, details) VALUES-- Hydrogen (</a:t>
            </a:r>
            <a:r>
              <a:rPr lang="en-US" sz="3200" dirty="0" err="1"/>
              <a:t>element_id</a:t>
            </a:r>
            <a:r>
              <a:rPr lang="en-US" sz="3200" dirty="0"/>
              <a:t> = 1)(1, 'Fuel', 'Used as rocket fuel and in fuel cells.'),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63095C-942D-44CF-B448-3ECC24EE546B}"/>
              </a:ext>
            </a:extLst>
          </p:cNvPr>
          <p:cNvSpPr txBox="1"/>
          <p:nvPr/>
        </p:nvSpPr>
        <p:spPr>
          <a:xfrm>
            <a:off x="10164" y="7304215"/>
            <a:ext cx="601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ahnschrift SemiBold" panose="020B0502040204020203" pitchFamily="34" charset="0"/>
              </a:rPr>
              <a:t>Uses 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33153" y="6202"/>
            <a:ext cx="6400800" cy="10280798"/>
            <a:chOff x="0" y="0"/>
            <a:chExt cx="121872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726" cy="2709333"/>
            </a:xfrm>
            <a:custGeom>
              <a:avLst/>
              <a:gdLst/>
              <a:ahLst/>
              <a:cxnLst/>
              <a:rect l="l" t="t" r="r" b="b"/>
              <a:pathLst>
                <a:path w="1218726" h="2709333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chemeClr val="bg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599709"/>
            <a:ext cx="5702843" cy="10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Sample queries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E6C7C3-2A23-49EA-B6EC-DAD377836434}"/>
              </a:ext>
            </a:extLst>
          </p:cNvPr>
          <p:cNvSpPr txBox="1"/>
          <p:nvPr/>
        </p:nvSpPr>
        <p:spPr>
          <a:xfrm>
            <a:off x="762000" y="3348900"/>
            <a:ext cx="76581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&gt;SELECT * FROM elements ; </a:t>
            </a:r>
          </a:p>
          <a:p>
            <a:r>
              <a:rPr lang="en-US" sz="4000" dirty="0"/>
              <a:t>&gt;select * from </a:t>
            </a:r>
            <a:r>
              <a:rPr lang="en-US" sz="4000" dirty="0" err="1"/>
              <a:t>element_categories</a:t>
            </a:r>
            <a:r>
              <a:rPr lang="en-US" sz="4000" dirty="0"/>
              <a:t>;</a:t>
            </a:r>
          </a:p>
          <a:p>
            <a:r>
              <a:rPr lang="en-US" sz="4000" dirty="0"/>
              <a:t>&gt;select * from periods; </a:t>
            </a:r>
          </a:p>
          <a:p>
            <a:r>
              <a:rPr lang="en-US" sz="4000" dirty="0"/>
              <a:t>&gt;select * from isotopes;</a:t>
            </a:r>
          </a:p>
          <a:p>
            <a:r>
              <a:rPr lang="en-US" sz="4000" dirty="0"/>
              <a:t> &gt;select * from uses;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8B4759-D51F-44B1-84BF-A10FB850AE30}"/>
              </a:ext>
            </a:extLst>
          </p:cNvPr>
          <p:cNvSpPr txBox="1"/>
          <p:nvPr/>
        </p:nvSpPr>
        <p:spPr>
          <a:xfrm>
            <a:off x="9851953" y="2615572"/>
            <a:ext cx="83820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Bahnschrift SemiBold" panose="020B0502040204020203" pitchFamily="34" charset="0"/>
              </a:rPr>
              <a:t>-- Noble gas</a:t>
            </a:r>
          </a:p>
          <a:p>
            <a:r>
              <a:rPr lang="en-US" sz="4000" dirty="0"/>
              <a:t>SELECT e.name, </a:t>
            </a:r>
            <a:r>
              <a:rPr lang="en-US" sz="4000" dirty="0" err="1"/>
              <a:t>e.symbol</a:t>
            </a:r>
            <a:r>
              <a:rPr lang="en-US" sz="4000" dirty="0"/>
              <a:t>, </a:t>
            </a:r>
            <a:r>
              <a:rPr lang="en-US" sz="4000" dirty="0" err="1"/>
              <a:t>ec.category_nameFROM</a:t>
            </a:r>
            <a:r>
              <a:rPr lang="en-US" sz="4000" dirty="0"/>
              <a:t> elements </a:t>
            </a:r>
            <a:r>
              <a:rPr lang="en-US" sz="4000" dirty="0" err="1"/>
              <a:t>eJOIN</a:t>
            </a:r>
            <a:r>
              <a:rPr lang="en-US" sz="4000" dirty="0"/>
              <a:t> </a:t>
            </a:r>
            <a:r>
              <a:rPr lang="en-US" sz="4000" dirty="0" err="1"/>
              <a:t>element_categories</a:t>
            </a:r>
            <a:r>
              <a:rPr lang="en-US" sz="4000" dirty="0"/>
              <a:t> </a:t>
            </a:r>
            <a:r>
              <a:rPr lang="en-US" sz="4000" dirty="0" err="1"/>
              <a:t>ec</a:t>
            </a:r>
            <a:r>
              <a:rPr lang="en-US" sz="4000" dirty="0"/>
              <a:t> ON </a:t>
            </a:r>
            <a:r>
              <a:rPr lang="en-US" sz="4000" dirty="0" err="1"/>
              <a:t>e.category_id</a:t>
            </a:r>
            <a:r>
              <a:rPr lang="en-US" sz="4000" dirty="0"/>
              <a:t> = </a:t>
            </a:r>
            <a:r>
              <a:rPr lang="en-US" sz="4000" dirty="0" err="1"/>
              <a:t>ec.category_idWHERE</a:t>
            </a:r>
            <a:r>
              <a:rPr lang="en-US" sz="4000" dirty="0"/>
              <a:t> </a:t>
            </a:r>
            <a:r>
              <a:rPr lang="en-US" sz="4000" dirty="0" err="1"/>
              <a:t>ec.category_name</a:t>
            </a:r>
            <a:r>
              <a:rPr lang="en-US" sz="4000" dirty="0"/>
              <a:t> = 'Noble Gas';</a:t>
            </a:r>
          </a:p>
        </p:txBody>
      </p:sp>
      <p:grpSp>
        <p:nvGrpSpPr>
          <p:cNvPr id="22" name="Group 11">
            <a:extLst>
              <a:ext uri="{FF2B5EF4-FFF2-40B4-BE49-F238E27FC236}">
                <a16:creationId xmlns:a16="http://schemas.microsoft.com/office/drawing/2014/main" id="{AF383359-CD3A-4E45-B55F-E68F05C28185}"/>
              </a:ext>
            </a:extLst>
          </p:cNvPr>
          <p:cNvGrpSpPr/>
          <p:nvPr/>
        </p:nvGrpSpPr>
        <p:grpSpPr>
          <a:xfrm>
            <a:off x="140691" y="1830267"/>
            <a:ext cx="810923" cy="810923"/>
            <a:chOff x="0" y="0"/>
            <a:chExt cx="812800" cy="812800"/>
          </a:xfrm>
        </p:grpSpPr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A279CD7C-2859-4C89-B24C-11A183D027D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</p:spPr>
        </p:sp>
        <p:sp>
          <p:nvSpPr>
            <p:cNvPr id="24" name="TextBox 13">
              <a:extLst>
                <a:ext uri="{FF2B5EF4-FFF2-40B4-BE49-F238E27FC236}">
                  <a16:creationId xmlns:a16="http://schemas.microsoft.com/office/drawing/2014/main" id="{8F7F73D8-EC52-4B7C-A520-078E9E0A0A19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28" name="Group 11">
            <a:extLst>
              <a:ext uri="{FF2B5EF4-FFF2-40B4-BE49-F238E27FC236}">
                <a16:creationId xmlns:a16="http://schemas.microsoft.com/office/drawing/2014/main" id="{15CE1218-7F13-4554-AA35-8FE235EE8669}"/>
              </a:ext>
            </a:extLst>
          </p:cNvPr>
          <p:cNvGrpSpPr/>
          <p:nvPr/>
        </p:nvGrpSpPr>
        <p:grpSpPr>
          <a:xfrm>
            <a:off x="14801795" y="115005"/>
            <a:ext cx="1206033" cy="1568121"/>
            <a:chOff x="-106632" y="-47625"/>
            <a:chExt cx="843232" cy="1004249"/>
          </a:xfrm>
        </p:grpSpPr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3C4CC8E2-16E8-47C1-A5EF-49C8884EF105}"/>
                </a:ext>
              </a:extLst>
            </p:cNvPr>
            <p:cNvSpPr/>
            <p:nvPr/>
          </p:nvSpPr>
          <p:spPr>
            <a:xfrm>
              <a:off x="-106632" y="14382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</p:sp>
        <p:sp>
          <p:nvSpPr>
            <p:cNvPr id="30" name="TextBox 13">
              <a:extLst>
                <a:ext uri="{FF2B5EF4-FFF2-40B4-BE49-F238E27FC236}">
                  <a16:creationId xmlns:a16="http://schemas.microsoft.com/office/drawing/2014/main" id="{BC65C1E5-76F3-40FD-9350-C058FA051548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9B66083D-5FC1-496C-B714-C697E9E4874D}"/>
              </a:ext>
            </a:extLst>
          </p:cNvPr>
          <p:cNvSpPr/>
          <p:nvPr/>
        </p:nvSpPr>
        <p:spPr>
          <a:xfrm>
            <a:off x="3859493" y="8824287"/>
            <a:ext cx="1104900" cy="1185235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7932A6A6-2D4A-4F52-8FB0-68D7C898CCAF}"/>
              </a:ext>
            </a:extLst>
          </p:cNvPr>
          <p:cNvSpPr/>
          <p:nvPr/>
        </p:nvSpPr>
        <p:spPr>
          <a:xfrm>
            <a:off x="1295400" y="7943550"/>
            <a:ext cx="609600" cy="662432"/>
          </a:xfrm>
          <a:prstGeom prst="flowChartConnector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FA4216C1-945D-41F3-888F-26B8A936A79D}"/>
              </a:ext>
            </a:extLst>
          </p:cNvPr>
          <p:cNvSpPr/>
          <p:nvPr/>
        </p:nvSpPr>
        <p:spPr>
          <a:xfrm>
            <a:off x="16383000" y="2184166"/>
            <a:ext cx="863599" cy="762000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48ADBAB9-5BD5-4953-8559-41096AB25DE6}"/>
              </a:ext>
            </a:extLst>
          </p:cNvPr>
          <p:cNvSpPr/>
          <p:nvPr/>
        </p:nvSpPr>
        <p:spPr>
          <a:xfrm>
            <a:off x="15063291" y="7943550"/>
            <a:ext cx="557709" cy="662432"/>
          </a:xfrm>
          <a:prstGeom prst="flowChartConnector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699262" y="2505185"/>
            <a:ext cx="658875" cy="7824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079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028700" y="599709"/>
            <a:ext cx="11537525" cy="115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8000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D8BE5A-3551-4417-B8F7-AFBCD2B179F1}"/>
              </a:ext>
            </a:extLst>
          </p:cNvPr>
          <p:cNvSpPr txBox="1"/>
          <p:nvPr/>
        </p:nvSpPr>
        <p:spPr>
          <a:xfrm>
            <a:off x="699262" y="2505185"/>
            <a:ext cx="844473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ahnschrift SemiBold" panose="020B0502040204020203" pitchFamily="34" charset="0"/>
              </a:rPr>
              <a:t>-- Atomic</a:t>
            </a:r>
          </a:p>
          <a:p>
            <a:r>
              <a:rPr lang="en-US" sz="4400" dirty="0"/>
              <a:t> </a:t>
            </a:r>
            <a:r>
              <a:rPr lang="en-US" sz="4400" dirty="0" err="1"/>
              <a:t>NumberSELECT</a:t>
            </a:r>
            <a:r>
              <a:rPr lang="en-US" sz="4400" dirty="0"/>
              <a:t> name, symbol, </a:t>
            </a:r>
            <a:r>
              <a:rPr lang="en-US" sz="4400" dirty="0" err="1"/>
              <a:t>atomic_number</a:t>
            </a:r>
            <a:r>
              <a:rPr lang="en-US" sz="4400" dirty="0"/>
              <a:t>, </a:t>
            </a:r>
            <a:r>
              <a:rPr lang="en-US" sz="4400" dirty="0" err="1"/>
              <a:t>state_at_stpFROM</a:t>
            </a:r>
            <a:r>
              <a:rPr lang="en-US" sz="4400" dirty="0"/>
              <a:t> </a:t>
            </a:r>
            <a:r>
              <a:rPr lang="en-US" sz="4400" dirty="0" err="1"/>
              <a:t>elementsWHERE</a:t>
            </a:r>
            <a:r>
              <a:rPr lang="en-US" sz="4400" dirty="0"/>
              <a:t> </a:t>
            </a:r>
            <a:r>
              <a:rPr lang="en-US" sz="4400" dirty="0" err="1"/>
              <a:t>atomic_number</a:t>
            </a:r>
            <a:r>
              <a:rPr lang="en-US" sz="4400" dirty="0"/>
              <a:t> &lt;= 50 AND </a:t>
            </a:r>
            <a:r>
              <a:rPr lang="en-US" sz="4400" dirty="0" err="1"/>
              <a:t>state_at_stp</a:t>
            </a:r>
            <a:r>
              <a:rPr lang="en-US" sz="4400" dirty="0"/>
              <a:t> = '</a:t>
            </a:r>
            <a:r>
              <a:rPr lang="en-US" sz="4400" dirty="0" err="1"/>
              <a:t>Solid'ORDER</a:t>
            </a:r>
            <a:r>
              <a:rPr lang="en-US" sz="4400" dirty="0"/>
              <a:t> BY </a:t>
            </a:r>
            <a:r>
              <a:rPr lang="en-US" sz="4400" dirty="0" err="1"/>
              <a:t>atomic_number</a:t>
            </a:r>
            <a:r>
              <a:rPr lang="en-US" sz="4400" dirty="0"/>
              <a:t>;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1DA092F-6F7E-46D9-861F-F26151ED4816}"/>
              </a:ext>
            </a:extLst>
          </p:cNvPr>
          <p:cNvSpPr/>
          <p:nvPr/>
        </p:nvSpPr>
        <p:spPr>
          <a:xfrm>
            <a:off x="10115822" y="2641848"/>
            <a:ext cx="7467600" cy="426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89E78FC8-A31F-4B72-B029-DD45663DC20F}"/>
              </a:ext>
            </a:extLst>
          </p:cNvPr>
          <p:cNvSpPr/>
          <p:nvPr/>
        </p:nvSpPr>
        <p:spPr>
          <a:xfrm>
            <a:off x="16078200" y="721192"/>
            <a:ext cx="609600" cy="612307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E90036CF-73BF-4231-B775-64A38058AE2C}"/>
              </a:ext>
            </a:extLst>
          </p:cNvPr>
          <p:cNvSpPr/>
          <p:nvPr/>
        </p:nvSpPr>
        <p:spPr>
          <a:xfrm>
            <a:off x="10138859" y="8936731"/>
            <a:ext cx="457200" cy="457200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08AA3F18-C9FA-4509-AC7A-4B81EA727575}"/>
              </a:ext>
            </a:extLst>
          </p:cNvPr>
          <p:cNvSpPr/>
          <p:nvPr/>
        </p:nvSpPr>
        <p:spPr>
          <a:xfrm>
            <a:off x="114299" y="142574"/>
            <a:ext cx="914400" cy="884771"/>
          </a:xfrm>
          <a:prstGeom prst="flowChartConnecto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F91A74D7-A920-486C-A95F-ECCB299D7DAD}"/>
              </a:ext>
            </a:extLst>
          </p:cNvPr>
          <p:cNvSpPr/>
          <p:nvPr/>
        </p:nvSpPr>
        <p:spPr>
          <a:xfrm>
            <a:off x="8305800" y="1484480"/>
            <a:ext cx="838200" cy="884771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C0634F35-BF32-4FE2-866A-2BDA4586B674}"/>
              </a:ext>
            </a:extLst>
          </p:cNvPr>
          <p:cNvSpPr/>
          <p:nvPr/>
        </p:nvSpPr>
        <p:spPr>
          <a:xfrm>
            <a:off x="1981200" y="8289906"/>
            <a:ext cx="762000" cy="875425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F8BDEDC5-C356-44B1-9CAA-60FC9568E71C}"/>
              </a:ext>
            </a:extLst>
          </p:cNvPr>
          <p:cNvSpPr/>
          <p:nvPr/>
        </p:nvSpPr>
        <p:spPr>
          <a:xfrm>
            <a:off x="16736003" y="8529923"/>
            <a:ext cx="1080263" cy="1247885"/>
          </a:xfrm>
          <a:prstGeom prst="flowChartConnecto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3567" y="952500"/>
            <a:ext cx="7514133" cy="4419600"/>
            <a:chOff x="0" y="0"/>
            <a:chExt cx="1979031" cy="16672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9031" cy="1667227"/>
            </a:xfrm>
            <a:custGeom>
              <a:avLst/>
              <a:gdLst/>
              <a:ahLst/>
              <a:cxnLst/>
              <a:rect l="l" t="t" r="r" b="b"/>
              <a:pathLst>
                <a:path w="1979031" h="1667227">
                  <a:moveTo>
                    <a:pt x="52546" y="0"/>
                  </a:moveTo>
                  <a:lnTo>
                    <a:pt x="1926485" y="0"/>
                  </a:lnTo>
                  <a:cubicBezTo>
                    <a:pt x="1955505" y="0"/>
                    <a:pt x="1979031" y="23526"/>
                    <a:pt x="1979031" y="52546"/>
                  </a:cubicBezTo>
                  <a:lnTo>
                    <a:pt x="1979031" y="1614681"/>
                  </a:lnTo>
                  <a:cubicBezTo>
                    <a:pt x="1979031" y="1628617"/>
                    <a:pt x="1973495" y="1641982"/>
                    <a:pt x="1963641" y="1651836"/>
                  </a:cubicBezTo>
                  <a:cubicBezTo>
                    <a:pt x="1953786" y="1661690"/>
                    <a:pt x="1940421" y="1667227"/>
                    <a:pt x="1926485" y="1667227"/>
                  </a:cubicBezTo>
                  <a:lnTo>
                    <a:pt x="52546" y="1667227"/>
                  </a:lnTo>
                  <a:cubicBezTo>
                    <a:pt x="38610" y="1667227"/>
                    <a:pt x="25245" y="1661690"/>
                    <a:pt x="15390" y="1651836"/>
                  </a:cubicBezTo>
                  <a:cubicBezTo>
                    <a:pt x="5536" y="1641982"/>
                    <a:pt x="0" y="1628617"/>
                    <a:pt x="0" y="1614681"/>
                  </a:cubicBezTo>
                  <a:lnTo>
                    <a:pt x="0" y="52546"/>
                  </a:lnTo>
                  <a:cubicBezTo>
                    <a:pt x="0" y="23526"/>
                    <a:pt x="23526" y="0"/>
                    <a:pt x="525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979031" cy="1791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753600" y="955083"/>
            <a:ext cx="7514133" cy="4417017"/>
            <a:chOff x="0" y="0"/>
            <a:chExt cx="1979031" cy="16488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79031" cy="1648820"/>
            </a:xfrm>
            <a:custGeom>
              <a:avLst/>
              <a:gdLst/>
              <a:ahLst/>
              <a:cxnLst/>
              <a:rect l="l" t="t" r="r" b="b"/>
              <a:pathLst>
                <a:path w="1979031" h="1648820">
                  <a:moveTo>
                    <a:pt x="52546" y="0"/>
                  </a:moveTo>
                  <a:lnTo>
                    <a:pt x="1926485" y="0"/>
                  </a:lnTo>
                  <a:cubicBezTo>
                    <a:pt x="1955505" y="0"/>
                    <a:pt x="1979031" y="23526"/>
                    <a:pt x="1979031" y="52546"/>
                  </a:cubicBezTo>
                  <a:lnTo>
                    <a:pt x="1979031" y="1596274"/>
                  </a:lnTo>
                  <a:cubicBezTo>
                    <a:pt x="1979031" y="1610210"/>
                    <a:pt x="1973495" y="1623575"/>
                    <a:pt x="1963641" y="1633430"/>
                  </a:cubicBezTo>
                  <a:cubicBezTo>
                    <a:pt x="1953786" y="1643284"/>
                    <a:pt x="1940421" y="1648820"/>
                    <a:pt x="1926485" y="1648820"/>
                  </a:cubicBezTo>
                  <a:lnTo>
                    <a:pt x="52546" y="1648820"/>
                  </a:lnTo>
                  <a:cubicBezTo>
                    <a:pt x="38610" y="1648820"/>
                    <a:pt x="25245" y="1643284"/>
                    <a:pt x="15390" y="1633430"/>
                  </a:cubicBezTo>
                  <a:cubicBezTo>
                    <a:pt x="5536" y="1623575"/>
                    <a:pt x="0" y="1610210"/>
                    <a:pt x="0" y="1596274"/>
                  </a:cubicBezTo>
                  <a:lnTo>
                    <a:pt x="0" y="52546"/>
                  </a:lnTo>
                  <a:cubicBezTo>
                    <a:pt x="0" y="23526"/>
                    <a:pt x="23526" y="0"/>
                    <a:pt x="525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23825"/>
              <a:ext cx="1979031" cy="1772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03AF3BD-2014-4300-99F1-6D62D8DE2694}"/>
              </a:ext>
            </a:extLst>
          </p:cNvPr>
          <p:cNvSpPr txBox="1"/>
          <p:nvPr/>
        </p:nvSpPr>
        <p:spPr>
          <a:xfrm>
            <a:off x="887918" y="2218326"/>
            <a:ext cx="6629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.name,elements.symbol,element_categories.category_namefrom elements join </a:t>
            </a:r>
            <a:r>
              <a:rPr lang="en-US" sz="3200" dirty="0" err="1"/>
              <a:t>element_categories</a:t>
            </a:r>
            <a:r>
              <a:rPr lang="en-US" sz="3200" dirty="0"/>
              <a:t>  on </a:t>
            </a:r>
            <a:r>
              <a:rPr lang="en-US" sz="3200" dirty="0" err="1"/>
              <a:t>elements.group_id</a:t>
            </a:r>
            <a:r>
              <a:rPr lang="en-US" sz="3200" dirty="0"/>
              <a:t>= </a:t>
            </a:r>
            <a:r>
              <a:rPr lang="en-US" sz="3200" dirty="0" err="1"/>
              <a:t>element_categories.category_id</a:t>
            </a:r>
            <a:r>
              <a:rPr lang="en-US" sz="3200" dirty="0"/>
              <a:t>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3FE724-9590-4F86-9350-EF948F85F121}"/>
              </a:ext>
            </a:extLst>
          </p:cNvPr>
          <p:cNvSpPr txBox="1"/>
          <p:nvPr/>
        </p:nvSpPr>
        <p:spPr>
          <a:xfrm>
            <a:off x="877728" y="1220805"/>
            <a:ext cx="59436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ahnschrift SemiBold" panose="020B0502040204020203" pitchFamily="34" charset="0"/>
              </a:rPr>
              <a:t>-- join </a:t>
            </a:r>
            <a:r>
              <a:rPr lang="en-US" sz="4400" dirty="0" err="1">
                <a:latin typeface="Bahnschrift SemiBold" panose="020B0502040204020203" pitchFamily="34" charset="0"/>
              </a:rPr>
              <a:t>opreationselect</a:t>
            </a:r>
            <a:endParaRPr lang="en-US" sz="44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01AEAF-4DEA-4A91-81DB-F87C7DB46398}"/>
              </a:ext>
            </a:extLst>
          </p:cNvPr>
          <p:cNvSpPr/>
          <p:nvPr/>
        </p:nvSpPr>
        <p:spPr>
          <a:xfrm>
            <a:off x="753567" y="5700344"/>
            <a:ext cx="7323633" cy="41675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9F5119-2B43-42A5-B34C-3BA04467CDF0}"/>
              </a:ext>
            </a:extLst>
          </p:cNvPr>
          <p:cNvSpPr txBox="1"/>
          <p:nvPr/>
        </p:nvSpPr>
        <p:spPr>
          <a:xfrm>
            <a:off x="10591800" y="2218325"/>
            <a:ext cx="5791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</a:t>
            </a:r>
            <a:r>
              <a:rPr lang="en-US" sz="3600" dirty="0" err="1"/>
              <a:t>name,symbol</a:t>
            </a:r>
            <a:r>
              <a:rPr lang="en-US" sz="3600" dirty="0"/>
              <a:t>, </a:t>
            </a:r>
            <a:r>
              <a:rPr lang="en-US" sz="3600" dirty="0" err="1"/>
              <a:t>atomic_number</a:t>
            </a:r>
            <a:r>
              <a:rPr lang="en-US" sz="3600" dirty="0"/>
              <a:t> from elements order by </a:t>
            </a:r>
            <a:r>
              <a:rPr lang="en-US" sz="3600" dirty="0" err="1"/>
              <a:t>atomic_number</a:t>
            </a:r>
            <a:r>
              <a:rPr lang="en-US" sz="3600" dirty="0"/>
              <a:t> </a:t>
            </a:r>
            <a:r>
              <a:rPr lang="en-US" sz="3600" dirty="0" err="1"/>
              <a:t>asc</a:t>
            </a:r>
            <a:r>
              <a:rPr lang="en-US" sz="3600" dirty="0"/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F5921-FE8F-4A8C-B24C-A77BD8366CF2}"/>
              </a:ext>
            </a:extLst>
          </p:cNvPr>
          <p:cNvSpPr txBox="1"/>
          <p:nvPr/>
        </p:nvSpPr>
        <p:spPr>
          <a:xfrm>
            <a:off x="10386466" y="1220805"/>
            <a:ext cx="624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ahnschrift SemiBold" panose="020B0502040204020203" pitchFamily="34" charset="0"/>
              </a:rPr>
              <a:t>-- </a:t>
            </a:r>
            <a:r>
              <a:rPr lang="en-US" sz="4400" dirty="0" err="1">
                <a:latin typeface="Bahnschrift SemiBold" panose="020B0502040204020203" pitchFamily="34" charset="0"/>
              </a:rPr>
              <a:t>ordering&amp;limiting</a:t>
            </a:r>
            <a:endParaRPr lang="en-US" sz="4400" dirty="0">
              <a:latin typeface="Bahnschrift SemiBold" panose="020B05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8072397-434C-4726-86DB-2B54DEEDB9E4}"/>
              </a:ext>
            </a:extLst>
          </p:cNvPr>
          <p:cNvSpPr/>
          <p:nvPr/>
        </p:nvSpPr>
        <p:spPr>
          <a:xfrm>
            <a:off x="9917519" y="5720316"/>
            <a:ext cx="7323633" cy="41475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99709"/>
            <a:ext cx="1153482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</a:t>
            </a:r>
          </a:p>
        </p:txBody>
      </p:sp>
      <p:sp>
        <p:nvSpPr>
          <p:cNvPr id="4" name="AutoShape 4"/>
          <p:cNvSpPr/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5897880" y="7171009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247055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304001" y="801952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2710" y="3369664"/>
            <a:ext cx="11402580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685800" y="3086100"/>
            <a:ext cx="0" cy="4722909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 flipV="1">
            <a:off x="6248401" y="1366566"/>
            <a:ext cx="3735598" cy="347934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H="1">
            <a:off x="17602196" y="3369664"/>
            <a:ext cx="3" cy="472291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7848600" y="8648700"/>
            <a:ext cx="3049799" cy="374993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076E01-112E-4C5E-A876-7B19F3F79CAC}"/>
              </a:ext>
            </a:extLst>
          </p:cNvPr>
          <p:cNvSpPr txBox="1"/>
          <p:nvPr/>
        </p:nvSpPr>
        <p:spPr>
          <a:xfrm>
            <a:off x="14554200" y="9086322"/>
            <a:ext cx="83057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/</a:t>
            </a:r>
            <a:r>
              <a:rPr lang="en-US" sz="4000" dirty="0">
                <a:solidFill>
                  <a:srgbClr val="C00000"/>
                </a:solidFill>
                <a:latin typeface="Baskerville Old Face" panose="02020602080505020303" pitchFamily="18" charset="0"/>
              </a:rPr>
              <a:t>From group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F7CCD-2E0E-45EE-A9E1-EAF2122E83D6}"/>
              </a:ext>
            </a:extLst>
          </p:cNvPr>
          <p:cNvSpPr txBox="1"/>
          <p:nvPr/>
        </p:nvSpPr>
        <p:spPr>
          <a:xfrm>
            <a:off x="6096000" y="1916319"/>
            <a:ext cx="8534400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Question  </a:t>
            </a:r>
          </a:p>
          <a:p>
            <a:r>
              <a:rPr lang="en-US" sz="96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      &amp;</a:t>
            </a:r>
          </a:p>
          <a:p>
            <a:r>
              <a:rPr lang="en-US" sz="96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 Answer</a:t>
            </a:r>
          </a:p>
        </p:txBody>
      </p:sp>
      <p:sp>
        <p:nvSpPr>
          <p:cNvPr id="8" name="Diagonal Stripe 7">
            <a:extLst>
              <a:ext uri="{FF2B5EF4-FFF2-40B4-BE49-F238E27FC236}">
                <a16:creationId xmlns:a16="http://schemas.microsoft.com/office/drawing/2014/main" id="{070D34B6-B9BF-417A-921B-88C5FB79FD98}"/>
              </a:ext>
            </a:extLst>
          </p:cNvPr>
          <p:cNvSpPr/>
          <p:nvPr/>
        </p:nvSpPr>
        <p:spPr>
          <a:xfrm>
            <a:off x="-1" y="0"/>
            <a:ext cx="6461937" cy="10287000"/>
          </a:xfrm>
          <a:prstGeom prst="diagStrip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tar: 4 Points 8">
            <a:extLst>
              <a:ext uri="{FF2B5EF4-FFF2-40B4-BE49-F238E27FC236}">
                <a16:creationId xmlns:a16="http://schemas.microsoft.com/office/drawing/2014/main" id="{9F853484-5B76-48BD-9689-E0D5B959BCC8}"/>
              </a:ext>
            </a:extLst>
          </p:cNvPr>
          <p:cNvSpPr/>
          <p:nvPr/>
        </p:nvSpPr>
        <p:spPr>
          <a:xfrm>
            <a:off x="15849600" y="876300"/>
            <a:ext cx="838200" cy="1040019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4 Points 9">
            <a:extLst>
              <a:ext uri="{FF2B5EF4-FFF2-40B4-BE49-F238E27FC236}">
                <a16:creationId xmlns:a16="http://schemas.microsoft.com/office/drawing/2014/main" id="{DEDD4DE0-2F81-41CC-BD92-16B3B21295C5}"/>
              </a:ext>
            </a:extLst>
          </p:cNvPr>
          <p:cNvSpPr/>
          <p:nvPr/>
        </p:nvSpPr>
        <p:spPr>
          <a:xfrm>
            <a:off x="12557937" y="2953274"/>
            <a:ext cx="533400" cy="762000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tar: 4 Points 10">
            <a:extLst>
              <a:ext uri="{FF2B5EF4-FFF2-40B4-BE49-F238E27FC236}">
                <a16:creationId xmlns:a16="http://schemas.microsoft.com/office/drawing/2014/main" id="{6C7317B7-2CBC-4E2E-916B-4C0F1460A20B}"/>
              </a:ext>
            </a:extLst>
          </p:cNvPr>
          <p:cNvSpPr/>
          <p:nvPr/>
        </p:nvSpPr>
        <p:spPr>
          <a:xfrm>
            <a:off x="14278640" y="7752505"/>
            <a:ext cx="685800" cy="914400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ar: 4 Points 11">
            <a:extLst>
              <a:ext uri="{FF2B5EF4-FFF2-40B4-BE49-F238E27FC236}">
                <a16:creationId xmlns:a16="http://schemas.microsoft.com/office/drawing/2014/main" id="{E44D6605-B66A-41E2-A3E4-251A0E67A546}"/>
              </a:ext>
            </a:extLst>
          </p:cNvPr>
          <p:cNvSpPr/>
          <p:nvPr/>
        </p:nvSpPr>
        <p:spPr>
          <a:xfrm>
            <a:off x="3230967" y="6173772"/>
            <a:ext cx="685800" cy="989552"/>
          </a:xfrm>
          <a:prstGeom prst="star4">
            <a:avLst>
              <a:gd name="adj" fmla="val 1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4 Points 12">
            <a:extLst>
              <a:ext uri="{FF2B5EF4-FFF2-40B4-BE49-F238E27FC236}">
                <a16:creationId xmlns:a16="http://schemas.microsoft.com/office/drawing/2014/main" id="{1F02B7DB-4B5A-4CE5-A857-8812CAE5B583}"/>
              </a:ext>
            </a:extLst>
          </p:cNvPr>
          <p:cNvSpPr/>
          <p:nvPr/>
        </p:nvSpPr>
        <p:spPr>
          <a:xfrm>
            <a:off x="7414436" y="378785"/>
            <a:ext cx="533400" cy="1040019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07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800</Words>
  <Application>Microsoft Office PowerPoint</Application>
  <PresentationFormat>Custom</PresentationFormat>
  <Paragraphs>121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 Rounded MT Bold</vt:lpstr>
      <vt:lpstr>Quicksand</vt:lpstr>
      <vt:lpstr>Cormorant Garamond Bold Italics</vt:lpstr>
      <vt:lpstr>Bahnschrift SemiBold</vt:lpstr>
      <vt:lpstr>Calibri</vt:lpstr>
      <vt:lpstr>Bodoni MT Black</vt:lpstr>
      <vt:lpstr>Baskerville Old Face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xing_jae</dc:creator>
  <cp:lastModifiedBy>Al jae Jeon</cp:lastModifiedBy>
  <cp:revision>16</cp:revision>
  <dcterms:created xsi:type="dcterms:W3CDTF">2006-08-16T00:00:00Z</dcterms:created>
  <dcterms:modified xsi:type="dcterms:W3CDTF">2025-06-24T10:47:38Z</dcterms:modified>
  <dc:identifier>DAGpv_kT1xs</dc:identifier>
</cp:coreProperties>
</file>