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8288000" cy="10287000"/>
  <p:notesSz cx="6858000" cy="9144000"/>
  <p:embeddedFontLst>
    <p:embeddedFont>
      <p:font typeface="Arial Rounded MT Bold" panose="020F0704030504030204" pitchFamily="34" charset="0"/>
      <p:regular r:id="rId16"/>
    </p:embeddedFont>
    <p:embeddedFont>
      <p:font typeface="Bahnschrift SemiBold" panose="020B0502040204020203" pitchFamily="34" charset="0"/>
      <p:bold r:id="rId17"/>
    </p:embeddedFont>
    <p:embeddedFont>
      <p:font typeface="Baskerville Old Face" panose="02020602080505020303" pitchFamily="18" charset="0"/>
      <p:regular r:id="rId18"/>
    </p:embeddedFont>
    <p:embeddedFont>
      <p:font typeface="Bodoni MT Black" panose="02070A03080606020203" pitchFamily="18" charset="0"/>
      <p:bold r:id="rId19"/>
      <p:boldItalic r:id="rId20"/>
    </p:embeddedFont>
    <p:embeddedFont>
      <p:font typeface="Calibri" panose="020F0502020204030204" pitchFamily="34" charset="0"/>
      <p:regular r:id="rId21"/>
      <p:bold r:id="rId22"/>
      <p:italic r:id="rId23"/>
      <p:boldItalic r:id="rId24"/>
    </p:embeddedFont>
    <p:embeddedFont>
      <p:font typeface="Cambria" panose="02040503050406030204" pitchFamily="18" charset="0"/>
      <p:regular r:id="rId25"/>
      <p:bold r:id="rId26"/>
      <p:italic r:id="rId27"/>
      <p:boldItalic r:id="rId28"/>
    </p:embeddedFont>
    <p:embeddedFont>
      <p:font typeface="Cormorant Garamond Bold Italics" panose="020B0604020202020204" charset="0"/>
      <p:boldItalic r:id="rId29"/>
    </p:embeddedFont>
    <p:embeddedFont>
      <p:font typeface="Quicksand" panose="020B0604020202020204" charset="0"/>
      <p:regular r:id="rId3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7F6360EB-43D0-4314-A05A-4395A77A3AB9}">
          <p14:sldIdLst>
            <p14:sldId id="256"/>
            <p14:sldId id="257"/>
            <p14:sldId id="258"/>
            <p14:sldId id="259"/>
            <p14:sldId id="260"/>
          </p14:sldIdLst>
        </p14:section>
        <p14:section name="Untitled Section" id="{668B8066-659B-484F-9A66-29989371EEB7}">
          <p14:sldIdLst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l jae Jeon" initials="AjJ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25" autoAdjust="0"/>
    <p:restoredTop sz="91481" autoAdjust="0"/>
  </p:normalViewPr>
  <p:slideViewPr>
    <p:cSldViewPr showGuides="1">
      <p:cViewPr>
        <p:scale>
          <a:sx n="30" d="100"/>
          <a:sy n="30" d="100"/>
        </p:scale>
        <p:origin x="664" y="1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-6028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26" Type="http://schemas.openxmlformats.org/officeDocument/2006/relationships/font" Target="fonts/font11.fntdata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font" Target="fonts/font10.fntdata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29" Type="http://schemas.openxmlformats.org/officeDocument/2006/relationships/font" Target="fonts/font1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9.fntdata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font" Target="fonts/font8.fntdata"/><Relationship Id="rId28" Type="http://schemas.openxmlformats.org/officeDocument/2006/relationships/font" Target="fonts/font13.fntdata"/><Relationship Id="rId36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31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7.fntdata"/><Relationship Id="rId27" Type="http://schemas.openxmlformats.org/officeDocument/2006/relationships/font" Target="fonts/font12.fntdata"/><Relationship Id="rId30" Type="http://schemas.openxmlformats.org/officeDocument/2006/relationships/font" Target="fonts/font15.fntdata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 jae Jeon" userId="a1457b7d8d895bc6" providerId="LiveId" clId="{B23DC91B-E58F-4528-A8FD-1C96BF6E2B59}"/>
    <pc:docChg chg="undo custSel modSld">
      <pc:chgData name="Al jae Jeon" userId="a1457b7d8d895bc6" providerId="LiveId" clId="{B23DC91B-E58F-4528-A8FD-1C96BF6E2B59}" dt="2025-06-25T08:21:34.846" v="118" actId="20577"/>
      <pc:docMkLst>
        <pc:docMk/>
      </pc:docMkLst>
      <pc:sldChg chg="addSp delSp modSp mod">
        <pc:chgData name="Al jae Jeon" userId="a1457b7d8d895bc6" providerId="LiveId" clId="{B23DC91B-E58F-4528-A8FD-1C96BF6E2B59}" dt="2025-06-25T08:21:34.846" v="118" actId="20577"/>
        <pc:sldMkLst>
          <pc:docMk/>
          <pc:sldMk cId="0" sldId="258"/>
        </pc:sldMkLst>
        <pc:spChg chg="del">
          <ac:chgData name="Al jae Jeon" userId="a1457b7d8d895bc6" providerId="LiveId" clId="{B23DC91B-E58F-4528-A8FD-1C96BF6E2B59}" dt="2025-06-25T08:20:12.179" v="114" actId="478"/>
          <ac:spMkLst>
            <pc:docMk/>
            <pc:sldMk cId="0" sldId="258"/>
            <ac:spMk id="2" creationId="{00000000-0000-0000-0000-000000000000}"/>
          </ac:spMkLst>
        </pc:spChg>
        <pc:spChg chg="add mod">
          <ac:chgData name="Al jae Jeon" userId="a1457b7d8d895bc6" providerId="LiveId" clId="{B23DC91B-E58F-4528-A8FD-1C96BF6E2B59}" dt="2025-06-25T08:21:34.846" v="118" actId="20577"/>
          <ac:spMkLst>
            <pc:docMk/>
            <pc:sldMk cId="0" sldId="258"/>
            <ac:spMk id="9" creationId="{EA2EF382-B471-4E25-967B-AC0FD8626B62}"/>
          </ac:spMkLst>
        </pc:spChg>
      </pc:sldChg>
      <pc:sldChg chg="addSp delSp modSp mod">
        <pc:chgData name="Al jae Jeon" userId="a1457b7d8d895bc6" providerId="LiveId" clId="{B23DC91B-E58F-4528-A8FD-1C96BF6E2B59}" dt="2025-06-25T08:09:29.996" v="91" actId="20577"/>
        <pc:sldMkLst>
          <pc:docMk/>
          <pc:sldMk cId="0" sldId="259"/>
        </pc:sldMkLst>
        <pc:spChg chg="mod">
          <ac:chgData name="Al jae Jeon" userId="a1457b7d8d895bc6" providerId="LiveId" clId="{B23DC91B-E58F-4528-A8FD-1C96BF6E2B59}" dt="2025-06-25T08:09:29.996" v="91" actId="20577"/>
          <ac:spMkLst>
            <pc:docMk/>
            <pc:sldMk cId="0" sldId="259"/>
            <ac:spMk id="6" creationId="{00000000-0000-0000-0000-000000000000}"/>
          </ac:spMkLst>
        </pc:spChg>
        <pc:spChg chg="mod ord">
          <ac:chgData name="Al jae Jeon" userId="a1457b7d8d895bc6" providerId="LiveId" clId="{B23DC91B-E58F-4528-A8FD-1C96BF6E2B59}" dt="2025-06-25T08:07:30.583" v="16" actId="207"/>
          <ac:spMkLst>
            <pc:docMk/>
            <pc:sldMk cId="0" sldId="259"/>
            <ac:spMk id="15" creationId="{00000000-0000-0000-0000-000000000000}"/>
          </ac:spMkLst>
        </pc:spChg>
        <pc:picChg chg="add del mod">
          <ac:chgData name="Al jae Jeon" userId="a1457b7d8d895bc6" providerId="LiveId" clId="{B23DC91B-E58F-4528-A8FD-1C96BF6E2B59}" dt="2025-06-25T08:02:47.170" v="1" actId="931"/>
          <ac:picMkLst>
            <pc:docMk/>
            <pc:sldMk cId="0" sldId="259"/>
            <ac:picMk id="9" creationId="{A0997D64-ED03-4238-94B2-5BDC9C22D0A6}"/>
          </ac:picMkLst>
        </pc:picChg>
        <pc:picChg chg="add del mod">
          <ac:chgData name="Al jae Jeon" userId="a1457b7d8d895bc6" providerId="LiveId" clId="{B23DC91B-E58F-4528-A8FD-1C96BF6E2B59}" dt="2025-06-25T08:05:58.430" v="9" actId="931"/>
          <ac:picMkLst>
            <pc:docMk/>
            <pc:sldMk cId="0" sldId="259"/>
            <ac:picMk id="11" creationId="{24E80E1D-5E40-4949-9011-647B03E7AD94}"/>
          </ac:picMkLst>
        </pc:picChg>
      </pc:sldChg>
      <pc:sldChg chg="modSp mod">
        <pc:chgData name="Al jae Jeon" userId="a1457b7d8d895bc6" providerId="LiveId" clId="{B23DC91B-E58F-4528-A8FD-1C96BF6E2B59}" dt="2025-06-25T08:09:54.406" v="113" actId="20577"/>
        <pc:sldMkLst>
          <pc:docMk/>
          <pc:sldMk cId="0" sldId="260"/>
        </pc:sldMkLst>
        <pc:spChg chg="mod">
          <ac:chgData name="Al jae Jeon" userId="a1457b7d8d895bc6" providerId="LiveId" clId="{B23DC91B-E58F-4528-A8FD-1C96BF6E2B59}" dt="2025-06-25T08:09:54.406" v="113" actId="20577"/>
          <ac:spMkLst>
            <pc:docMk/>
            <pc:sldMk cId="0" sldId="260"/>
            <ac:spMk id="17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43F15EC-B669-4B51-9C72-82C581AA6060}" type="datetimeFigureOut">
              <a:rPr lang="en-US" smtClean="0"/>
              <a:t>6/24/2025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615A7C9-E98A-4DCA-954D-43B2F92227A6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15A7C9-E98A-4DCA-954D-43B2F92227A6}" type="slidenum">
              <a:rPr lang="en-US" smtClean="0"/>
              <a:t>5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6/24/2025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6/24/2025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6/24/2025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6/24/2025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6/24/2025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6/24/2025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6/24/2025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6/24/2025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6/24/2025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6/24/2025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6/24/2025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6/24/2025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eg"/><Relationship Id="rId3" Type="http://schemas.openxmlformats.org/officeDocument/2006/relationships/image" Target="../media/image3.svg"/><Relationship Id="rId7" Type="http://schemas.openxmlformats.org/officeDocument/2006/relationships/image" Target="../media/image6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microsoft.com/office/2007/relationships/hdphoto" Target="../media/hdphoto1.wdp"/><Relationship Id="rId5" Type="http://schemas.openxmlformats.org/officeDocument/2006/relationships/image" Target="../media/image5.png"/><Relationship Id="rId4" Type="http://schemas.openxmlformats.org/officeDocument/2006/relationships/image" Target="../media/image4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2499" y="2325254"/>
            <a:ext cx="16229942" cy="31857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6010"/>
              </a:lnSpc>
              <a:spcBef>
                <a:spcPct val="0"/>
              </a:spcBef>
            </a:pPr>
            <a:r>
              <a:rPr lang="en-US" sz="18575" b="1" i="1" dirty="0">
                <a:solidFill>
                  <a:schemeClr val="accent6">
                    <a:lumMod val="75000"/>
                  </a:schemeClr>
                </a:solidFill>
                <a:latin typeface="Cormorant Garamond Bold Italics" panose="00000800000000000000"/>
                <a:ea typeface="Cormorant Garamond Bold Italics" panose="00000800000000000000"/>
                <a:cs typeface="Cormorant Garamond Bold Italics" panose="00000800000000000000"/>
                <a:sym typeface="Cormorant Garamond Bold Italics" panose="00000800000000000000"/>
              </a:rPr>
              <a:t>DBMS Project</a:t>
            </a:r>
          </a:p>
        </p:txBody>
      </p:sp>
      <p:sp>
        <p:nvSpPr>
          <p:cNvPr id="3" name="AutoShape 3"/>
          <p:cNvSpPr/>
          <p:nvPr/>
        </p:nvSpPr>
        <p:spPr>
          <a:xfrm>
            <a:off x="9158735" y="990600"/>
            <a:ext cx="8114971" cy="0"/>
          </a:xfrm>
          <a:prstGeom prst="line">
            <a:avLst/>
          </a:prstGeom>
          <a:ln w="76200" cap="flat">
            <a:solidFill>
              <a:srgbClr val="0F4662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AutoShape 4"/>
          <p:cNvSpPr/>
          <p:nvPr/>
        </p:nvSpPr>
        <p:spPr>
          <a:xfrm>
            <a:off x="1043764" y="9296400"/>
            <a:ext cx="8114971" cy="0"/>
          </a:xfrm>
          <a:prstGeom prst="line">
            <a:avLst/>
          </a:prstGeom>
          <a:ln w="76200" cap="flat">
            <a:solidFill>
              <a:srgbClr val="0F4662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" name="Freeform 5"/>
          <p:cNvSpPr/>
          <p:nvPr/>
        </p:nvSpPr>
        <p:spPr>
          <a:xfrm>
            <a:off x="9618706" y="9037492"/>
            <a:ext cx="2968854" cy="441617"/>
          </a:xfrm>
          <a:custGeom>
            <a:avLst/>
            <a:gdLst/>
            <a:ahLst/>
            <a:cxnLst/>
            <a:rect l="l" t="t" r="r" b="b"/>
            <a:pathLst>
              <a:path w="2968854" h="441617">
                <a:moveTo>
                  <a:pt x="0" y="0"/>
                </a:moveTo>
                <a:lnTo>
                  <a:pt x="2968854" y="0"/>
                </a:lnTo>
                <a:lnTo>
                  <a:pt x="2968854" y="441616"/>
                </a:lnTo>
                <a:lnTo>
                  <a:pt x="0" y="44161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2514600" y="5969585"/>
            <a:ext cx="12812922" cy="8045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845"/>
              </a:lnSpc>
              <a:spcBef>
                <a:spcPct val="0"/>
              </a:spcBef>
            </a:pPr>
            <a:r>
              <a:rPr lang="en-US" sz="4890" dirty="0">
                <a:solidFill>
                  <a:srgbClr val="FFFF00"/>
                </a:solidFill>
                <a:latin typeface="Quicksand"/>
                <a:ea typeface="Quicksand"/>
                <a:cs typeface="Quicksand"/>
                <a:sym typeface="Quicksand"/>
              </a:rPr>
              <a:t>Prepared by group3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322178" y="2066346"/>
            <a:ext cx="11643643" cy="5298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395"/>
              </a:lnSpc>
              <a:spcBef>
                <a:spcPct val="0"/>
              </a:spcBef>
            </a:pPr>
            <a:r>
              <a:rPr lang="en-US" sz="3140" dirty="0">
                <a:solidFill>
                  <a:srgbClr val="FFFF00"/>
                </a:solidFill>
                <a:latin typeface="Quicksand"/>
                <a:ea typeface="Quicksand"/>
                <a:cs typeface="Quicksand"/>
                <a:sym typeface="Quicksand"/>
              </a:rPr>
              <a:t>GTI (POL)</a:t>
            </a:r>
          </a:p>
        </p:txBody>
      </p:sp>
      <p:sp>
        <p:nvSpPr>
          <p:cNvPr id="9" name="Freeform 9"/>
          <p:cNvSpPr/>
          <p:nvPr/>
        </p:nvSpPr>
        <p:spPr>
          <a:xfrm>
            <a:off x="5646742" y="807892"/>
            <a:ext cx="2968854" cy="441617"/>
          </a:xfrm>
          <a:custGeom>
            <a:avLst/>
            <a:gdLst/>
            <a:ahLst/>
            <a:cxnLst/>
            <a:rect l="l" t="t" r="r" b="b"/>
            <a:pathLst>
              <a:path w="2968854" h="441617">
                <a:moveTo>
                  <a:pt x="0" y="0"/>
                </a:moveTo>
                <a:lnTo>
                  <a:pt x="2968854" y="0"/>
                </a:lnTo>
                <a:lnTo>
                  <a:pt x="2968854" y="441616"/>
                </a:lnTo>
                <a:lnTo>
                  <a:pt x="0" y="44161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/>
          <p:cNvSpPr/>
          <p:nvPr/>
        </p:nvSpPr>
        <p:spPr>
          <a:xfrm>
            <a:off x="38127" y="361278"/>
            <a:ext cx="17532626" cy="9879496"/>
          </a:xfrm>
          <a:custGeom>
            <a:avLst/>
            <a:gdLst>
              <a:gd name="connsiteX0" fmla="*/ 17532626 w 17532626"/>
              <a:gd name="connsiteY0" fmla="*/ 0 h 9879496"/>
              <a:gd name="connsiteX1" fmla="*/ 17532626 w 17532626"/>
              <a:gd name="connsiteY1" fmla="*/ 0 h 9879496"/>
              <a:gd name="connsiteX2" fmla="*/ 17373600 w 17532626"/>
              <a:gd name="connsiteY2" fmla="*/ 79513 h 9879496"/>
              <a:gd name="connsiteX3" fmla="*/ 17234452 w 17532626"/>
              <a:gd name="connsiteY3" fmla="*/ 198783 h 9879496"/>
              <a:gd name="connsiteX4" fmla="*/ 17095305 w 17532626"/>
              <a:gd name="connsiteY4" fmla="*/ 258418 h 9879496"/>
              <a:gd name="connsiteX5" fmla="*/ 16995913 w 17532626"/>
              <a:gd name="connsiteY5" fmla="*/ 337931 h 9879496"/>
              <a:gd name="connsiteX6" fmla="*/ 16737496 w 17532626"/>
              <a:gd name="connsiteY6" fmla="*/ 437322 h 9879496"/>
              <a:gd name="connsiteX7" fmla="*/ 16538713 w 17532626"/>
              <a:gd name="connsiteY7" fmla="*/ 576470 h 9879496"/>
              <a:gd name="connsiteX8" fmla="*/ 16399565 w 17532626"/>
              <a:gd name="connsiteY8" fmla="*/ 596348 h 9879496"/>
              <a:gd name="connsiteX9" fmla="*/ 16161026 w 17532626"/>
              <a:gd name="connsiteY9" fmla="*/ 715618 h 9879496"/>
              <a:gd name="connsiteX10" fmla="*/ 16101392 w 17532626"/>
              <a:gd name="connsiteY10" fmla="*/ 775252 h 9879496"/>
              <a:gd name="connsiteX11" fmla="*/ 16041757 w 17532626"/>
              <a:gd name="connsiteY11" fmla="*/ 815009 h 9879496"/>
              <a:gd name="connsiteX12" fmla="*/ 15962244 w 17532626"/>
              <a:gd name="connsiteY12" fmla="*/ 974035 h 9879496"/>
              <a:gd name="connsiteX13" fmla="*/ 15882731 w 17532626"/>
              <a:gd name="connsiteY13" fmla="*/ 1113183 h 9879496"/>
              <a:gd name="connsiteX14" fmla="*/ 15743583 w 17532626"/>
              <a:gd name="connsiteY14" fmla="*/ 1172818 h 9879496"/>
              <a:gd name="connsiteX15" fmla="*/ 15544800 w 17532626"/>
              <a:gd name="connsiteY15" fmla="*/ 1391478 h 9879496"/>
              <a:gd name="connsiteX16" fmla="*/ 15365896 w 17532626"/>
              <a:gd name="connsiteY16" fmla="*/ 1510748 h 9879496"/>
              <a:gd name="connsiteX17" fmla="*/ 15266505 w 17532626"/>
              <a:gd name="connsiteY17" fmla="*/ 1630018 h 9879496"/>
              <a:gd name="connsiteX18" fmla="*/ 15127357 w 17532626"/>
              <a:gd name="connsiteY18" fmla="*/ 1769165 h 9879496"/>
              <a:gd name="connsiteX19" fmla="*/ 15107479 w 17532626"/>
              <a:gd name="connsiteY19" fmla="*/ 2325757 h 9879496"/>
              <a:gd name="connsiteX20" fmla="*/ 15246626 w 17532626"/>
              <a:gd name="connsiteY20" fmla="*/ 2484783 h 9879496"/>
              <a:gd name="connsiteX21" fmla="*/ 15385774 w 17532626"/>
              <a:gd name="connsiteY21" fmla="*/ 2623931 h 9879496"/>
              <a:gd name="connsiteX22" fmla="*/ 15425531 w 17532626"/>
              <a:gd name="connsiteY22" fmla="*/ 2703444 h 9879496"/>
              <a:gd name="connsiteX23" fmla="*/ 15584557 w 17532626"/>
              <a:gd name="connsiteY23" fmla="*/ 2922105 h 9879496"/>
              <a:gd name="connsiteX24" fmla="*/ 15703826 w 17532626"/>
              <a:gd name="connsiteY24" fmla="*/ 3101009 h 9879496"/>
              <a:gd name="connsiteX25" fmla="*/ 15783339 w 17532626"/>
              <a:gd name="connsiteY25" fmla="*/ 3160644 h 9879496"/>
              <a:gd name="connsiteX26" fmla="*/ 15842974 w 17532626"/>
              <a:gd name="connsiteY26" fmla="*/ 3200400 h 9879496"/>
              <a:gd name="connsiteX27" fmla="*/ 16021879 w 17532626"/>
              <a:gd name="connsiteY27" fmla="*/ 3379305 h 9879496"/>
              <a:gd name="connsiteX28" fmla="*/ 16161026 w 17532626"/>
              <a:gd name="connsiteY28" fmla="*/ 3458818 h 9879496"/>
              <a:gd name="connsiteX29" fmla="*/ 16220661 w 17532626"/>
              <a:gd name="connsiteY29" fmla="*/ 3518452 h 9879496"/>
              <a:gd name="connsiteX30" fmla="*/ 16300174 w 17532626"/>
              <a:gd name="connsiteY30" fmla="*/ 3558209 h 9879496"/>
              <a:gd name="connsiteX31" fmla="*/ 16359809 w 17532626"/>
              <a:gd name="connsiteY31" fmla="*/ 3617844 h 9879496"/>
              <a:gd name="connsiteX32" fmla="*/ 16518835 w 17532626"/>
              <a:gd name="connsiteY32" fmla="*/ 3677478 h 9879496"/>
              <a:gd name="connsiteX33" fmla="*/ 16578470 w 17532626"/>
              <a:gd name="connsiteY33" fmla="*/ 3717235 h 9879496"/>
              <a:gd name="connsiteX34" fmla="*/ 16657983 w 17532626"/>
              <a:gd name="connsiteY34" fmla="*/ 3955774 h 9879496"/>
              <a:gd name="connsiteX35" fmla="*/ 16677861 w 17532626"/>
              <a:gd name="connsiteY35" fmla="*/ 4035287 h 9879496"/>
              <a:gd name="connsiteX36" fmla="*/ 16717618 w 17532626"/>
              <a:gd name="connsiteY36" fmla="*/ 4094922 h 9879496"/>
              <a:gd name="connsiteX37" fmla="*/ 16797131 w 17532626"/>
              <a:gd name="connsiteY37" fmla="*/ 4393096 h 9879496"/>
              <a:gd name="connsiteX38" fmla="*/ 16777252 w 17532626"/>
              <a:gd name="connsiteY38" fmla="*/ 4929809 h 9879496"/>
              <a:gd name="connsiteX39" fmla="*/ 16757374 w 17532626"/>
              <a:gd name="connsiteY39" fmla="*/ 5088835 h 9879496"/>
              <a:gd name="connsiteX40" fmla="*/ 16737496 w 17532626"/>
              <a:gd name="connsiteY40" fmla="*/ 5168348 h 9879496"/>
              <a:gd name="connsiteX41" fmla="*/ 16598348 w 17532626"/>
              <a:gd name="connsiteY41" fmla="*/ 5247861 h 9879496"/>
              <a:gd name="connsiteX42" fmla="*/ 16558592 w 17532626"/>
              <a:gd name="connsiteY42" fmla="*/ 5307496 h 9879496"/>
              <a:gd name="connsiteX43" fmla="*/ 16439322 w 17532626"/>
              <a:gd name="connsiteY43" fmla="*/ 5406887 h 9879496"/>
              <a:gd name="connsiteX44" fmla="*/ 16379687 w 17532626"/>
              <a:gd name="connsiteY44" fmla="*/ 5426765 h 9879496"/>
              <a:gd name="connsiteX45" fmla="*/ 16280296 w 17532626"/>
              <a:gd name="connsiteY45" fmla="*/ 5546035 h 9879496"/>
              <a:gd name="connsiteX46" fmla="*/ 16161026 w 17532626"/>
              <a:gd name="connsiteY46" fmla="*/ 5645426 h 9879496"/>
              <a:gd name="connsiteX47" fmla="*/ 16101392 w 17532626"/>
              <a:gd name="connsiteY47" fmla="*/ 5685183 h 9879496"/>
              <a:gd name="connsiteX48" fmla="*/ 15564679 w 17532626"/>
              <a:gd name="connsiteY48" fmla="*/ 5784574 h 9879496"/>
              <a:gd name="connsiteX49" fmla="*/ 15505044 w 17532626"/>
              <a:gd name="connsiteY49" fmla="*/ 5804452 h 9879496"/>
              <a:gd name="connsiteX50" fmla="*/ 15047844 w 17532626"/>
              <a:gd name="connsiteY50" fmla="*/ 5844209 h 9879496"/>
              <a:gd name="connsiteX51" fmla="*/ 14709913 w 17532626"/>
              <a:gd name="connsiteY51" fmla="*/ 5883965 h 9879496"/>
              <a:gd name="connsiteX52" fmla="*/ 14570765 w 17532626"/>
              <a:gd name="connsiteY52" fmla="*/ 5903844 h 9879496"/>
              <a:gd name="connsiteX53" fmla="*/ 13914783 w 17532626"/>
              <a:gd name="connsiteY53" fmla="*/ 5943600 h 9879496"/>
              <a:gd name="connsiteX54" fmla="*/ 13795513 w 17532626"/>
              <a:gd name="connsiteY54" fmla="*/ 5963478 h 9879496"/>
              <a:gd name="connsiteX55" fmla="*/ 13616609 w 17532626"/>
              <a:gd name="connsiteY55" fmla="*/ 6023113 h 9879496"/>
              <a:gd name="connsiteX56" fmla="*/ 13556974 w 17532626"/>
              <a:gd name="connsiteY56" fmla="*/ 6062870 h 9879496"/>
              <a:gd name="connsiteX57" fmla="*/ 13477461 w 17532626"/>
              <a:gd name="connsiteY57" fmla="*/ 6122505 h 9879496"/>
              <a:gd name="connsiteX58" fmla="*/ 13417826 w 17532626"/>
              <a:gd name="connsiteY58" fmla="*/ 6182139 h 9879496"/>
              <a:gd name="connsiteX59" fmla="*/ 13318435 w 17532626"/>
              <a:gd name="connsiteY59" fmla="*/ 6221896 h 9879496"/>
              <a:gd name="connsiteX60" fmla="*/ 13219044 w 17532626"/>
              <a:gd name="connsiteY60" fmla="*/ 6281531 h 9879496"/>
              <a:gd name="connsiteX61" fmla="*/ 13179287 w 17532626"/>
              <a:gd name="connsiteY61" fmla="*/ 6380922 h 9879496"/>
              <a:gd name="connsiteX62" fmla="*/ 13060018 w 17532626"/>
              <a:gd name="connsiteY62" fmla="*/ 6460435 h 9879496"/>
              <a:gd name="connsiteX63" fmla="*/ 13000383 w 17532626"/>
              <a:gd name="connsiteY63" fmla="*/ 6520070 h 9879496"/>
              <a:gd name="connsiteX64" fmla="*/ 12980505 w 17532626"/>
              <a:gd name="connsiteY64" fmla="*/ 6599583 h 9879496"/>
              <a:gd name="connsiteX65" fmla="*/ 12960626 w 17532626"/>
              <a:gd name="connsiteY65" fmla="*/ 6659218 h 9879496"/>
              <a:gd name="connsiteX66" fmla="*/ 12920870 w 17532626"/>
              <a:gd name="connsiteY66" fmla="*/ 6877878 h 9879496"/>
              <a:gd name="connsiteX67" fmla="*/ 13040139 w 17532626"/>
              <a:gd name="connsiteY67" fmla="*/ 7116418 h 9879496"/>
              <a:gd name="connsiteX68" fmla="*/ 13079896 w 17532626"/>
              <a:gd name="connsiteY68" fmla="*/ 7176052 h 9879496"/>
              <a:gd name="connsiteX69" fmla="*/ 13119652 w 17532626"/>
              <a:gd name="connsiteY69" fmla="*/ 7335078 h 9879496"/>
              <a:gd name="connsiteX70" fmla="*/ 13139531 w 17532626"/>
              <a:gd name="connsiteY70" fmla="*/ 7394713 h 9879496"/>
              <a:gd name="connsiteX71" fmla="*/ 13219044 w 17532626"/>
              <a:gd name="connsiteY71" fmla="*/ 7434470 h 9879496"/>
              <a:gd name="connsiteX72" fmla="*/ 13278679 w 17532626"/>
              <a:gd name="connsiteY72" fmla="*/ 7474226 h 9879496"/>
              <a:gd name="connsiteX73" fmla="*/ 13298557 w 17532626"/>
              <a:gd name="connsiteY73" fmla="*/ 7533861 h 9879496"/>
              <a:gd name="connsiteX74" fmla="*/ 13278679 w 17532626"/>
              <a:gd name="connsiteY74" fmla="*/ 7732644 h 9879496"/>
              <a:gd name="connsiteX75" fmla="*/ 13238922 w 17532626"/>
              <a:gd name="connsiteY75" fmla="*/ 7792278 h 9879496"/>
              <a:gd name="connsiteX76" fmla="*/ 13159409 w 17532626"/>
              <a:gd name="connsiteY76" fmla="*/ 7832035 h 9879496"/>
              <a:gd name="connsiteX77" fmla="*/ 13020261 w 17532626"/>
              <a:gd name="connsiteY77" fmla="*/ 7871791 h 9879496"/>
              <a:gd name="connsiteX78" fmla="*/ 12761844 w 17532626"/>
              <a:gd name="connsiteY78" fmla="*/ 7851913 h 9879496"/>
              <a:gd name="connsiteX79" fmla="*/ 12662452 w 17532626"/>
              <a:gd name="connsiteY79" fmla="*/ 7812157 h 9879496"/>
              <a:gd name="connsiteX80" fmla="*/ 12582939 w 17532626"/>
              <a:gd name="connsiteY80" fmla="*/ 7792278 h 9879496"/>
              <a:gd name="connsiteX81" fmla="*/ 12563061 w 17532626"/>
              <a:gd name="connsiteY81" fmla="*/ 7871791 h 9879496"/>
              <a:gd name="connsiteX82" fmla="*/ 12483548 w 17532626"/>
              <a:gd name="connsiteY82" fmla="*/ 7792278 h 9879496"/>
              <a:gd name="connsiteX83" fmla="*/ 12404035 w 17532626"/>
              <a:gd name="connsiteY83" fmla="*/ 7732644 h 9879496"/>
              <a:gd name="connsiteX84" fmla="*/ 12225131 w 17532626"/>
              <a:gd name="connsiteY84" fmla="*/ 7653131 h 9879496"/>
              <a:gd name="connsiteX85" fmla="*/ 11986592 w 17532626"/>
              <a:gd name="connsiteY85" fmla="*/ 7434470 h 9879496"/>
              <a:gd name="connsiteX86" fmla="*/ 11926957 w 17532626"/>
              <a:gd name="connsiteY86" fmla="*/ 7394713 h 9879496"/>
              <a:gd name="connsiteX87" fmla="*/ 11767931 w 17532626"/>
              <a:gd name="connsiteY87" fmla="*/ 7315200 h 9879496"/>
              <a:gd name="connsiteX88" fmla="*/ 11728174 w 17532626"/>
              <a:gd name="connsiteY88" fmla="*/ 7255565 h 9879496"/>
              <a:gd name="connsiteX89" fmla="*/ 11708296 w 17532626"/>
              <a:gd name="connsiteY89" fmla="*/ 7195931 h 9879496"/>
              <a:gd name="connsiteX90" fmla="*/ 11529392 w 17532626"/>
              <a:gd name="connsiteY90" fmla="*/ 7036905 h 9879496"/>
              <a:gd name="connsiteX91" fmla="*/ 11469757 w 17532626"/>
              <a:gd name="connsiteY91" fmla="*/ 6977270 h 9879496"/>
              <a:gd name="connsiteX92" fmla="*/ 11231218 w 17532626"/>
              <a:gd name="connsiteY92" fmla="*/ 6818244 h 9879496"/>
              <a:gd name="connsiteX93" fmla="*/ 11131826 w 17532626"/>
              <a:gd name="connsiteY93" fmla="*/ 6798365 h 9879496"/>
              <a:gd name="connsiteX94" fmla="*/ 10992679 w 17532626"/>
              <a:gd name="connsiteY94" fmla="*/ 6698974 h 9879496"/>
              <a:gd name="connsiteX95" fmla="*/ 10913165 w 17532626"/>
              <a:gd name="connsiteY95" fmla="*/ 6639339 h 9879496"/>
              <a:gd name="connsiteX96" fmla="*/ 10595113 w 17532626"/>
              <a:gd name="connsiteY96" fmla="*/ 6480313 h 9879496"/>
              <a:gd name="connsiteX97" fmla="*/ 10515600 w 17532626"/>
              <a:gd name="connsiteY97" fmla="*/ 6440557 h 9879496"/>
              <a:gd name="connsiteX98" fmla="*/ 10197548 w 17532626"/>
              <a:gd name="connsiteY98" fmla="*/ 6400800 h 9879496"/>
              <a:gd name="connsiteX99" fmla="*/ 9839739 w 17532626"/>
              <a:gd name="connsiteY99" fmla="*/ 6460435 h 9879496"/>
              <a:gd name="connsiteX100" fmla="*/ 9780105 w 17532626"/>
              <a:gd name="connsiteY100" fmla="*/ 6500191 h 9879496"/>
              <a:gd name="connsiteX101" fmla="*/ 9700592 w 17532626"/>
              <a:gd name="connsiteY101" fmla="*/ 6539948 h 9879496"/>
              <a:gd name="connsiteX102" fmla="*/ 9521687 w 17532626"/>
              <a:gd name="connsiteY102" fmla="*/ 6679096 h 9879496"/>
              <a:gd name="connsiteX103" fmla="*/ 9382539 w 17532626"/>
              <a:gd name="connsiteY103" fmla="*/ 6718852 h 9879496"/>
              <a:gd name="connsiteX104" fmla="*/ 9223513 w 17532626"/>
              <a:gd name="connsiteY104" fmla="*/ 6818244 h 9879496"/>
              <a:gd name="connsiteX105" fmla="*/ 8825948 w 17532626"/>
              <a:gd name="connsiteY105" fmla="*/ 6977270 h 9879496"/>
              <a:gd name="connsiteX106" fmla="*/ 8627165 w 17532626"/>
              <a:gd name="connsiteY106" fmla="*/ 7136296 h 9879496"/>
              <a:gd name="connsiteX107" fmla="*/ 8488018 w 17532626"/>
              <a:gd name="connsiteY107" fmla="*/ 7275444 h 9879496"/>
              <a:gd name="connsiteX108" fmla="*/ 8169965 w 17532626"/>
              <a:gd name="connsiteY108" fmla="*/ 7494105 h 9879496"/>
              <a:gd name="connsiteX109" fmla="*/ 8050696 w 17532626"/>
              <a:gd name="connsiteY109" fmla="*/ 7593496 h 9879496"/>
              <a:gd name="connsiteX110" fmla="*/ 7951305 w 17532626"/>
              <a:gd name="connsiteY110" fmla="*/ 7633252 h 9879496"/>
              <a:gd name="connsiteX111" fmla="*/ 7772400 w 17532626"/>
              <a:gd name="connsiteY111" fmla="*/ 7712765 h 9879496"/>
              <a:gd name="connsiteX112" fmla="*/ 7335079 w 17532626"/>
              <a:gd name="connsiteY112" fmla="*/ 7732644 h 9879496"/>
              <a:gd name="connsiteX113" fmla="*/ 6957392 w 17532626"/>
              <a:gd name="connsiteY113" fmla="*/ 7732644 h 9879496"/>
              <a:gd name="connsiteX114" fmla="*/ 6897757 w 17532626"/>
              <a:gd name="connsiteY114" fmla="*/ 7772400 h 9879496"/>
              <a:gd name="connsiteX115" fmla="*/ 6798365 w 17532626"/>
              <a:gd name="connsiteY115" fmla="*/ 7971183 h 9879496"/>
              <a:gd name="connsiteX116" fmla="*/ 6778487 w 17532626"/>
              <a:gd name="connsiteY116" fmla="*/ 8070574 h 9879496"/>
              <a:gd name="connsiteX117" fmla="*/ 6718852 w 17532626"/>
              <a:gd name="connsiteY117" fmla="*/ 8130209 h 9879496"/>
              <a:gd name="connsiteX118" fmla="*/ 6579705 w 17532626"/>
              <a:gd name="connsiteY118" fmla="*/ 8309113 h 9879496"/>
              <a:gd name="connsiteX119" fmla="*/ 6460435 w 17532626"/>
              <a:gd name="connsiteY119" fmla="*/ 8507896 h 9879496"/>
              <a:gd name="connsiteX120" fmla="*/ 6281531 w 17532626"/>
              <a:gd name="connsiteY120" fmla="*/ 8607287 h 9879496"/>
              <a:gd name="connsiteX121" fmla="*/ 6221896 w 17532626"/>
              <a:gd name="connsiteY121" fmla="*/ 8666922 h 9879496"/>
              <a:gd name="connsiteX122" fmla="*/ 6142383 w 17532626"/>
              <a:gd name="connsiteY122" fmla="*/ 8686800 h 9879496"/>
              <a:gd name="connsiteX123" fmla="*/ 6062870 w 17532626"/>
              <a:gd name="connsiteY123" fmla="*/ 8726557 h 9879496"/>
              <a:gd name="connsiteX124" fmla="*/ 5963479 w 17532626"/>
              <a:gd name="connsiteY124" fmla="*/ 8746435 h 9879496"/>
              <a:gd name="connsiteX125" fmla="*/ 5864087 w 17532626"/>
              <a:gd name="connsiteY125" fmla="*/ 8786191 h 9879496"/>
              <a:gd name="connsiteX126" fmla="*/ 5764696 w 17532626"/>
              <a:gd name="connsiteY126" fmla="*/ 8806070 h 9879496"/>
              <a:gd name="connsiteX127" fmla="*/ 5685183 w 17532626"/>
              <a:gd name="connsiteY127" fmla="*/ 8825948 h 9879496"/>
              <a:gd name="connsiteX128" fmla="*/ 5327374 w 17532626"/>
              <a:gd name="connsiteY128" fmla="*/ 8786191 h 9879496"/>
              <a:gd name="connsiteX129" fmla="*/ 5267739 w 17532626"/>
              <a:gd name="connsiteY129" fmla="*/ 8766313 h 9879496"/>
              <a:gd name="connsiteX130" fmla="*/ 5208105 w 17532626"/>
              <a:gd name="connsiteY130" fmla="*/ 8786191 h 9879496"/>
              <a:gd name="connsiteX131" fmla="*/ 4870174 w 17532626"/>
              <a:gd name="connsiteY131" fmla="*/ 8865705 h 9879496"/>
              <a:gd name="connsiteX132" fmla="*/ 4750905 w 17532626"/>
              <a:gd name="connsiteY132" fmla="*/ 8925339 h 9879496"/>
              <a:gd name="connsiteX133" fmla="*/ 4572000 w 17532626"/>
              <a:gd name="connsiteY133" fmla="*/ 9044609 h 9879496"/>
              <a:gd name="connsiteX134" fmla="*/ 4452731 w 17532626"/>
              <a:gd name="connsiteY134" fmla="*/ 9064487 h 9879496"/>
              <a:gd name="connsiteX135" fmla="*/ 4154557 w 17532626"/>
              <a:gd name="connsiteY135" fmla="*/ 9243391 h 9879496"/>
              <a:gd name="connsiteX136" fmla="*/ 3995531 w 17532626"/>
              <a:gd name="connsiteY136" fmla="*/ 9362661 h 9879496"/>
              <a:gd name="connsiteX137" fmla="*/ 3816626 w 17532626"/>
              <a:gd name="connsiteY137" fmla="*/ 9402418 h 9879496"/>
              <a:gd name="connsiteX138" fmla="*/ 3399183 w 17532626"/>
              <a:gd name="connsiteY138" fmla="*/ 9382539 h 9879496"/>
              <a:gd name="connsiteX139" fmla="*/ 3260035 w 17532626"/>
              <a:gd name="connsiteY139" fmla="*/ 9322905 h 9879496"/>
              <a:gd name="connsiteX140" fmla="*/ 3101009 w 17532626"/>
              <a:gd name="connsiteY140" fmla="*/ 9283148 h 9879496"/>
              <a:gd name="connsiteX141" fmla="*/ 2504661 w 17532626"/>
              <a:gd name="connsiteY141" fmla="*/ 9322905 h 9879496"/>
              <a:gd name="connsiteX142" fmla="*/ 2445026 w 17532626"/>
              <a:gd name="connsiteY142" fmla="*/ 9342783 h 9879496"/>
              <a:gd name="connsiteX143" fmla="*/ 2365513 w 17532626"/>
              <a:gd name="connsiteY143" fmla="*/ 9362661 h 9879496"/>
              <a:gd name="connsiteX144" fmla="*/ 2007705 w 17532626"/>
              <a:gd name="connsiteY144" fmla="*/ 9481931 h 9879496"/>
              <a:gd name="connsiteX145" fmla="*/ 1928192 w 17532626"/>
              <a:gd name="connsiteY145" fmla="*/ 9521687 h 9879496"/>
              <a:gd name="connsiteX146" fmla="*/ 1709531 w 17532626"/>
              <a:gd name="connsiteY146" fmla="*/ 9561444 h 9879496"/>
              <a:gd name="connsiteX147" fmla="*/ 1490870 w 17532626"/>
              <a:gd name="connsiteY147" fmla="*/ 9621078 h 9879496"/>
              <a:gd name="connsiteX148" fmla="*/ 1431235 w 17532626"/>
              <a:gd name="connsiteY148" fmla="*/ 9640957 h 9879496"/>
              <a:gd name="connsiteX149" fmla="*/ 1331844 w 17532626"/>
              <a:gd name="connsiteY149" fmla="*/ 9660835 h 9879496"/>
              <a:gd name="connsiteX150" fmla="*/ 755374 w 17532626"/>
              <a:gd name="connsiteY150" fmla="*/ 9700591 h 9879496"/>
              <a:gd name="connsiteX151" fmla="*/ 596348 w 17532626"/>
              <a:gd name="connsiteY151" fmla="*/ 9819861 h 9879496"/>
              <a:gd name="connsiteX152" fmla="*/ 556592 w 17532626"/>
              <a:gd name="connsiteY152" fmla="*/ 9819861 h 9879496"/>
              <a:gd name="connsiteX153" fmla="*/ 496957 w 17532626"/>
              <a:gd name="connsiteY153" fmla="*/ 9660835 h 9879496"/>
              <a:gd name="connsiteX154" fmla="*/ 0 w 17532626"/>
              <a:gd name="connsiteY154" fmla="*/ 9879496 h 98794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</a:cxnLst>
            <a:rect l="l" t="t" r="r" b="b"/>
            <a:pathLst>
              <a:path w="17532626" h="9879496">
                <a:moveTo>
                  <a:pt x="17532626" y="0"/>
                </a:moveTo>
                <a:lnTo>
                  <a:pt x="17532626" y="0"/>
                </a:lnTo>
                <a:cubicBezTo>
                  <a:pt x="17479617" y="26504"/>
                  <a:pt x="17422912" y="46638"/>
                  <a:pt x="17373600" y="79513"/>
                </a:cubicBezTo>
                <a:cubicBezTo>
                  <a:pt x="17226874" y="177330"/>
                  <a:pt x="17357347" y="137335"/>
                  <a:pt x="17234452" y="198783"/>
                </a:cubicBezTo>
                <a:cubicBezTo>
                  <a:pt x="17128429" y="251795"/>
                  <a:pt x="17219406" y="175684"/>
                  <a:pt x="17095305" y="258418"/>
                </a:cubicBezTo>
                <a:cubicBezTo>
                  <a:pt x="17060003" y="281953"/>
                  <a:pt x="17033862" y="318957"/>
                  <a:pt x="16995913" y="337931"/>
                </a:cubicBezTo>
                <a:cubicBezTo>
                  <a:pt x="16913366" y="379204"/>
                  <a:pt x="16809563" y="379668"/>
                  <a:pt x="16737496" y="437322"/>
                </a:cubicBezTo>
                <a:cubicBezTo>
                  <a:pt x="16693131" y="472814"/>
                  <a:pt x="16596902" y="557074"/>
                  <a:pt x="16538713" y="576470"/>
                </a:cubicBezTo>
                <a:cubicBezTo>
                  <a:pt x="16494264" y="591286"/>
                  <a:pt x="16445948" y="589722"/>
                  <a:pt x="16399565" y="596348"/>
                </a:cubicBezTo>
                <a:cubicBezTo>
                  <a:pt x="16299276" y="636464"/>
                  <a:pt x="16258241" y="647568"/>
                  <a:pt x="16161026" y="715618"/>
                </a:cubicBezTo>
                <a:cubicBezTo>
                  <a:pt x="16137996" y="731739"/>
                  <a:pt x="16122988" y="757255"/>
                  <a:pt x="16101392" y="775252"/>
                </a:cubicBezTo>
                <a:cubicBezTo>
                  <a:pt x="16083039" y="790547"/>
                  <a:pt x="16061635" y="801757"/>
                  <a:pt x="16041757" y="815009"/>
                </a:cubicBezTo>
                <a:cubicBezTo>
                  <a:pt x="16015253" y="868018"/>
                  <a:pt x="15985039" y="919328"/>
                  <a:pt x="15962244" y="974035"/>
                </a:cubicBezTo>
                <a:cubicBezTo>
                  <a:pt x="15928869" y="1054135"/>
                  <a:pt x="15968555" y="1061689"/>
                  <a:pt x="15882731" y="1113183"/>
                </a:cubicBezTo>
                <a:cubicBezTo>
                  <a:pt x="15839460" y="1139146"/>
                  <a:pt x="15789966" y="1152940"/>
                  <a:pt x="15743583" y="1172818"/>
                </a:cubicBezTo>
                <a:cubicBezTo>
                  <a:pt x="15689294" y="1237964"/>
                  <a:pt x="15612796" y="1337082"/>
                  <a:pt x="15544800" y="1391478"/>
                </a:cubicBezTo>
                <a:cubicBezTo>
                  <a:pt x="15450170" y="1467182"/>
                  <a:pt x="15447875" y="1428769"/>
                  <a:pt x="15365896" y="1510748"/>
                </a:cubicBezTo>
                <a:cubicBezTo>
                  <a:pt x="15329302" y="1547342"/>
                  <a:pt x="15303099" y="1593424"/>
                  <a:pt x="15266505" y="1630018"/>
                </a:cubicBezTo>
                <a:cubicBezTo>
                  <a:pt x="15080970" y="1815553"/>
                  <a:pt x="15286388" y="1557124"/>
                  <a:pt x="15127357" y="1769165"/>
                </a:cubicBezTo>
                <a:cubicBezTo>
                  <a:pt x="15088197" y="2004122"/>
                  <a:pt x="15058772" y="2070046"/>
                  <a:pt x="15107479" y="2325757"/>
                </a:cubicBezTo>
                <a:cubicBezTo>
                  <a:pt x="15127082" y="2428674"/>
                  <a:pt x="15185147" y="2423304"/>
                  <a:pt x="15246626" y="2484783"/>
                </a:cubicBezTo>
                <a:cubicBezTo>
                  <a:pt x="15432157" y="2670314"/>
                  <a:pt x="15173739" y="2464904"/>
                  <a:pt x="15385774" y="2623931"/>
                </a:cubicBezTo>
                <a:cubicBezTo>
                  <a:pt x="15399026" y="2650435"/>
                  <a:pt x="15410829" y="2677716"/>
                  <a:pt x="15425531" y="2703444"/>
                </a:cubicBezTo>
                <a:cubicBezTo>
                  <a:pt x="15457646" y="2759644"/>
                  <a:pt x="15574089" y="2906403"/>
                  <a:pt x="15584557" y="2922105"/>
                </a:cubicBezTo>
                <a:cubicBezTo>
                  <a:pt x="15624313" y="2981740"/>
                  <a:pt x="15646489" y="3058006"/>
                  <a:pt x="15703826" y="3101009"/>
                </a:cubicBezTo>
                <a:cubicBezTo>
                  <a:pt x="15730330" y="3120887"/>
                  <a:pt x="15756380" y="3141387"/>
                  <a:pt x="15783339" y="3160644"/>
                </a:cubicBezTo>
                <a:cubicBezTo>
                  <a:pt x="15802780" y="3174530"/>
                  <a:pt x="15825363" y="3184257"/>
                  <a:pt x="15842974" y="3200400"/>
                </a:cubicBezTo>
                <a:cubicBezTo>
                  <a:pt x="15905143" y="3257388"/>
                  <a:pt x="15948654" y="3337462"/>
                  <a:pt x="16021879" y="3379305"/>
                </a:cubicBezTo>
                <a:cubicBezTo>
                  <a:pt x="16068261" y="3405809"/>
                  <a:pt x="16117262" y="3428183"/>
                  <a:pt x="16161026" y="3458818"/>
                </a:cubicBezTo>
                <a:cubicBezTo>
                  <a:pt x="16184056" y="3474939"/>
                  <a:pt x="16197785" y="3502112"/>
                  <a:pt x="16220661" y="3518452"/>
                </a:cubicBezTo>
                <a:cubicBezTo>
                  <a:pt x="16244774" y="3535676"/>
                  <a:pt x="16276061" y="3540985"/>
                  <a:pt x="16300174" y="3558209"/>
                </a:cubicBezTo>
                <a:cubicBezTo>
                  <a:pt x="16323050" y="3574549"/>
                  <a:pt x="16336933" y="3601504"/>
                  <a:pt x="16359809" y="3617844"/>
                </a:cubicBezTo>
                <a:cubicBezTo>
                  <a:pt x="16415781" y="3657824"/>
                  <a:pt x="16454807" y="3661471"/>
                  <a:pt x="16518835" y="3677478"/>
                </a:cubicBezTo>
                <a:cubicBezTo>
                  <a:pt x="16538713" y="3690730"/>
                  <a:pt x="16563176" y="3698881"/>
                  <a:pt x="16578470" y="3717235"/>
                </a:cubicBezTo>
                <a:cubicBezTo>
                  <a:pt x="16624320" y="3772256"/>
                  <a:pt x="16644859" y="3903277"/>
                  <a:pt x="16657983" y="3955774"/>
                </a:cubicBezTo>
                <a:cubicBezTo>
                  <a:pt x="16664609" y="3982278"/>
                  <a:pt x="16662706" y="4012555"/>
                  <a:pt x="16677861" y="4035287"/>
                </a:cubicBezTo>
                <a:lnTo>
                  <a:pt x="16717618" y="4094922"/>
                </a:lnTo>
                <a:cubicBezTo>
                  <a:pt x="16764372" y="4328695"/>
                  <a:pt x="16732278" y="4230965"/>
                  <a:pt x="16797131" y="4393096"/>
                </a:cubicBezTo>
                <a:cubicBezTo>
                  <a:pt x="16790505" y="4572000"/>
                  <a:pt x="16787466" y="4751074"/>
                  <a:pt x="16777252" y="4929809"/>
                </a:cubicBezTo>
                <a:cubicBezTo>
                  <a:pt x="16774204" y="4983143"/>
                  <a:pt x="16766156" y="5036141"/>
                  <a:pt x="16757374" y="5088835"/>
                </a:cubicBezTo>
                <a:cubicBezTo>
                  <a:pt x="16752883" y="5115783"/>
                  <a:pt x="16752650" y="5145616"/>
                  <a:pt x="16737496" y="5168348"/>
                </a:cubicBezTo>
                <a:cubicBezTo>
                  <a:pt x="16723447" y="5189422"/>
                  <a:pt x="16612107" y="5240982"/>
                  <a:pt x="16598348" y="5247861"/>
                </a:cubicBezTo>
                <a:cubicBezTo>
                  <a:pt x="16585096" y="5267739"/>
                  <a:pt x="16573886" y="5289143"/>
                  <a:pt x="16558592" y="5307496"/>
                </a:cubicBezTo>
                <a:cubicBezTo>
                  <a:pt x="16527190" y="5345179"/>
                  <a:pt x="16483999" y="5384549"/>
                  <a:pt x="16439322" y="5406887"/>
                </a:cubicBezTo>
                <a:cubicBezTo>
                  <a:pt x="16420580" y="5416258"/>
                  <a:pt x="16399565" y="5420139"/>
                  <a:pt x="16379687" y="5426765"/>
                </a:cubicBezTo>
                <a:cubicBezTo>
                  <a:pt x="16294399" y="5597344"/>
                  <a:pt x="16392683" y="5433648"/>
                  <a:pt x="16280296" y="5546035"/>
                </a:cubicBezTo>
                <a:cubicBezTo>
                  <a:pt x="16171986" y="5654345"/>
                  <a:pt x="16274925" y="5607460"/>
                  <a:pt x="16161026" y="5645426"/>
                </a:cubicBezTo>
                <a:cubicBezTo>
                  <a:pt x="16141148" y="5658678"/>
                  <a:pt x="16122365" y="5673743"/>
                  <a:pt x="16101392" y="5685183"/>
                </a:cubicBezTo>
                <a:cubicBezTo>
                  <a:pt x="15854675" y="5819756"/>
                  <a:pt x="15948220" y="5764388"/>
                  <a:pt x="15564679" y="5784574"/>
                </a:cubicBezTo>
                <a:cubicBezTo>
                  <a:pt x="15544801" y="5791200"/>
                  <a:pt x="15525660" y="5800704"/>
                  <a:pt x="15505044" y="5804452"/>
                </a:cubicBezTo>
                <a:cubicBezTo>
                  <a:pt x="15374404" y="5828205"/>
                  <a:pt x="15162084" y="5836593"/>
                  <a:pt x="15047844" y="5844209"/>
                </a:cubicBezTo>
                <a:cubicBezTo>
                  <a:pt x="14870618" y="5888515"/>
                  <a:pt x="15039523" y="5851004"/>
                  <a:pt x="14709913" y="5883965"/>
                </a:cubicBezTo>
                <a:cubicBezTo>
                  <a:pt x="14663292" y="5888627"/>
                  <a:pt x="14617148" y="5897218"/>
                  <a:pt x="14570765" y="5903844"/>
                </a:cubicBezTo>
                <a:cubicBezTo>
                  <a:pt x="14317242" y="5988352"/>
                  <a:pt x="14581455" y="5906563"/>
                  <a:pt x="13914783" y="5943600"/>
                </a:cubicBezTo>
                <a:cubicBezTo>
                  <a:pt x="13874540" y="5945836"/>
                  <a:pt x="13835035" y="5955573"/>
                  <a:pt x="13795513" y="5963478"/>
                </a:cubicBezTo>
                <a:cubicBezTo>
                  <a:pt x="13732249" y="5976131"/>
                  <a:pt x="13674931" y="5993952"/>
                  <a:pt x="13616609" y="6023113"/>
                </a:cubicBezTo>
                <a:cubicBezTo>
                  <a:pt x="13595240" y="6033797"/>
                  <a:pt x="13576415" y="6048984"/>
                  <a:pt x="13556974" y="6062870"/>
                </a:cubicBezTo>
                <a:cubicBezTo>
                  <a:pt x="13530015" y="6082127"/>
                  <a:pt x="13502616" y="6100944"/>
                  <a:pt x="13477461" y="6122505"/>
                </a:cubicBezTo>
                <a:cubicBezTo>
                  <a:pt x="13456117" y="6140800"/>
                  <a:pt x="13441665" y="6167240"/>
                  <a:pt x="13417826" y="6182139"/>
                </a:cubicBezTo>
                <a:cubicBezTo>
                  <a:pt x="13387567" y="6201051"/>
                  <a:pt x="13350350" y="6205938"/>
                  <a:pt x="13318435" y="6221896"/>
                </a:cubicBezTo>
                <a:cubicBezTo>
                  <a:pt x="13283878" y="6239175"/>
                  <a:pt x="13252174" y="6261653"/>
                  <a:pt x="13219044" y="6281531"/>
                </a:cubicBezTo>
                <a:cubicBezTo>
                  <a:pt x="13205792" y="6314661"/>
                  <a:pt x="13202993" y="6354253"/>
                  <a:pt x="13179287" y="6380922"/>
                </a:cubicBezTo>
                <a:cubicBezTo>
                  <a:pt x="13147543" y="6416634"/>
                  <a:pt x="13093804" y="6426649"/>
                  <a:pt x="13060018" y="6460435"/>
                </a:cubicBezTo>
                <a:lnTo>
                  <a:pt x="13000383" y="6520070"/>
                </a:lnTo>
                <a:cubicBezTo>
                  <a:pt x="12993757" y="6546574"/>
                  <a:pt x="12988010" y="6573314"/>
                  <a:pt x="12980505" y="6599583"/>
                </a:cubicBezTo>
                <a:cubicBezTo>
                  <a:pt x="12974749" y="6619730"/>
                  <a:pt x="12964374" y="6638602"/>
                  <a:pt x="12960626" y="6659218"/>
                </a:cubicBezTo>
                <a:cubicBezTo>
                  <a:pt x="12915670" y="6906472"/>
                  <a:pt x="12966458" y="6741114"/>
                  <a:pt x="12920870" y="6877878"/>
                </a:cubicBezTo>
                <a:cubicBezTo>
                  <a:pt x="12955323" y="7015692"/>
                  <a:pt x="12927609" y="6939585"/>
                  <a:pt x="13040139" y="7116418"/>
                </a:cubicBezTo>
                <a:cubicBezTo>
                  <a:pt x="13052965" y="7136574"/>
                  <a:pt x="13079896" y="7176052"/>
                  <a:pt x="13079896" y="7176052"/>
                </a:cubicBezTo>
                <a:cubicBezTo>
                  <a:pt x="13093148" y="7229061"/>
                  <a:pt x="13102373" y="7283242"/>
                  <a:pt x="13119652" y="7335078"/>
                </a:cubicBezTo>
                <a:cubicBezTo>
                  <a:pt x="13126278" y="7354956"/>
                  <a:pt x="13124715" y="7379897"/>
                  <a:pt x="13139531" y="7394713"/>
                </a:cubicBezTo>
                <a:cubicBezTo>
                  <a:pt x="13160485" y="7415667"/>
                  <a:pt x="13193315" y="7419768"/>
                  <a:pt x="13219044" y="7434470"/>
                </a:cubicBezTo>
                <a:cubicBezTo>
                  <a:pt x="13239787" y="7446323"/>
                  <a:pt x="13258801" y="7460974"/>
                  <a:pt x="13278679" y="7474226"/>
                </a:cubicBezTo>
                <a:cubicBezTo>
                  <a:pt x="13285305" y="7494104"/>
                  <a:pt x="13298557" y="7512907"/>
                  <a:pt x="13298557" y="7533861"/>
                </a:cubicBezTo>
                <a:cubicBezTo>
                  <a:pt x="13298557" y="7600452"/>
                  <a:pt x="13293653" y="7667758"/>
                  <a:pt x="13278679" y="7732644"/>
                </a:cubicBezTo>
                <a:cubicBezTo>
                  <a:pt x="13273307" y="7755923"/>
                  <a:pt x="13257275" y="7776984"/>
                  <a:pt x="13238922" y="7792278"/>
                </a:cubicBezTo>
                <a:cubicBezTo>
                  <a:pt x="13216157" y="7811248"/>
                  <a:pt x="13186646" y="7820362"/>
                  <a:pt x="13159409" y="7832035"/>
                </a:cubicBezTo>
                <a:cubicBezTo>
                  <a:pt x="13119486" y="7849145"/>
                  <a:pt x="13060607" y="7861705"/>
                  <a:pt x="13020261" y="7871791"/>
                </a:cubicBezTo>
                <a:cubicBezTo>
                  <a:pt x="12934122" y="7865165"/>
                  <a:pt x="12847062" y="7866116"/>
                  <a:pt x="12761844" y="7851913"/>
                </a:cubicBezTo>
                <a:cubicBezTo>
                  <a:pt x="12726647" y="7846047"/>
                  <a:pt x="12696304" y="7823441"/>
                  <a:pt x="12662452" y="7812157"/>
                </a:cubicBezTo>
                <a:cubicBezTo>
                  <a:pt x="12636534" y="7803518"/>
                  <a:pt x="12609443" y="7798904"/>
                  <a:pt x="12582939" y="7792278"/>
                </a:cubicBezTo>
                <a:cubicBezTo>
                  <a:pt x="12576313" y="7818782"/>
                  <a:pt x="12590381" y="7871791"/>
                  <a:pt x="12563061" y="7871791"/>
                </a:cubicBezTo>
                <a:cubicBezTo>
                  <a:pt x="12525578" y="7871791"/>
                  <a:pt x="12511757" y="7816961"/>
                  <a:pt x="12483548" y="7792278"/>
                </a:cubicBezTo>
                <a:cubicBezTo>
                  <a:pt x="12458615" y="7770462"/>
                  <a:pt x="12432996" y="7748733"/>
                  <a:pt x="12404035" y="7732644"/>
                </a:cubicBezTo>
                <a:cubicBezTo>
                  <a:pt x="12321475" y="7686778"/>
                  <a:pt x="12299734" y="7704779"/>
                  <a:pt x="12225131" y="7653131"/>
                </a:cubicBezTo>
                <a:cubicBezTo>
                  <a:pt x="11817735" y="7371089"/>
                  <a:pt x="12180286" y="7628166"/>
                  <a:pt x="11986592" y="7434470"/>
                </a:cubicBezTo>
                <a:cubicBezTo>
                  <a:pt x="11969699" y="7417577"/>
                  <a:pt x="11947931" y="7406153"/>
                  <a:pt x="11926957" y="7394713"/>
                </a:cubicBezTo>
                <a:cubicBezTo>
                  <a:pt x="11874928" y="7366334"/>
                  <a:pt x="11767931" y="7315200"/>
                  <a:pt x="11767931" y="7315200"/>
                </a:cubicBezTo>
                <a:cubicBezTo>
                  <a:pt x="11754679" y="7295322"/>
                  <a:pt x="11738858" y="7276934"/>
                  <a:pt x="11728174" y="7255565"/>
                </a:cubicBezTo>
                <a:cubicBezTo>
                  <a:pt x="11718803" y="7236824"/>
                  <a:pt x="11720868" y="7212694"/>
                  <a:pt x="11708296" y="7195931"/>
                </a:cubicBezTo>
                <a:cubicBezTo>
                  <a:pt x="11634219" y="7097161"/>
                  <a:pt x="11611924" y="7107646"/>
                  <a:pt x="11529392" y="7036905"/>
                </a:cubicBezTo>
                <a:cubicBezTo>
                  <a:pt x="11508048" y="7018610"/>
                  <a:pt x="11490914" y="6995782"/>
                  <a:pt x="11469757" y="6977270"/>
                </a:cubicBezTo>
                <a:cubicBezTo>
                  <a:pt x="11398937" y="6915303"/>
                  <a:pt x="11318704" y="6854697"/>
                  <a:pt x="11231218" y="6818244"/>
                </a:cubicBezTo>
                <a:cubicBezTo>
                  <a:pt x="11200030" y="6805249"/>
                  <a:pt x="11164957" y="6804991"/>
                  <a:pt x="11131826" y="6798365"/>
                </a:cubicBezTo>
                <a:cubicBezTo>
                  <a:pt x="11018145" y="6684684"/>
                  <a:pt x="11132220" y="6786187"/>
                  <a:pt x="10992679" y="6698974"/>
                </a:cubicBezTo>
                <a:cubicBezTo>
                  <a:pt x="10964584" y="6681415"/>
                  <a:pt x="10942195" y="6655305"/>
                  <a:pt x="10913165" y="6639339"/>
                </a:cubicBezTo>
                <a:cubicBezTo>
                  <a:pt x="10809306" y="6582217"/>
                  <a:pt x="10701130" y="6533322"/>
                  <a:pt x="10595113" y="6480313"/>
                </a:cubicBezTo>
                <a:cubicBezTo>
                  <a:pt x="10568609" y="6467061"/>
                  <a:pt x="10545086" y="6443506"/>
                  <a:pt x="10515600" y="6440557"/>
                </a:cubicBezTo>
                <a:cubicBezTo>
                  <a:pt x="10276713" y="6416667"/>
                  <a:pt x="10382503" y="6431625"/>
                  <a:pt x="10197548" y="6400800"/>
                </a:cubicBezTo>
                <a:cubicBezTo>
                  <a:pt x="10031459" y="6414641"/>
                  <a:pt x="9974716" y="6400445"/>
                  <a:pt x="9839739" y="6460435"/>
                </a:cubicBezTo>
                <a:cubicBezTo>
                  <a:pt x="9817908" y="6470138"/>
                  <a:pt x="9800848" y="6488338"/>
                  <a:pt x="9780105" y="6500191"/>
                </a:cubicBezTo>
                <a:cubicBezTo>
                  <a:pt x="9754377" y="6514893"/>
                  <a:pt x="9724956" y="6523081"/>
                  <a:pt x="9700592" y="6539948"/>
                </a:cubicBezTo>
                <a:cubicBezTo>
                  <a:pt x="9638476" y="6582951"/>
                  <a:pt x="9587534" y="6642057"/>
                  <a:pt x="9521687" y="6679096"/>
                </a:cubicBezTo>
                <a:cubicBezTo>
                  <a:pt x="9479643" y="6702745"/>
                  <a:pt x="9428922" y="6705600"/>
                  <a:pt x="9382539" y="6718852"/>
                </a:cubicBezTo>
                <a:cubicBezTo>
                  <a:pt x="9329530" y="6751983"/>
                  <a:pt x="9282169" y="6796634"/>
                  <a:pt x="9223513" y="6818244"/>
                </a:cubicBezTo>
                <a:cubicBezTo>
                  <a:pt x="8835224" y="6961298"/>
                  <a:pt x="9162380" y="6729373"/>
                  <a:pt x="8825948" y="6977270"/>
                </a:cubicBezTo>
                <a:cubicBezTo>
                  <a:pt x="8757635" y="7027606"/>
                  <a:pt x="8690793" y="7080154"/>
                  <a:pt x="8627165" y="7136296"/>
                </a:cubicBezTo>
                <a:cubicBezTo>
                  <a:pt x="8577980" y="7179695"/>
                  <a:pt x="8540124" y="7235598"/>
                  <a:pt x="8488018" y="7275444"/>
                </a:cubicBezTo>
                <a:cubicBezTo>
                  <a:pt x="8041667" y="7616771"/>
                  <a:pt x="8484680" y="7214358"/>
                  <a:pt x="8169965" y="7494105"/>
                </a:cubicBezTo>
                <a:cubicBezTo>
                  <a:pt x="8113443" y="7544347"/>
                  <a:pt x="8116720" y="7560484"/>
                  <a:pt x="8050696" y="7593496"/>
                </a:cubicBezTo>
                <a:cubicBezTo>
                  <a:pt x="8018781" y="7609454"/>
                  <a:pt x="7983220" y="7617294"/>
                  <a:pt x="7951305" y="7633252"/>
                </a:cubicBezTo>
                <a:cubicBezTo>
                  <a:pt x="7873394" y="7672207"/>
                  <a:pt x="7885229" y="7707636"/>
                  <a:pt x="7772400" y="7712765"/>
                </a:cubicBezTo>
                <a:lnTo>
                  <a:pt x="7335079" y="7732644"/>
                </a:lnTo>
                <a:cubicBezTo>
                  <a:pt x="7173937" y="7709623"/>
                  <a:pt x="7145569" y="7695009"/>
                  <a:pt x="6957392" y="7732644"/>
                </a:cubicBezTo>
                <a:cubicBezTo>
                  <a:pt x="6933965" y="7737329"/>
                  <a:pt x="6917635" y="7759148"/>
                  <a:pt x="6897757" y="7772400"/>
                </a:cubicBezTo>
                <a:cubicBezTo>
                  <a:pt x="6864626" y="7838661"/>
                  <a:pt x="6812894" y="7898539"/>
                  <a:pt x="6798365" y="7971183"/>
                </a:cubicBezTo>
                <a:cubicBezTo>
                  <a:pt x="6791739" y="8004313"/>
                  <a:pt x="6793597" y="8040354"/>
                  <a:pt x="6778487" y="8070574"/>
                </a:cubicBezTo>
                <a:cubicBezTo>
                  <a:pt x="6765915" y="8095718"/>
                  <a:pt x="6738730" y="8110331"/>
                  <a:pt x="6718852" y="8130209"/>
                </a:cubicBezTo>
                <a:cubicBezTo>
                  <a:pt x="6683970" y="8304619"/>
                  <a:pt x="6735052" y="8171026"/>
                  <a:pt x="6579705" y="8309113"/>
                </a:cubicBezTo>
                <a:cubicBezTo>
                  <a:pt x="6444035" y="8429708"/>
                  <a:pt x="6601117" y="8351583"/>
                  <a:pt x="6460435" y="8507896"/>
                </a:cubicBezTo>
                <a:cubicBezTo>
                  <a:pt x="6401848" y="8572993"/>
                  <a:pt x="6352238" y="8583718"/>
                  <a:pt x="6281531" y="8607287"/>
                </a:cubicBezTo>
                <a:cubicBezTo>
                  <a:pt x="6261653" y="8627165"/>
                  <a:pt x="6246304" y="8652974"/>
                  <a:pt x="6221896" y="8666922"/>
                </a:cubicBezTo>
                <a:cubicBezTo>
                  <a:pt x="6198176" y="8680477"/>
                  <a:pt x="6167964" y="8677207"/>
                  <a:pt x="6142383" y="8686800"/>
                </a:cubicBezTo>
                <a:cubicBezTo>
                  <a:pt x="6114637" y="8697205"/>
                  <a:pt x="6090982" y="8717186"/>
                  <a:pt x="6062870" y="8726557"/>
                </a:cubicBezTo>
                <a:cubicBezTo>
                  <a:pt x="6030817" y="8737241"/>
                  <a:pt x="5995841" y="8736727"/>
                  <a:pt x="5963479" y="8746435"/>
                </a:cubicBezTo>
                <a:cubicBezTo>
                  <a:pt x="5929301" y="8756688"/>
                  <a:pt x="5898265" y="8775938"/>
                  <a:pt x="5864087" y="8786191"/>
                </a:cubicBezTo>
                <a:cubicBezTo>
                  <a:pt x="5831725" y="8795899"/>
                  <a:pt x="5797678" y="8798741"/>
                  <a:pt x="5764696" y="8806070"/>
                </a:cubicBezTo>
                <a:cubicBezTo>
                  <a:pt x="5738027" y="8811997"/>
                  <a:pt x="5711687" y="8819322"/>
                  <a:pt x="5685183" y="8825948"/>
                </a:cubicBezTo>
                <a:cubicBezTo>
                  <a:pt x="5565913" y="8812696"/>
                  <a:pt x="5446172" y="8803162"/>
                  <a:pt x="5327374" y="8786191"/>
                </a:cubicBezTo>
                <a:cubicBezTo>
                  <a:pt x="5306631" y="8783228"/>
                  <a:pt x="5288693" y="8766313"/>
                  <a:pt x="5267739" y="8766313"/>
                </a:cubicBezTo>
                <a:cubicBezTo>
                  <a:pt x="5246786" y="8766313"/>
                  <a:pt x="5228433" y="8781109"/>
                  <a:pt x="5208105" y="8786191"/>
                </a:cubicBezTo>
                <a:cubicBezTo>
                  <a:pt x="5095840" y="8814257"/>
                  <a:pt x="4982818" y="8839200"/>
                  <a:pt x="4870174" y="8865705"/>
                </a:cubicBezTo>
                <a:cubicBezTo>
                  <a:pt x="4830418" y="8885583"/>
                  <a:pt x="4789020" y="8902470"/>
                  <a:pt x="4750905" y="8925339"/>
                </a:cubicBezTo>
                <a:cubicBezTo>
                  <a:pt x="4679993" y="8967886"/>
                  <a:pt x="4653725" y="9014891"/>
                  <a:pt x="4572000" y="9044609"/>
                </a:cubicBezTo>
                <a:cubicBezTo>
                  <a:pt x="4534122" y="9058383"/>
                  <a:pt x="4492487" y="9057861"/>
                  <a:pt x="4452731" y="9064487"/>
                </a:cubicBezTo>
                <a:cubicBezTo>
                  <a:pt x="4209070" y="9219544"/>
                  <a:pt x="4311343" y="9164999"/>
                  <a:pt x="4154557" y="9243391"/>
                </a:cubicBezTo>
                <a:cubicBezTo>
                  <a:pt x="4101549" y="9296399"/>
                  <a:pt x="4072373" y="9335217"/>
                  <a:pt x="3995531" y="9362661"/>
                </a:cubicBezTo>
                <a:cubicBezTo>
                  <a:pt x="3938000" y="9383208"/>
                  <a:pt x="3876261" y="9389166"/>
                  <a:pt x="3816626" y="9402418"/>
                </a:cubicBezTo>
                <a:cubicBezTo>
                  <a:pt x="3677478" y="9395792"/>
                  <a:pt x="3537088" y="9402240"/>
                  <a:pt x="3399183" y="9382539"/>
                </a:cubicBezTo>
                <a:cubicBezTo>
                  <a:pt x="3349227" y="9375402"/>
                  <a:pt x="3307908" y="9338863"/>
                  <a:pt x="3260035" y="9322905"/>
                </a:cubicBezTo>
                <a:cubicBezTo>
                  <a:pt x="3208199" y="9305626"/>
                  <a:pt x="3154018" y="9296400"/>
                  <a:pt x="3101009" y="9283148"/>
                </a:cubicBezTo>
                <a:cubicBezTo>
                  <a:pt x="2902226" y="9296400"/>
                  <a:pt x="2703067" y="9304868"/>
                  <a:pt x="2504661" y="9322905"/>
                </a:cubicBezTo>
                <a:cubicBezTo>
                  <a:pt x="2483793" y="9324802"/>
                  <a:pt x="2465173" y="9337027"/>
                  <a:pt x="2445026" y="9342783"/>
                </a:cubicBezTo>
                <a:cubicBezTo>
                  <a:pt x="2418757" y="9350288"/>
                  <a:pt x="2392017" y="9356035"/>
                  <a:pt x="2365513" y="9362661"/>
                </a:cubicBezTo>
                <a:cubicBezTo>
                  <a:pt x="2055925" y="9517455"/>
                  <a:pt x="2367357" y="9379173"/>
                  <a:pt x="2007705" y="9481931"/>
                </a:cubicBezTo>
                <a:cubicBezTo>
                  <a:pt x="1979212" y="9490072"/>
                  <a:pt x="1956824" y="9514052"/>
                  <a:pt x="1928192" y="9521687"/>
                </a:cubicBezTo>
                <a:cubicBezTo>
                  <a:pt x="1856611" y="9540775"/>
                  <a:pt x="1782418" y="9548192"/>
                  <a:pt x="1709531" y="9561444"/>
                </a:cubicBezTo>
                <a:cubicBezTo>
                  <a:pt x="1595869" y="9637217"/>
                  <a:pt x="1695018" y="9583960"/>
                  <a:pt x="1490870" y="9621078"/>
                </a:cubicBezTo>
                <a:cubicBezTo>
                  <a:pt x="1470254" y="9624826"/>
                  <a:pt x="1451382" y="9635201"/>
                  <a:pt x="1431235" y="9640957"/>
                </a:cubicBezTo>
                <a:cubicBezTo>
                  <a:pt x="1356038" y="9662442"/>
                  <a:pt x="1376436" y="9660835"/>
                  <a:pt x="1331844" y="9660835"/>
                </a:cubicBezTo>
                <a:lnTo>
                  <a:pt x="755374" y="9700591"/>
                </a:lnTo>
                <a:cubicBezTo>
                  <a:pt x="608601" y="9805430"/>
                  <a:pt x="656531" y="9759678"/>
                  <a:pt x="596348" y="9819861"/>
                </a:cubicBezTo>
                <a:lnTo>
                  <a:pt x="556592" y="9819861"/>
                </a:lnTo>
                <a:lnTo>
                  <a:pt x="496957" y="9660835"/>
                </a:lnTo>
                <a:lnTo>
                  <a:pt x="0" y="9879496"/>
                </a:ln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" name="Group 2"/>
          <p:cNvGrpSpPr/>
          <p:nvPr/>
        </p:nvGrpSpPr>
        <p:grpSpPr>
          <a:xfrm>
            <a:off x="38127" y="46226"/>
            <a:ext cx="18516242" cy="10713806"/>
            <a:chOff x="0" y="-47625"/>
            <a:chExt cx="4876706" cy="1127325"/>
          </a:xfrm>
          <a:solidFill>
            <a:schemeClr val="accent5">
              <a:lumMod val="20000"/>
              <a:lumOff val="80000"/>
            </a:schemeClr>
          </a:solidFill>
        </p:grpSpPr>
        <p:sp>
          <p:nvSpPr>
            <p:cNvPr id="3" name="Freeform 3"/>
            <p:cNvSpPr/>
            <p:nvPr/>
          </p:nvSpPr>
          <p:spPr>
            <a:xfrm>
              <a:off x="60114" y="-4864"/>
              <a:ext cx="4816592" cy="1079700"/>
            </a:xfrm>
            <a:custGeom>
              <a:avLst/>
              <a:gdLst/>
              <a:ahLst/>
              <a:cxnLst/>
              <a:rect l="l" t="t" r="r" b="b"/>
              <a:pathLst>
                <a:path w="4816592" h="1079700">
                  <a:moveTo>
                    <a:pt x="0" y="0"/>
                  </a:moveTo>
                  <a:lnTo>
                    <a:pt x="4816592" y="0"/>
                  </a:lnTo>
                  <a:lnTo>
                    <a:pt x="4816592" y="1079700"/>
                  </a:lnTo>
                  <a:lnTo>
                    <a:pt x="0" y="1079700"/>
                  </a:lnTo>
                  <a:close/>
                </a:path>
              </a:pathLst>
            </a:custGeom>
            <a:grpFill/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4816593" cy="1127325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95"/>
                </a:lnSpc>
              </a:pPr>
              <a:endParaRPr dirty="0"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6324600" y="619563"/>
            <a:ext cx="4724400" cy="109901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8960"/>
              </a:lnSpc>
              <a:spcBef>
                <a:spcPct val="0"/>
              </a:spcBef>
            </a:pPr>
            <a:r>
              <a:rPr lang="en-US" sz="6400" b="1" i="1" dirty="0">
                <a:solidFill>
                  <a:srgbClr val="0F4662"/>
                </a:solidFill>
                <a:latin typeface="Cormorant Garamond Bold Italics" panose="00000800000000000000"/>
                <a:ea typeface="Cormorant Garamond Bold Italics" panose="00000800000000000000"/>
                <a:cs typeface="Cormorant Garamond Bold Italics" panose="00000800000000000000"/>
                <a:sym typeface="Cormorant Garamond Bold Italics" panose="00000800000000000000"/>
              </a:rPr>
              <a:t>Team Members</a:t>
            </a:r>
          </a:p>
        </p:txBody>
      </p:sp>
      <p:sp>
        <p:nvSpPr>
          <p:cNvPr id="18" name="AutoShape 18"/>
          <p:cNvSpPr/>
          <p:nvPr/>
        </p:nvSpPr>
        <p:spPr>
          <a:xfrm>
            <a:off x="5785709" y="9563100"/>
            <a:ext cx="6492240" cy="0"/>
          </a:xfrm>
          <a:prstGeom prst="line">
            <a:avLst/>
          </a:prstGeom>
          <a:ln w="76200" cap="flat">
            <a:solidFill>
              <a:srgbClr val="0F4662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9" name="Freeform 19"/>
          <p:cNvSpPr/>
          <p:nvPr/>
        </p:nvSpPr>
        <p:spPr>
          <a:xfrm>
            <a:off x="8303999" y="9809847"/>
            <a:ext cx="1679997" cy="249900"/>
          </a:xfrm>
          <a:custGeom>
            <a:avLst/>
            <a:gdLst/>
            <a:ahLst/>
            <a:cxnLst/>
            <a:rect l="l" t="t" r="r" b="b"/>
            <a:pathLst>
              <a:path w="1679997" h="249900">
                <a:moveTo>
                  <a:pt x="0" y="0"/>
                </a:moveTo>
                <a:lnTo>
                  <a:pt x="1679998" y="0"/>
                </a:lnTo>
                <a:lnTo>
                  <a:pt x="1679998" y="249900"/>
                </a:lnTo>
                <a:lnTo>
                  <a:pt x="0" y="2499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Rectangle: Folded Corner 4"/>
          <p:cNvSpPr/>
          <p:nvPr/>
        </p:nvSpPr>
        <p:spPr>
          <a:xfrm>
            <a:off x="239869" y="1395836"/>
            <a:ext cx="2665865" cy="2763868"/>
          </a:xfrm>
          <a:prstGeom prst="foldedCorner">
            <a:avLst/>
          </a:prstGeom>
          <a:blipFill>
            <a:blip r:embed="rId4"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Rectangle: Folded Corner 19"/>
          <p:cNvSpPr/>
          <p:nvPr/>
        </p:nvSpPr>
        <p:spPr>
          <a:xfrm>
            <a:off x="239870" y="4381499"/>
            <a:ext cx="2665864" cy="2763867"/>
          </a:xfrm>
          <a:prstGeom prst="foldedCorner">
            <a:avLst/>
          </a:prstGeom>
          <a:blipFill>
            <a:blip r:embed="rId5"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colorTemperature colorTemp="4700"/>
                      </a14:imgEffect>
                    </a14:imgLayer>
                  </a14:imgProps>
                </a:ext>
              </a:extLst>
            </a:blip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: Folded Corner 20"/>
          <p:cNvSpPr/>
          <p:nvPr/>
        </p:nvSpPr>
        <p:spPr>
          <a:xfrm>
            <a:off x="239869" y="7365387"/>
            <a:ext cx="2571719" cy="2444460"/>
          </a:xfrm>
          <a:prstGeom prst="foldedCorner">
            <a:avLst/>
          </a:prstGeom>
          <a:blipFill>
            <a:blip r:embed="rId7"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: Folded Corner 22"/>
          <p:cNvSpPr/>
          <p:nvPr/>
        </p:nvSpPr>
        <p:spPr>
          <a:xfrm>
            <a:off x="14912952" y="1545176"/>
            <a:ext cx="2449024" cy="2580119"/>
          </a:xfrm>
          <a:prstGeom prst="foldedCorner">
            <a:avLst/>
          </a:prstGeom>
          <a:blipFill>
            <a:blip r:embed="rId8"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: Folded Corner 23"/>
          <p:cNvSpPr/>
          <p:nvPr/>
        </p:nvSpPr>
        <p:spPr>
          <a:xfrm>
            <a:off x="14842240" y="4381499"/>
            <a:ext cx="2519736" cy="2409343"/>
          </a:xfrm>
          <a:prstGeom prst="foldedCorne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: Folded Corner 24"/>
          <p:cNvSpPr/>
          <p:nvPr/>
        </p:nvSpPr>
        <p:spPr>
          <a:xfrm>
            <a:off x="14912951" y="7118631"/>
            <a:ext cx="2449025" cy="2691216"/>
          </a:xfrm>
          <a:prstGeom prst="foldedCorne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2638161" y="2214051"/>
            <a:ext cx="4363850" cy="707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chemeClr val="tx2">
                    <a:lumMod val="75000"/>
                  </a:schemeClr>
                </a:solidFill>
              </a:rPr>
              <a:t> .Ma </a:t>
            </a:r>
            <a:r>
              <a:rPr lang="en-US" sz="4000" dirty="0" err="1">
                <a:solidFill>
                  <a:schemeClr val="tx2">
                    <a:lumMod val="75000"/>
                  </a:schemeClr>
                </a:solidFill>
              </a:rPr>
              <a:t>Shoon</a:t>
            </a:r>
            <a:r>
              <a:rPr lang="en-US" sz="4000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en-US" sz="4000" dirty="0" err="1">
                <a:solidFill>
                  <a:schemeClr val="tx2">
                    <a:lumMod val="75000"/>
                  </a:schemeClr>
                </a:solidFill>
              </a:rPr>
              <a:t>Lae</a:t>
            </a:r>
            <a:r>
              <a:rPr lang="en-US" sz="4000" dirty="0">
                <a:solidFill>
                  <a:schemeClr val="tx2">
                    <a:lumMod val="75000"/>
                  </a:schemeClr>
                </a:solidFill>
              </a:rPr>
              <a:t> Wai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05736" y="5110179"/>
            <a:ext cx="456186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chemeClr val="tx2">
                    <a:lumMod val="75000"/>
                  </a:schemeClr>
                </a:solidFill>
              </a:rPr>
              <a:t>.Ma Shar </a:t>
            </a:r>
            <a:r>
              <a:rPr lang="en-US" sz="4000" dirty="0" err="1">
                <a:solidFill>
                  <a:schemeClr val="tx2">
                    <a:lumMod val="75000"/>
                  </a:schemeClr>
                </a:solidFill>
              </a:rPr>
              <a:t>Thet</a:t>
            </a:r>
            <a:r>
              <a:rPr lang="en-US" sz="4000" dirty="0">
                <a:solidFill>
                  <a:schemeClr val="tx2">
                    <a:lumMod val="75000"/>
                  </a:schemeClr>
                </a:solidFill>
              </a:rPr>
              <a:t> Han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905736" y="7719015"/>
            <a:ext cx="4561864" cy="7078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chemeClr val="tx2">
                    <a:lumMod val="75000"/>
                  </a:schemeClr>
                </a:solidFill>
              </a:rPr>
              <a:t>.Ma Aye Nyein </a:t>
            </a:r>
            <a:r>
              <a:rPr lang="en-US" sz="4000" dirty="0" err="1">
                <a:solidFill>
                  <a:schemeClr val="tx2">
                    <a:lumMod val="75000"/>
                  </a:schemeClr>
                </a:solidFill>
              </a:rPr>
              <a:t>Phyo</a:t>
            </a:r>
            <a:endParaRPr lang="en-US" sz="4000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9144000" y="5330310"/>
            <a:ext cx="533913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chemeClr val="tx2">
                    <a:lumMod val="75000"/>
                  </a:schemeClr>
                </a:solidFill>
              </a:rPr>
              <a:t>Ma </a:t>
            </a:r>
            <a:r>
              <a:rPr lang="en-US" sz="4000" dirty="0" err="1">
                <a:solidFill>
                  <a:schemeClr val="tx2">
                    <a:lumMod val="75000"/>
                  </a:schemeClr>
                </a:solidFill>
              </a:rPr>
              <a:t>Khain</a:t>
            </a:r>
            <a:r>
              <a:rPr lang="en-US" sz="4000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en-US" sz="4000" dirty="0" err="1">
                <a:solidFill>
                  <a:schemeClr val="tx2">
                    <a:lumMod val="75000"/>
                  </a:schemeClr>
                </a:solidFill>
              </a:rPr>
              <a:t>Htike</a:t>
            </a:r>
            <a:r>
              <a:rPr lang="en-US" sz="4000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en-US" sz="4000" dirty="0" err="1">
                <a:solidFill>
                  <a:schemeClr val="tx2">
                    <a:lumMod val="75000"/>
                  </a:schemeClr>
                </a:solidFill>
              </a:rPr>
              <a:t>Htar</a:t>
            </a:r>
            <a:r>
              <a:rPr lang="en-US" sz="4000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en-US" sz="4000" dirty="0" err="1">
                <a:solidFill>
                  <a:schemeClr val="tx2">
                    <a:lumMod val="75000"/>
                  </a:schemeClr>
                </a:solidFill>
              </a:rPr>
              <a:t>Oo</a:t>
            </a:r>
            <a:r>
              <a:rPr lang="en-US" sz="4000" dirty="0">
                <a:solidFill>
                  <a:schemeClr val="tx2">
                    <a:lumMod val="75000"/>
                  </a:schemeClr>
                </a:solidFill>
              </a:rPr>
              <a:t>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03999" y="2143962"/>
            <a:ext cx="586920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chemeClr val="tx2">
                    <a:lumMod val="75000"/>
                  </a:schemeClr>
                </a:solidFill>
              </a:rPr>
              <a:t>Ma Yoon </a:t>
            </a:r>
            <a:r>
              <a:rPr lang="en-US" sz="4000" dirty="0" err="1">
                <a:solidFill>
                  <a:schemeClr val="tx2">
                    <a:lumMod val="75000"/>
                  </a:schemeClr>
                </a:solidFill>
              </a:rPr>
              <a:t>Darli</a:t>
            </a:r>
            <a:r>
              <a:rPr lang="en-US" sz="4000" dirty="0">
                <a:solidFill>
                  <a:schemeClr val="tx2">
                    <a:lumMod val="75000"/>
                  </a:schemeClr>
                </a:solidFill>
              </a:rPr>
              <a:t> Win </a:t>
            </a:r>
            <a:r>
              <a:rPr lang="en-US" sz="4000" dirty="0" err="1">
                <a:solidFill>
                  <a:schemeClr val="tx2">
                    <a:lumMod val="75000"/>
                  </a:schemeClr>
                </a:solidFill>
              </a:rPr>
              <a:t>Maung</a:t>
            </a:r>
            <a:r>
              <a:rPr lang="en-US" sz="4000" dirty="0">
                <a:solidFill>
                  <a:schemeClr val="tx2">
                    <a:lumMod val="75000"/>
                  </a:schemeClr>
                </a:solidFill>
              </a:rPr>
              <a:t>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591800" y="7888283"/>
            <a:ext cx="407045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chemeClr val="tx2">
                    <a:lumMod val="75000"/>
                  </a:schemeClr>
                </a:solidFill>
              </a:rPr>
              <a:t>Mg </a:t>
            </a:r>
            <a:r>
              <a:rPr lang="en-US" sz="4000" dirty="0" err="1">
                <a:solidFill>
                  <a:schemeClr val="tx2">
                    <a:lumMod val="75000"/>
                  </a:schemeClr>
                </a:solidFill>
              </a:rPr>
              <a:t>Htet</a:t>
            </a:r>
            <a:r>
              <a:rPr lang="en-US" sz="4000" dirty="0">
                <a:solidFill>
                  <a:schemeClr val="tx2">
                    <a:lumMod val="75000"/>
                  </a:schemeClr>
                </a:solidFill>
              </a:rPr>
              <a:t> Yan Aung.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8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9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0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1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2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3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4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5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6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4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4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4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4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6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62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63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4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65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6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67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8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69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9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85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86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7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88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9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90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91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92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20" grpId="0" animBg="1"/>
      <p:bldP spid="21" grpId="0" animBg="1"/>
      <p:bldP spid="23" grpId="0" animBg="1"/>
      <p:bldP spid="6" grpId="0"/>
      <p:bldP spid="7" grpId="0"/>
      <p:bldP spid="27" grpId="0"/>
      <p:bldP spid="30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iagonal Stripe 7"/>
          <p:cNvSpPr/>
          <p:nvPr/>
        </p:nvSpPr>
        <p:spPr>
          <a:xfrm>
            <a:off x="8724" y="-1"/>
            <a:ext cx="11954676" cy="11010827"/>
          </a:xfrm>
          <a:prstGeom prst="diagStripe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3001" y="1316051"/>
            <a:ext cx="9220200" cy="756124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</p:pic>
      <p:sp>
        <p:nvSpPr>
          <p:cNvPr id="3" name="AutoShape 3"/>
          <p:cNvSpPr/>
          <p:nvPr/>
        </p:nvSpPr>
        <p:spPr>
          <a:xfrm>
            <a:off x="5897880" y="342900"/>
            <a:ext cx="6492240" cy="0"/>
          </a:xfrm>
          <a:prstGeom prst="line">
            <a:avLst/>
          </a:prstGeom>
          <a:ln w="76200" cap="flat">
            <a:solidFill>
              <a:srgbClr val="0F4662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AutoShape 4"/>
          <p:cNvSpPr/>
          <p:nvPr/>
        </p:nvSpPr>
        <p:spPr>
          <a:xfrm>
            <a:off x="6128278" y="9334500"/>
            <a:ext cx="6492240" cy="0"/>
          </a:xfrm>
          <a:prstGeom prst="line">
            <a:avLst/>
          </a:prstGeom>
          <a:ln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</p:sp>
      <p:sp>
        <p:nvSpPr>
          <p:cNvPr id="5" name="Freeform 5"/>
          <p:cNvSpPr/>
          <p:nvPr/>
        </p:nvSpPr>
        <p:spPr>
          <a:xfrm>
            <a:off x="8304001" y="704526"/>
            <a:ext cx="1679997" cy="249900"/>
          </a:xfrm>
          <a:custGeom>
            <a:avLst/>
            <a:gdLst/>
            <a:ahLst/>
            <a:cxnLst/>
            <a:rect l="l" t="t" r="r" b="b"/>
            <a:pathLst>
              <a:path w="1679997" h="249900">
                <a:moveTo>
                  <a:pt x="0" y="0"/>
                </a:moveTo>
                <a:lnTo>
                  <a:pt x="1679998" y="0"/>
                </a:lnTo>
                <a:lnTo>
                  <a:pt x="1679998" y="249899"/>
                </a:lnTo>
                <a:lnTo>
                  <a:pt x="0" y="24989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1028700" y="599709"/>
            <a:ext cx="8048163" cy="109901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8960"/>
              </a:lnSpc>
              <a:spcBef>
                <a:spcPct val="0"/>
              </a:spcBef>
            </a:pPr>
            <a:r>
              <a:rPr lang="en-US" sz="6400" b="1" i="1" dirty="0">
                <a:solidFill>
                  <a:srgbClr val="0F4662"/>
                </a:solidFill>
                <a:latin typeface="Cormorant Garamond Bold Italics" panose="00000800000000000000"/>
                <a:ea typeface="Cormorant Garamond Bold Italics" panose="00000800000000000000"/>
                <a:cs typeface="Cormorant Garamond Bold Italics" panose="00000800000000000000"/>
                <a:sym typeface="Cormorant Garamond Bold Italics" panose="00000800000000000000"/>
              </a:rPr>
              <a:t>Periodic Table</a:t>
            </a:r>
          </a:p>
        </p:txBody>
      </p:sp>
      <p:sp>
        <p:nvSpPr>
          <p:cNvPr id="7" name="Freeform 7"/>
          <p:cNvSpPr/>
          <p:nvPr/>
        </p:nvSpPr>
        <p:spPr>
          <a:xfrm>
            <a:off x="8534400" y="9582474"/>
            <a:ext cx="1679997" cy="249900"/>
          </a:xfrm>
          <a:custGeom>
            <a:avLst/>
            <a:gdLst/>
            <a:ahLst/>
            <a:cxnLst/>
            <a:rect l="l" t="t" r="r" b="b"/>
            <a:pathLst>
              <a:path w="1679997" h="249900">
                <a:moveTo>
                  <a:pt x="0" y="0"/>
                </a:moveTo>
                <a:lnTo>
                  <a:pt x="1679998" y="0"/>
                </a:lnTo>
                <a:lnTo>
                  <a:pt x="1679998" y="249900"/>
                </a:lnTo>
                <a:lnTo>
                  <a:pt x="0" y="249900"/>
                </a:lnTo>
                <a:lnTo>
                  <a:pt x="0" y="0"/>
                </a:lnTo>
                <a:close/>
              </a:path>
            </a:pathLst>
          </a:cu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A2EF382-B471-4E25-967B-AC0FD8626B62}"/>
              </a:ext>
            </a:extLst>
          </p:cNvPr>
          <p:cNvSpPr txBox="1"/>
          <p:nvPr/>
        </p:nvSpPr>
        <p:spPr>
          <a:xfrm>
            <a:off x="685800" y="2781300"/>
            <a:ext cx="7239000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The Periodic Table is a chart that organizes all known chemical elements based on their atomic number, electron configuration, and recurring chemical properties.</a:t>
            </a:r>
          </a:p>
          <a:p>
            <a:r>
              <a:rPr lang="en-US" sz="3600" dirty="0"/>
              <a:t>It helps scientists understand how elements behave and relate to one another. The elements are arranged in rows called periods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1887200" y="190499"/>
            <a:ext cx="6400801" cy="10096501"/>
            <a:chOff x="0" y="0"/>
            <a:chExt cx="1104621" cy="2705159"/>
          </a:xfrm>
          <a:solidFill>
            <a:schemeClr val="accent5">
              <a:lumMod val="75000"/>
            </a:schemeClr>
          </a:solidFill>
        </p:grpSpPr>
        <p:sp>
          <p:nvSpPr>
            <p:cNvPr id="3" name="Freeform 3"/>
            <p:cNvSpPr/>
            <p:nvPr/>
          </p:nvSpPr>
          <p:spPr>
            <a:xfrm>
              <a:off x="0" y="0"/>
              <a:ext cx="1104621" cy="2705159"/>
            </a:xfrm>
            <a:custGeom>
              <a:avLst/>
              <a:gdLst/>
              <a:ahLst/>
              <a:cxnLst/>
              <a:rect l="l" t="t" r="r" b="b"/>
              <a:pathLst>
                <a:path w="1104621" h="2705159">
                  <a:moveTo>
                    <a:pt x="0" y="0"/>
                  </a:moveTo>
                  <a:lnTo>
                    <a:pt x="1104621" y="0"/>
                  </a:lnTo>
                  <a:lnTo>
                    <a:pt x="1104621" y="2705159"/>
                  </a:lnTo>
                  <a:lnTo>
                    <a:pt x="0" y="2705159"/>
                  </a:lnTo>
                  <a:close/>
                </a:path>
              </a:pathLst>
            </a:custGeom>
            <a:grpFill/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1104621" cy="2752784"/>
            </a:xfrm>
            <a:prstGeom prst="rect">
              <a:avLst/>
            </a:prstGeom>
            <a:solidFill>
              <a:schemeClr val="bg2"/>
            </a:solidFill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95"/>
                </a:lnSpc>
              </a:pPr>
              <a:endParaRPr dirty="0"/>
            </a:p>
          </p:txBody>
        </p:sp>
      </p:grpSp>
      <p:sp>
        <p:nvSpPr>
          <p:cNvPr id="7" name="Freeform 7"/>
          <p:cNvSpPr/>
          <p:nvPr/>
        </p:nvSpPr>
        <p:spPr>
          <a:xfrm>
            <a:off x="1028700" y="8974931"/>
            <a:ext cx="1905000" cy="283369"/>
          </a:xfrm>
          <a:custGeom>
            <a:avLst/>
            <a:gdLst/>
            <a:ahLst/>
            <a:cxnLst/>
            <a:rect l="l" t="t" r="r" b="b"/>
            <a:pathLst>
              <a:path w="1905000" h="283369">
                <a:moveTo>
                  <a:pt x="0" y="0"/>
                </a:moveTo>
                <a:lnTo>
                  <a:pt x="1905000" y="0"/>
                </a:lnTo>
                <a:lnTo>
                  <a:pt x="1905000" y="283369"/>
                </a:lnTo>
                <a:lnTo>
                  <a:pt x="0" y="28336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1028701" y="599709"/>
            <a:ext cx="2476499" cy="109901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8960"/>
              </a:lnSpc>
              <a:spcBef>
                <a:spcPct val="0"/>
              </a:spcBef>
            </a:pPr>
            <a:r>
              <a:rPr lang="en-US" sz="6400" i="1" dirty="0">
                <a:solidFill>
                  <a:srgbClr val="0F4662"/>
                </a:solidFill>
                <a:latin typeface="Cormorant Garamond Bold Italics" panose="00000800000000000000"/>
                <a:ea typeface="Cormorant Garamond Bold Italics" panose="00000800000000000000"/>
                <a:cs typeface="Cormorant Garamond Bold Italics" panose="00000800000000000000"/>
                <a:sym typeface="Cormorant Garamond Bold Italics" panose="00000800000000000000"/>
              </a:rPr>
              <a:t>Tables</a:t>
            </a:r>
          </a:p>
        </p:txBody>
      </p:sp>
      <p:sp>
        <p:nvSpPr>
          <p:cNvPr id="15" name="Speech Bubble: Rectangle 14"/>
          <p:cNvSpPr/>
          <p:nvPr/>
        </p:nvSpPr>
        <p:spPr>
          <a:xfrm>
            <a:off x="9144000" y="1698571"/>
            <a:ext cx="7772400" cy="6553200"/>
          </a:xfrm>
          <a:prstGeom prst="wedgeRectCallout">
            <a:avLst>
              <a:gd name="adj1" fmla="val -22745"/>
              <a:gd name="adj2" fmla="val 71318"/>
            </a:avLst>
          </a:prstGeom>
          <a:blipFill>
            <a:blip r:embed="rId4"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 Box 5"/>
          <p:cNvSpPr txBox="1"/>
          <p:nvPr/>
        </p:nvSpPr>
        <p:spPr>
          <a:xfrm>
            <a:off x="1066800" y="2628900"/>
            <a:ext cx="6697345" cy="421830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sz="4400" dirty="0">
                <a:latin typeface="Cambria" panose="02040503050406030204" pitchFamily="18" charset="0"/>
                <a:ea typeface="Cambria" panose="02040503050406030204" pitchFamily="18" charset="0"/>
              </a:rPr>
              <a:t>Create tables in MY SQL</a:t>
            </a:r>
          </a:p>
          <a:p>
            <a:r>
              <a:rPr lang="en-US" sz="4400" dirty="0">
                <a:latin typeface="Cambria" panose="02040503050406030204" pitchFamily="18" charset="0"/>
                <a:ea typeface="Cambria" panose="02040503050406030204" pitchFamily="18" charset="0"/>
              </a:rPr>
              <a:t>element_ categories</a:t>
            </a:r>
          </a:p>
          <a:p>
            <a:r>
              <a:rPr lang="en-US" sz="4400" dirty="0">
                <a:latin typeface="Cambria" panose="02040503050406030204" pitchFamily="18" charset="0"/>
                <a:ea typeface="Cambria" panose="02040503050406030204" pitchFamily="18" charset="0"/>
              </a:rPr>
              <a:t>Elements</a:t>
            </a:r>
          </a:p>
          <a:p>
            <a:r>
              <a:rPr lang="en-US" sz="4400" dirty="0">
                <a:latin typeface="Cambria" panose="02040503050406030204" pitchFamily="18" charset="0"/>
                <a:ea typeface="Cambria" panose="02040503050406030204" pitchFamily="18" charset="0"/>
              </a:rPr>
              <a:t>Groups_</a:t>
            </a:r>
          </a:p>
          <a:p>
            <a:r>
              <a:rPr lang="en-US" sz="4400" dirty="0">
                <a:latin typeface="Cambria" panose="02040503050406030204" pitchFamily="18" charset="0"/>
                <a:ea typeface="Cambria" panose="02040503050406030204" pitchFamily="18" charset="0"/>
              </a:rPr>
              <a:t>Isotopes</a:t>
            </a:r>
          </a:p>
          <a:p>
            <a:r>
              <a:rPr lang="en-US" sz="4400" dirty="0">
                <a:latin typeface="Cambria" panose="02040503050406030204" pitchFamily="18" charset="0"/>
                <a:ea typeface="Cambria" panose="02040503050406030204" pitchFamily="18" charset="0"/>
              </a:rPr>
              <a:t>Periods</a:t>
            </a:r>
          </a:p>
          <a:p>
            <a:r>
              <a:rPr lang="en-US" sz="4400" dirty="0">
                <a:latin typeface="Cambria" panose="02040503050406030204" pitchFamily="18" charset="0"/>
                <a:ea typeface="Cambria" panose="02040503050406030204" pitchFamily="18" charset="0"/>
              </a:rPr>
              <a:t>uses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bldLvl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963909"/>
            <a:ext cx="18288000" cy="1070387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AutoShape 4"/>
          <p:cNvSpPr/>
          <p:nvPr/>
        </p:nvSpPr>
        <p:spPr>
          <a:xfrm>
            <a:off x="13258800" y="342900"/>
            <a:ext cx="4346753" cy="0"/>
          </a:xfrm>
          <a:prstGeom prst="line">
            <a:avLst/>
          </a:prstGeom>
          <a:ln w="57150" cap="flat">
            <a:solidFill>
              <a:srgbClr val="7994A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" name="AutoShape 5"/>
          <p:cNvSpPr/>
          <p:nvPr/>
        </p:nvSpPr>
        <p:spPr>
          <a:xfrm flipV="1">
            <a:off x="1219200" y="10020300"/>
            <a:ext cx="4716390" cy="0"/>
          </a:xfrm>
          <a:prstGeom prst="line">
            <a:avLst/>
          </a:prstGeom>
          <a:ln w="57150" cap="flat">
            <a:solidFill>
              <a:srgbClr val="7994A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6" name="TextBox 6"/>
          <p:cNvSpPr txBox="1"/>
          <p:nvPr/>
        </p:nvSpPr>
        <p:spPr>
          <a:xfrm>
            <a:off x="4343400" y="36506"/>
            <a:ext cx="7848600" cy="109901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8960"/>
              </a:lnSpc>
              <a:spcBef>
                <a:spcPct val="0"/>
              </a:spcBef>
            </a:pPr>
            <a:r>
              <a:rPr lang="en-US" sz="6400" b="1" i="1" dirty="0">
                <a:solidFill>
                  <a:srgbClr val="0F4662"/>
                </a:solidFill>
                <a:latin typeface="Cormorant Garamond Bold Italics" panose="00000800000000000000"/>
                <a:ea typeface="Cormorant Garamond Bold Italics" panose="00000800000000000000"/>
                <a:cs typeface="Cormorant Garamond Bold Italics" panose="00000800000000000000"/>
                <a:sym typeface="Cormorant Garamond Bold Italics" panose="00000800000000000000"/>
              </a:rPr>
              <a:t> Element table structure</a:t>
            </a:r>
          </a:p>
        </p:txBody>
      </p:sp>
      <p:sp>
        <p:nvSpPr>
          <p:cNvPr id="13" name="Freeform 13"/>
          <p:cNvSpPr/>
          <p:nvPr/>
        </p:nvSpPr>
        <p:spPr>
          <a:xfrm>
            <a:off x="15579303" y="714009"/>
            <a:ext cx="1679997" cy="249900"/>
          </a:xfrm>
          <a:custGeom>
            <a:avLst/>
            <a:gdLst/>
            <a:ahLst/>
            <a:cxnLst/>
            <a:rect l="l" t="t" r="r" b="b"/>
            <a:pathLst>
              <a:path w="1679997" h="249900">
                <a:moveTo>
                  <a:pt x="0" y="0"/>
                </a:moveTo>
                <a:lnTo>
                  <a:pt x="1679997" y="0"/>
                </a:lnTo>
                <a:lnTo>
                  <a:pt x="1679997" y="249900"/>
                </a:lnTo>
                <a:lnTo>
                  <a:pt x="0" y="2499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1024384" y="9529723"/>
            <a:ext cx="1679997" cy="249900"/>
          </a:xfrm>
          <a:custGeom>
            <a:avLst/>
            <a:gdLst/>
            <a:ahLst/>
            <a:cxnLst/>
            <a:rect l="l" t="t" r="r" b="b"/>
            <a:pathLst>
              <a:path w="1679997" h="249900">
                <a:moveTo>
                  <a:pt x="0" y="0"/>
                </a:moveTo>
                <a:lnTo>
                  <a:pt x="1679997" y="0"/>
                </a:lnTo>
                <a:lnTo>
                  <a:pt x="1679997" y="249900"/>
                </a:lnTo>
                <a:lnTo>
                  <a:pt x="0" y="2499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2" name="Rectangle: Rounded Corners 1"/>
          <p:cNvSpPr/>
          <p:nvPr/>
        </p:nvSpPr>
        <p:spPr>
          <a:xfrm>
            <a:off x="304800" y="1526992"/>
            <a:ext cx="17602200" cy="9757053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Bodoni MT Black" panose="02070A03080606020203" pitchFamily="18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024087" y="2781313"/>
            <a:ext cx="4997442" cy="78483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 err="1">
                <a:latin typeface="+mj-lt"/>
              </a:rPr>
              <a:t>Element_id</a:t>
            </a:r>
            <a:r>
              <a:rPr lang="en-US" sz="2800" dirty="0">
                <a:latin typeface="+mj-lt"/>
              </a:rPr>
              <a:t> </a:t>
            </a:r>
          </a:p>
          <a:p>
            <a:r>
              <a:rPr lang="en-US" sz="2800" dirty="0">
                <a:latin typeface="+mj-lt"/>
              </a:rPr>
              <a:t>-name</a:t>
            </a:r>
          </a:p>
          <a:p>
            <a:r>
              <a:rPr lang="en-US" sz="2800" dirty="0">
                <a:latin typeface="+mj-lt"/>
              </a:rPr>
              <a:t>-symbol  </a:t>
            </a:r>
          </a:p>
          <a:p>
            <a:r>
              <a:rPr lang="en-US" sz="2800" dirty="0">
                <a:latin typeface="+mj-lt"/>
              </a:rPr>
              <a:t>-</a:t>
            </a:r>
            <a:r>
              <a:rPr lang="en-US" sz="2800" dirty="0" err="1">
                <a:latin typeface="+mj-lt"/>
              </a:rPr>
              <a:t>atomic_number</a:t>
            </a:r>
            <a:r>
              <a:rPr lang="en-US" sz="2800" dirty="0">
                <a:latin typeface="+mj-lt"/>
              </a:rPr>
              <a:t>  </a:t>
            </a:r>
          </a:p>
          <a:p>
            <a:r>
              <a:rPr lang="en-US" sz="2800" dirty="0">
                <a:latin typeface="+mj-lt"/>
              </a:rPr>
              <a:t>-</a:t>
            </a:r>
            <a:r>
              <a:rPr lang="en-US" sz="2800" dirty="0" err="1">
                <a:latin typeface="+mj-lt"/>
              </a:rPr>
              <a:t>atomic_mass</a:t>
            </a:r>
            <a:r>
              <a:rPr lang="en-US" sz="2800" dirty="0">
                <a:latin typeface="+mj-lt"/>
              </a:rPr>
              <a:t>  </a:t>
            </a:r>
          </a:p>
          <a:p>
            <a:r>
              <a:rPr lang="en-US" sz="2800" dirty="0">
                <a:latin typeface="+mj-lt"/>
              </a:rPr>
              <a:t>-period  </a:t>
            </a:r>
          </a:p>
          <a:p>
            <a:r>
              <a:rPr lang="en-US" sz="2800" dirty="0">
                <a:latin typeface="+mj-lt"/>
              </a:rPr>
              <a:t>-</a:t>
            </a:r>
            <a:r>
              <a:rPr lang="en-US" sz="2800" dirty="0" err="1">
                <a:latin typeface="+mj-lt"/>
              </a:rPr>
              <a:t>group_id</a:t>
            </a:r>
            <a:r>
              <a:rPr lang="en-US" sz="2800" dirty="0">
                <a:latin typeface="+mj-lt"/>
              </a:rPr>
              <a:t>  </a:t>
            </a:r>
          </a:p>
          <a:p>
            <a:r>
              <a:rPr lang="en-US" sz="2800" dirty="0">
                <a:latin typeface="+mj-lt"/>
              </a:rPr>
              <a:t>-block  </a:t>
            </a:r>
          </a:p>
          <a:p>
            <a:r>
              <a:rPr lang="en-US" sz="2800" dirty="0">
                <a:latin typeface="+mj-lt"/>
              </a:rPr>
              <a:t>-</a:t>
            </a:r>
            <a:r>
              <a:rPr lang="en-US" sz="2800" dirty="0" err="1">
                <a:latin typeface="+mj-lt"/>
              </a:rPr>
              <a:t>electron_configuration</a:t>
            </a:r>
            <a:r>
              <a:rPr lang="en-US" sz="2800" dirty="0">
                <a:latin typeface="+mj-lt"/>
              </a:rPr>
              <a:t>  </a:t>
            </a:r>
          </a:p>
          <a:p>
            <a:r>
              <a:rPr lang="en-US" sz="2800" dirty="0">
                <a:latin typeface="+mj-lt"/>
              </a:rPr>
              <a:t>-</a:t>
            </a:r>
            <a:r>
              <a:rPr lang="en-US" sz="2800" dirty="0" err="1">
                <a:latin typeface="+mj-lt"/>
              </a:rPr>
              <a:t>state_at_stp</a:t>
            </a:r>
            <a:r>
              <a:rPr lang="en-US" sz="2800" dirty="0">
                <a:latin typeface="+mj-lt"/>
              </a:rPr>
              <a:t>  </a:t>
            </a:r>
          </a:p>
          <a:p>
            <a:r>
              <a:rPr lang="en-US" sz="2800" dirty="0">
                <a:latin typeface="+mj-lt"/>
              </a:rPr>
              <a:t>-</a:t>
            </a:r>
            <a:r>
              <a:rPr lang="en-US" sz="2800" dirty="0" err="1">
                <a:latin typeface="+mj-lt"/>
              </a:rPr>
              <a:t>melting_point_k</a:t>
            </a:r>
            <a:r>
              <a:rPr lang="en-US" sz="2800" dirty="0">
                <a:latin typeface="+mj-lt"/>
              </a:rPr>
              <a:t>  </a:t>
            </a:r>
          </a:p>
          <a:p>
            <a:r>
              <a:rPr lang="en-US" sz="2800" dirty="0">
                <a:latin typeface="+mj-lt"/>
              </a:rPr>
              <a:t>-</a:t>
            </a:r>
            <a:r>
              <a:rPr lang="en-US" sz="2800" dirty="0" err="1">
                <a:latin typeface="+mj-lt"/>
              </a:rPr>
              <a:t>boiling_point_k</a:t>
            </a:r>
            <a:r>
              <a:rPr lang="en-US" sz="2800" dirty="0">
                <a:latin typeface="+mj-lt"/>
              </a:rPr>
              <a:t>  </a:t>
            </a:r>
          </a:p>
          <a:p>
            <a:r>
              <a:rPr lang="en-US" sz="2800" dirty="0">
                <a:latin typeface="+mj-lt"/>
              </a:rPr>
              <a:t>-density_g_cm3  </a:t>
            </a:r>
          </a:p>
          <a:p>
            <a:r>
              <a:rPr lang="en-US" sz="2800" dirty="0">
                <a:latin typeface="+mj-lt"/>
              </a:rPr>
              <a:t>-electronegativity  </a:t>
            </a:r>
          </a:p>
          <a:p>
            <a:r>
              <a:rPr lang="en-US" sz="2800" dirty="0">
                <a:latin typeface="+mj-lt"/>
              </a:rPr>
              <a:t>-</a:t>
            </a:r>
            <a:r>
              <a:rPr lang="en-US" sz="2800" dirty="0" err="1">
                <a:latin typeface="+mj-lt"/>
              </a:rPr>
              <a:t>ionization_energy_kj_mol</a:t>
            </a:r>
            <a:r>
              <a:rPr lang="en-US" sz="2800" dirty="0">
                <a:latin typeface="+mj-lt"/>
              </a:rPr>
              <a:t>  </a:t>
            </a:r>
          </a:p>
          <a:p>
            <a:r>
              <a:rPr lang="en-US" sz="2800" dirty="0">
                <a:latin typeface="+mj-lt"/>
              </a:rPr>
              <a:t>-</a:t>
            </a:r>
            <a:r>
              <a:rPr lang="en-US" sz="2800" dirty="0" err="1">
                <a:latin typeface="+mj-lt"/>
              </a:rPr>
              <a:t>electron_affinity_kj_mol</a:t>
            </a:r>
            <a:r>
              <a:rPr lang="en-US" sz="2800" dirty="0">
                <a:latin typeface="+mj-lt"/>
              </a:rPr>
              <a:t>  </a:t>
            </a:r>
          </a:p>
          <a:p>
            <a:r>
              <a:rPr lang="en-US" sz="2800" dirty="0">
                <a:latin typeface="+mj-lt"/>
              </a:rPr>
              <a:t>-description  </a:t>
            </a:r>
          </a:p>
          <a:p>
            <a:r>
              <a:rPr lang="en-US" sz="2800" dirty="0">
                <a:latin typeface="+mj-lt"/>
              </a:rPr>
              <a:t>-</a:t>
            </a:r>
            <a:r>
              <a:rPr lang="en-US" sz="2800" dirty="0" err="1">
                <a:latin typeface="+mj-lt"/>
              </a:rPr>
              <a:t>category_id</a:t>
            </a:r>
            <a:r>
              <a:rPr lang="en-US" sz="2800" dirty="0">
                <a:latin typeface="+mj-lt"/>
              </a:rPr>
              <a:t>  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4384" y="2019301"/>
            <a:ext cx="368477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latin typeface="Arial Rounded MT Bold" panose="020F0704030504030204" pitchFamily="34" charset="0"/>
              </a:rPr>
              <a:t>Columns</a:t>
            </a:r>
          </a:p>
        </p:txBody>
      </p:sp>
      <p:sp>
        <p:nvSpPr>
          <p:cNvPr id="19" name="TextBox 18"/>
          <p:cNvSpPr txBox="1"/>
          <p:nvPr/>
        </p:nvSpPr>
        <p:spPr>
          <a:xfrm rot="10800000" flipH="1" flipV="1">
            <a:off x="6223268" y="2639024"/>
            <a:ext cx="5389613" cy="78483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800" dirty="0"/>
              <a:t>INT  </a:t>
            </a:r>
          </a:p>
          <a:p>
            <a:r>
              <a:rPr lang="es-ES" sz="2800" dirty="0"/>
              <a:t>VARCHAR(50)  </a:t>
            </a:r>
          </a:p>
          <a:p>
            <a:r>
              <a:rPr lang="es-ES" sz="2800" dirty="0"/>
              <a:t>VARCHAR(3)  </a:t>
            </a:r>
          </a:p>
          <a:p>
            <a:r>
              <a:rPr lang="es-ES" sz="2800" dirty="0"/>
              <a:t>INT  </a:t>
            </a:r>
          </a:p>
          <a:p>
            <a:r>
              <a:rPr lang="es-ES" sz="2800" dirty="0"/>
              <a:t>DECIMAL(10, 5)  </a:t>
            </a:r>
          </a:p>
          <a:p>
            <a:r>
              <a:rPr lang="es-ES" sz="2800" dirty="0"/>
              <a:t>INT  </a:t>
            </a:r>
          </a:p>
          <a:p>
            <a:r>
              <a:rPr lang="es-ES" sz="2800" dirty="0"/>
              <a:t>INT  </a:t>
            </a:r>
          </a:p>
          <a:p>
            <a:r>
              <a:rPr lang="es-ES" sz="2800" dirty="0"/>
              <a:t>VARCHAR(1)  </a:t>
            </a:r>
          </a:p>
          <a:p>
            <a:r>
              <a:rPr lang="es-ES" sz="2800" dirty="0"/>
              <a:t>VARCHAR(255)  </a:t>
            </a:r>
          </a:p>
          <a:p>
            <a:r>
              <a:rPr lang="es-ES" sz="2800" dirty="0"/>
              <a:t>VARCHAR(20)  </a:t>
            </a:r>
          </a:p>
          <a:p>
            <a:r>
              <a:rPr lang="es-ES" sz="2800" dirty="0"/>
              <a:t>DECIMAL(8, 2)  </a:t>
            </a:r>
          </a:p>
          <a:p>
            <a:r>
              <a:rPr lang="es-ES" sz="2800" dirty="0"/>
              <a:t>DECIMAL(8, 2)  </a:t>
            </a:r>
          </a:p>
          <a:p>
            <a:r>
              <a:rPr lang="es-ES" sz="2800" dirty="0"/>
              <a:t>DECIMAL(8, 4)  </a:t>
            </a:r>
          </a:p>
          <a:p>
            <a:r>
              <a:rPr lang="es-ES" sz="2800" dirty="0"/>
              <a:t>DECIMAL(4, 2)  </a:t>
            </a:r>
          </a:p>
          <a:p>
            <a:r>
              <a:rPr lang="es-ES" sz="2800" dirty="0"/>
              <a:t>DECIMAL(8, 2)  </a:t>
            </a:r>
          </a:p>
          <a:p>
            <a:r>
              <a:rPr lang="es-ES" sz="2800" dirty="0"/>
              <a:t>DECIMAL(8, 2)  </a:t>
            </a:r>
          </a:p>
          <a:p>
            <a:r>
              <a:rPr lang="es-ES" sz="2800" dirty="0"/>
              <a:t>TEXT  </a:t>
            </a:r>
          </a:p>
          <a:p>
            <a:r>
              <a:rPr lang="es-ES" sz="2800" dirty="0"/>
              <a:t>INT </a:t>
            </a:r>
            <a:endParaRPr lang="en-US" sz="2800" dirty="0"/>
          </a:p>
        </p:txBody>
      </p:sp>
      <p:sp>
        <p:nvSpPr>
          <p:cNvPr id="20" name="TextBox 19"/>
          <p:cNvSpPr txBox="1"/>
          <p:nvPr/>
        </p:nvSpPr>
        <p:spPr>
          <a:xfrm>
            <a:off x="6216640" y="1920930"/>
            <a:ext cx="368477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latin typeface="Arial Rounded MT Bold" panose="020F0704030504030204" pitchFamily="34" charset="0"/>
              </a:rPr>
              <a:t>Data Type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63200" y="2705064"/>
            <a:ext cx="6287660" cy="82791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AUTO_INCREMENT PRIMARY KEY  </a:t>
            </a:r>
          </a:p>
          <a:p>
            <a:r>
              <a:rPr lang="en-US" sz="2800" dirty="0"/>
              <a:t>UNIQUE NOT NULL  </a:t>
            </a:r>
          </a:p>
          <a:p>
            <a:r>
              <a:rPr lang="en-US" sz="2800" dirty="0"/>
              <a:t>UNIQUE NOT NULL  </a:t>
            </a:r>
          </a:p>
          <a:p>
            <a:r>
              <a:rPr lang="en-US" sz="2800" dirty="0"/>
              <a:t>UNIQUE NOT NULL  </a:t>
            </a:r>
          </a:p>
          <a:p>
            <a:r>
              <a:rPr lang="en-US" sz="2800" dirty="0"/>
              <a:t>NOT NULL  </a:t>
            </a:r>
          </a:p>
          <a:p>
            <a:r>
              <a:rPr lang="en-US" sz="2800" dirty="0"/>
              <a:t>NOT NULL  </a:t>
            </a:r>
          </a:p>
          <a:p>
            <a:r>
              <a:rPr lang="en-US" sz="2800" dirty="0"/>
              <a:t>(none)  </a:t>
            </a:r>
          </a:p>
          <a:p>
            <a:r>
              <a:rPr lang="en-US" sz="2800" dirty="0"/>
              <a:t>(none)  </a:t>
            </a:r>
          </a:p>
          <a:p>
            <a:r>
              <a:rPr lang="en-US" sz="2800" dirty="0"/>
              <a:t>(none)  </a:t>
            </a:r>
          </a:p>
          <a:p>
            <a:r>
              <a:rPr lang="en-US" sz="2800" dirty="0"/>
              <a:t>(none)  </a:t>
            </a:r>
          </a:p>
          <a:p>
            <a:r>
              <a:rPr lang="en-US" sz="2800" dirty="0"/>
              <a:t>(none)  </a:t>
            </a:r>
          </a:p>
          <a:p>
            <a:r>
              <a:rPr lang="en-US" sz="2800" dirty="0"/>
              <a:t>(none)  </a:t>
            </a:r>
          </a:p>
          <a:p>
            <a:r>
              <a:rPr lang="en-US" sz="2800" dirty="0"/>
              <a:t>(none)  </a:t>
            </a:r>
          </a:p>
          <a:p>
            <a:r>
              <a:rPr lang="en-US" sz="2800" dirty="0"/>
              <a:t>(none)  </a:t>
            </a:r>
          </a:p>
          <a:p>
            <a:r>
              <a:rPr lang="en-US" sz="2800" dirty="0"/>
              <a:t>(none)  </a:t>
            </a:r>
          </a:p>
          <a:p>
            <a:r>
              <a:rPr lang="en-US" sz="2800" dirty="0"/>
              <a:t>(none)  </a:t>
            </a:r>
          </a:p>
          <a:p>
            <a:r>
              <a:rPr lang="en-US" sz="2800" dirty="0"/>
              <a:t>(none)  </a:t>
            </a:r>
          </a:p>
          <a:p>
            <a:r>
              <a:rPr lang="en-US" sz="2800" dirty="0"/>
              <a:t>FOREIGN KEY (</a:t>
            </a:r>
            <a:r>
              <a:rPr lang="en-US" sz="2800" dirty="0" err="1"/>
              <a:t>category_id</a:t>
            </a:r>
            <a:r>
              <a:rPr lang="en-US" sz="2800" dirty="0"/>
              <a:t>) REFERENCES </a:t>
            </a:r>
            <a:r>
              <a:rPr lang="en-US" sz="2800" dirty="0" err="1"/>
              <a:t>element_categories</a:t>
            </a:r>
            <a:r>
              <a:rPr lang="en-US" sz="2800" dirty="0"/>
              <a:t>(</a:t>
            </a:r>
            <a:r>
              <a:rPr lang="en-US" sz="2800" dirty="0" err="1"/>
              <a:t>category_id</a:t>
            </a:r>
            <a:r>
              <a:rPr lang="en-US" sz="2800" dirty="0"/>
              <a:t>) 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6548" y="1931067"/>
            <a:ext cx="613431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latin typeface="Arial Rounded MT Bold" panose="020F0704030504030204" pitchFamily="34" charset="0"/>
              </a:rPr>
              <a:t>Constrains/Description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2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5">
          <a:fgClr>
            <a:schemeClr val="lt1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4"/>
          <p:cNvGrpSpPr/>
          <p:nvPr/>
        </p:nvGrpSpPr>
        <p:grpSpPr>
          <a:xfrm>
            <a:off x="8492080" y="462169"/>
            <a:ext cx="9838239" cy="10287000"/>
            <a:chOff x="0" y="0"/>
            <a:chExt cx="2591141" cy="2709333"/>
          </a:xfrm>
          <a:solidFill>
            <a:schemeClr val="accent5">
              <a:lumMod val="20000"/>
              <a:lumOff val="80000"/>
            </a:schemeClr>
          </a:solidFill>
        </p:grpSpPr>
        <p:sp>
          <p:nvSpPr>
            <p:cNvPr id="15" name="Freeform 5"/>
            <p:cNvSpPr/>
            <p:nvPr/>
          </p:nvSpPr>
          <p:spPr>
            <a:xfrm>
              <a:off x="0" y="0"/>
              <a:ext cx="2591141" cy="2709333"/>
            </a:xfrm>
            <a:custGeom>
              <a:avLst/>
              <a:gdLst/>
              <a:ahLst/>
              <a:cxnLst/>
              <a:rect l="l" t="t" r="r" b="b"/>
              <a:pathLst>
                <a:path w="2591141" h="2709333">
                  <a:moveTo>
                    <a:pt x="0" y="0"/>
                  </a:moveTo>
                  <a:lnTo>
                    <a:pt x="2591141" y="0"/>
                  </a:lnTo>
                  <a:lnTo>
                    <a:pt x="2591141" y="2709333"/>
                  </a:lnTo>
                  <a:lnTo>
                    <a:pt x="0" y="2709333"/>
                  </a:lnTo>
                  <a:close/>
                </a:path>
              </a:pathLst>
            </a:custGeom>
            <a:grpFill/>
          </p:spPr>
        </p:sp>
        <p:sp>
          <p:nvSpPr>
            <p:cNvPr id="16" name="TextBox 6"/>
            <p:cNvSpPr txBox="1"/>
            <p:nvPr/>
          </p:nvSpPr>
          <p:spPr>
            <a:xfrm>
              <a:off x="0" y="-123825"/>
              <a:ext cx="2591141" cy="2833158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080"/>
                </a:lnSpc>
              </a:pPr>
              <a:endParaRPr/>
            </a:p>
          </p:txBody>
        </p:sp>
      </p:grpSp>
      <p:sp>
        <p:nvSpPr>
          <p:cNvPr id="7" name="Scroll: Vertical 6"/>
          <p:cNvSpPr/>
          <p:nvPr/>
        </p:nvSpPr>
        <p:spPr>
          <a:xfrm>
            <a:off x="7854802" y="1943117"/>
            <a:ext cx="10363200" cy="7245334"/>
          </a:xfrm>
          <a:prstGeom prst="verticalScroll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1" name="AutoShape 21"/>
          <p:cNvSpPr/>
          <p:nvPr/>
        </p:nvSpPr>
        <p:spPr>
          <a:xfrm>
            <a:off x="10767060" y="990600"/>
            <a:ext cx="6492240" cy="0"/>
          </a:xfrm>
          <a:prstGeom prst="line">
            <a:avLst/>
          </a:prstGeom>
          <a:ln>
            <a:solidFill>
              <a:schemeClr val="accent5">
                <a:lumMod val="75000"/>
              </a:schemeClr>
            </a:solidFill>
            <a:headEnd type="none" w="sm" len="sm"/>
            <a:tailEnd type="none" w="sm" len="sm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sp>
      <p:sp>
        <p:nvSpPr>
          <p:cNvPr id="22" name="TextBox 21"/>
          <p:cNvSpPr txBox="1"/>
          <p:nvPr/>
        </p:nvSpPr>
        <p:spPr>
          <a:xfrm>
            <a:off x="0" y="181844"/>
            <a:ext cx="141732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dirty="0">
                <a:solidFill>
                  <a:schemeClr val="accent1">
                    <a:lumMod val="50000"/>
                  </a:schemeClr>
                </a:solidFill>
                <a:latin typeface="Arial Rounded MT Bold" panose="020F0704030504030204" pitchFamily="34" charset="0"/>
              </a:rPr>
              <a:t> </a:t>
            </a:r>
            <a:r>
              <a:rPr lang="en-US" sz="6000" dirty="0">
                <a:solidFill>
                  <a:schemeClr val="tx2">
                    <a:lumMod val="50000"/>
                  </a:schemeClr>
                </a:solidFill>
                <a:latin typeface="Arial Rounded MT Bold" panose="020F0704030504030204" pitchFamily="34" charset="0"/>
              </a:rPr>
              <a:t> Insert data in element table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8895907" y="3110772"/>
            <a:ext cx="8343900" cy="65556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tx2">
                    <a:lumMod val="50000"/>
                  </a:schemeClr>
                </a:solidFill>
              </a:rPr>
              <a:t>INSERT INTO elements (</a:t>
            </a:r>
          </a:p>
          <a:p>
            <a:r>
              <a:rPr lang="en-US" sz="2400" dirty="0">
                <a:solidFill>
                  <a:schemeClr val="tx2">
                    <a:lumMod val="50000"/>
                  </a:schemeClr>
                </a:solidFill>
              </a:rPr>
              <a:t>  name, symbol, </a:t>
            </a:r>
            <a:r>
              <a:rPr lang="en-US" sz="2400" dirty="0" err="1">
                <a:solidFill>
                  <a:schemeClr val="tx2">
                    <a:lumMod val="50000"/>
                  </a:schemeClr>
                </a:solidFill>
              </a:rPr>
              <a:t>atomic_number</a:t>
            </a:r>
            <a:r>
              <a:rPr lang="en-US" sz="2400" dirty="0">
                <a:solidFill>
                  <a:schemeClr val="tx2">
                    <a:lumMod val="50000"/>
                  </a:schemeClr>
                </a:solidFill>
              </a:rPr>
              <a:t>, </a:t>
            </a:r>
            <a:r>
              <a:rPr lang="en-US" sz="2400" dirty="0" err="1">
                <a:solidFill>
                  <a:schemeClr val="tx2">
                    <a:lumMod val="50000"/>
                  </a:schemeClr>
                </a:solidFill>
              </a:rPr>
              <a:t>atomic_mass</a:t>
            </a:r>
            <a:r>
              <a:rPr lang="en-US" sz="2400" dirty="0">
                <a:solidFill>
                  <a:schemeClr val="tx2">
                    <a:lumMod val="50000"/>
                  </a:schemeClr>
                </a:solidFill>
              </a:rPr>
              <a:t>, period, </a:t>
            </a:r>
            <a:r>
              <a:rPr lang="en-US" sz="2400" dirty="0" err="1">
                <a:solidFill>
                  <a:schemeClr val="tx2">
                    <a:lumMod val="50000"/>
                  </a:schemeClr>
                </a:solidFill>
              </a:rPr>
              <a:t>group_id</a:t>
            </a:r>
            <a:r>
              <a:rPr lang="en-US" sz="2400" dirty="0">
                <a:solidFill>
                  <a:schemeClr val="tx2">
                    <a:lumMod val="50000"/>
                  </a:schemeClr>
                </a:solidFill>
              </a:rPr>
              <a:t>, block,</a:t>
            </a:r>
          </a:p>
          <a:p>
            <a:r>
              <a:rPr lang="en-US" sz="2400" dirty="0">
                <a:solidFill>
                  <a:schemeClr val="tx2">
                    <a:lumMod val="50000"/>
                  </a:schemeClr>
                </a:solidFill>
              </a:rPr>
              <a:t>  </a:t>
            </a:r>
            <a:r>
              <a:rPr lang="en-US" sz="2400" dirty="0" err="1">
                <a:solidFill>
                  <a:schemeClr val="tx2">
                    <a:lumMod val="50000"/>
                  </a:schemeClr>
                </a:solidFill>
              </a:rPr>
              <a:t>electron_configuration</a:t>
            </a:r>
            <a:r>
              <a:rPr lang="en-US" sz="2400" dirty="0">
                <a:solidFill>
                  <a:schemeClr val="tx2">
                    <a:lumMod val="50000"/>
                  </a:schemeClr>
                </a:solidFill>
              </a:rPr>
              <a:t>, </a:t>
            </a:r>
            <a:r>
              <a:rPr lang="en-US" sz="2400" dirty="0" err="1">
                <a:solidFill>
                  <a:schemeClr val="tx2">
                    <a:lumMod val="50000"/>
                  </a:schemeClr>
                </a:solidFill>
              </a:rPr>
              <a:t>state_at_stp</a:t>
            </a:r>
            <a:r>
              <a:rPr lang="en-US" sz="2400" dirty="0">
                <a:solidFill>
                  <a:schemeClr val="tx2">
                    <a:lumMod val="50000"/>
                  </a:schemeClr>
                </a:solidFill>
              </a:rPr>
              <a:t>, </a:t>
            </a:r>
            <a:r>
              <a:rPr lang="en-US" sz="2400" dirty="0" err="1">
                <a:solidFill>
                  <a:schemeClr val="tx2">
                    <a:lumMod val="50000"/>
                  </a:schemeClr>
                </a:solidFill>
              </a:rPr>
              <a:t>melting_point_k</a:t>
            </a:r>
            <a:r>
              <a:rPr lang="en-US" sz="2400" dirty="0">
                <a:solidFill>
                  <a:schemeClr val="tx2">
                    <a:lumMod val="50000"/>
                  </a:schemeClr>
                </a:solidFill>
              </a:rPr>
              <a:t>, </a:t>
            </a:r>
            <a:r>
              <a:rPr lang="en-US" sz="2400" dirty="0" err="1">
                <a:solidFill>
                  <a:schemeClr val="tx2">
                    <a:lumMod val="50000"/>
                  </a:schemeClr>
                </a:solidFill>
              </a:rPr>
              <a:t>boiling_point_k</a:t>
            </a:r>
            <a:r>
              <a:rPr lang="en-US" sz="2400" dirty="0">
                <a:solidFill>
                  <a:schemeClr val="tx2">
                    <a:lumMod val="50000"/>
                  </a:schemeClr>
                </a:solidFill>
              </a:rPr>
              <a:t>,</a:t>
            </a:r>
          </a:p>
          <a:p>
            <a:r>
              <a:rPr lang="en-US" sz="2400" dirty="0">
                <a:solidFill>
                  <a:schemeClr val="tx2">
                    <a:lumMod val="50000"/>
                  </a:schemeClr>
                </a:solidFill>
              </a:rPr>
              <a:t>  density_g_cm3, electronegativity, </a:t>
            </a:r>
            <a:r>
              <a:rPr lang="en-US" sz="2400" dirty="0" err="1">
                <a:solidFill>
                  <a:schemeClr val="tx2">
                    <a:lumMod val="50000"/>
                  </a:schemeClr>
                </a:solidFill>
              </a:rPr>
              <a:t>ionization_energy_kj_mol</a:t>
            </a:r>
            <a:r>
              <a:rPr lang="en-US" sz="2400" dirty="0">
                <a:solidFill>
                  <a:schemeClr val="tx2">
                    <a:lumMod val="50000"/>
                  </a:schemeClr>
                </a:solidFill>
              </a:rPr>
              <a:t>,</a:t>
            </a:r>
          </a:p>
          <a:p>
            <a:r>
              <a:rPr lang="en-US" sz="2400" dirty="0">
                <a:solidFill>
                  <a:schemeClr val="tx2">
                    <a:lumMod val="50000"/>
                  </a:schemeClr>
                </a:solidFill>
              </a:rPr>
              <a:t>  </a:t>
            </a:r>
            <a:r>
              <a:rPr lang="en-US" sz="2400" dirty="0" err="1">
                <a:solidFill>
                  <a:schemeClr val="tx2">
                    <a:lumMod val="50000"/>
                  </a:schemeClr>
                </a:solidFill>
              </a:rPr>
              <a:t>electron_affinity_kj_mol</a:t>
            </a:r>
            <a:r>
              <a:rPr lang="en-US" sz="2400" dirty="0">
                <a:solidFill>
                  <a:schemeClr val="tx2">
                    <a:lumMod val="50000"/>
                  </a:schemeClr>
                </a:solidFill>
              </a:rPr>
              <a:t>, description, </a:t>
            </a:r>
            <a:r>
              <a:rPr lang="en-US" sz="2400" dirty="0" err="1">
                <a:solidFill>
                  <a:schemeClr val="tx2">
                    <a:lumMod val="50000"/>
                  </a:schemeClr>
                </a:solidFill>
              </a:rPr>
              <a:t>category_id</a:t>
            </a:r>
            <a:endParaRPr lang="en-US" sz="2400" dirty="0">
              <a:solidFill>
                <a:schemeClr val="tx2">
                  <a:lumMod val="50000"/>
                </a:schemeClr>
              </a:solidFill>
            </a:endParaRPr>
          </a:p>
          <a:p>
            <a:r>
              <a:rPr lang="en-US" sz="2400" dirty="0">
                <a:solidFill>
                  <a:schemeClr val="tx2">
                    <a:lumMod val="50000"/>
                  </a:schemeClr>
                </a:solidFill>
              </a:rPr>
              <a:t>) VALUES</a:t>
            </a:r>
          </a:p>
          <a:p>
            <a:endParaRPr lang="en-US" sz="2400" dirty="0">
              <a:solidFill>
                <a:schemeClr val="tx2">
                  <a:lumMod val="50000"/>
                </a:schemeClr>
              </a:solidFill>
            </a:endParaRPr>
          </a:p>
          <a:p>
            <a:r>
              <a:rPr lang="en-US" sz="2400" dirty="0">
                <a:solidFill>
                  <a:schemeClr val="tx2">
                    <a:lumMod val="50000"/>
                  </a:schemeClr>
                </a:solidFill>
              </a:rPr>
              <a:t>(</a:t>
            </a:r>
          </a:p>
          <a:p>
            <a:r>
              <a:rPr lang="en-US" sz="2400" dirty="0">
                <a:solidFill>
                  <a:schemeClr val="tx2">
                    <a:lumMod val="50000"/>
                  </a:schemeClr>
                </a:solidFill>
              </a:rPr>
              <a:t>  'Hydrogen', 'H', 1, 1.00784, 1, 1, 's',</a:t>
            </a:r>
          </a:p>
          <a:p>
            <a:r>
              <a:rPr lang="en-US" sz="2400" dirty="0">
                <a:solidFill>
                  <a:schemeClr val="tx2">
                    <a:lumMod val="50000"/>
                  </a:schemeClr>
                </a:solidFill>
              </a:rPr>
              <a:t>  '1s1', 'gas', 13.99, 20.27,</a:t>
            </a:r>
          </a:p>
          <a:p>
            <a:r>
              <a:rPr lang="en-US" sz="2400" dirty="0">
                <a:solidFill>
                  <a:schemeClr val="tx2">
                    <a:lumMod val="50000"/>
                  </a:schemeClr>
                </a:solidFill>
              </a:rPr>
              <a:t>  0.00008988, 2.20, 1312.00,</a:t>
            </a:r>
          </a:p>
          <a:p>
            <a:r>
              <a:rPr lang="en-US" sz="2400" dirty="0">
                <a:solidFill>
                  <a:schemeClr val="tx2">
                    <a:lumMod val="50000"/>
                  </a:schemeClr>
                </a:solidFill>
              </a:rPr>
              <a:t>  72.8, 'Lightest element, essential in water and organic compounds.', 1</a:t>
            </a:r>
          </a:p>
          <a:p>
            <a:r>
              <a:rPr lang="en-US" sz="2400" dirty="0">
                <a:solidFill>
                  <a:schemeClr val="tx2">
                    <a:lumMod val="50000"/>
                  </a:schemeClr>
                </a:solidFill>
              </a:rPr>
              <a:t>);</a:t>
            </a:r>
          </a:p>
          <a:p>
            <a:endParaRPr lang="en-US" dirty="0">
              <a:solidFill>
                <a:schemeClr val="tx2">
                  <a:lumMod val="50000"/>
                </a:schemeClr>
              </a:solidFill>
            </a:endParaRPr>
          </a:p>
          <a:p>
            <a:endParaRPr lang="en-US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609600" y="1060451"/>
            <a:ext cx="12192000" cy="8128000"/>
          </a:xfrm>
          <a:prstGeom prst="rect">
            <a:avLst/>
          </a:prstGeom>
        </p:spPr>
        <p:txBody>
          <a:bodyPr/>
          <a:lstStyle/>
          <a:p>
            <a:pPr lvl="0">
              <a:buChar char="•"/>
            </a:pPr>
            <a:endParaRPr lang="en-US" dirty="0"/>
          </a:p>
          <a:p>
            <a:pPr lvl="0">
              <a:buChar char="•"/>
            </a:pPr>
            <a:endParaRPr lang="en-US" dirty="0"/>
          </a:p>
          <a:p>
            <a:pPr lvl="0">
              <a:buChar char="•"/>
            </a:pPr>
            <a:endParaRPr lang="en-US" dirty="0"/>
          </a:p>
          <a:p>
            <a:pPr lvl="0">
              <a:buChar char="•"/>
            </a:pPr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8686800" y="4691269"/>
            <a:ext cx="914400" cy="914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6" name="Rectangle: Rounded Corners 5"/>
          <p:cNvSpPr/>
          <p:nvPr/>
        </p:nvSpPr>
        <p:spPr>
          <a:xfrm>
            <a:off x="1028700" y="1816100"/>
            <a:ext cx="6134100" cy="317362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: Rounded Corners 7"/>
          <p:cNvSpPr/>
          <p:nvPr/>
        </p:nvSpPr>
        <p:spPr>
          <a:xfrm>
            <a:off x="961360" y="5675519"/>
            <a:ext cx="6268779" cy="317362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8091622" y="449418"/>
            <a:ext cx="10196377" cy="9837579"/>
            <a:chOff x="0" y="0"/>
            <a:chExt cx="2591141" cy="2709333"/>
          </a:xfrm>
          <a:solidFill>
            <a:schemeClr val="accent5">
              <a:lumMod val="60000"/>
              <a:lumOff val="40000"/>
            </a:schemeClr>
          </a:solidFill>
        </p:grpSpPr>
        <p:sp>
          <p:nvSpPr>
            <p:cNvPr id="5" name="Freeform 5"/>
            <p:cNvSpPr/>
            <p:nvPr/>
          </p:nvSpPr>
          <p:spPr>
            <a:xfrm>
              <a:off x="0" y="0"/>
              <a:ext cx="2591141" cy="2709333"/>
            </a:xfrm>
            <a:custGeom>
              <a:avLst/>
              <a:gdLst/>
              <a:ahLst/>
              <a:cxnLst/>
              <a:rect l="l" t="t" r="r" b="b"/>
              <a:pathLst>
                <a:path w="2591141" h="2709333">
                  <a:moveTo>
                    <a:pt x="0" y="0"/>
                  </a:moveTo>
                  <a:lnTo>
                    <a:pt x="2591141" y="0"/>
                  </a:lnTo>
                  <a:lnTo>
                    <a:pt x="2591141" y="2709333"/>
                  </a:lnTo>
                  <a:lnTo>
                    <a:pt x="0" y="2709333"/>
                  </a:lnTo>
                  <a:close/>
                </a:path>
              </a:pathLst>
            </a:custGeom>
            <a:grpFill/>
          </p:spPr>
        </p:sp>
        <p:sp>
          <p:nvSpPr>
            <p:cNvPr id="6" name="TextBox 6"/>
            <p:cNvSpPr txBox="1"/>
            <p:nvPr/>
          </p:nvSpPr>
          <p:spPr>
            <a:xfrm>
              <a:off x="0" y="-123825"/>
              <a:ext cx="2591141" cy="2833158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080"/>
                </a:lnSpc>
              </a:pPr>
              <a:endParaRPr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3861786" y="0"/>
            <a:ext cx="9480749" cy="11281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960"/>
              </a:lnSpc>
              <a:spcBef>
                <a:spcPct val="0"/>
              </a:spcBef>
            </a:pPr>
            <a:r>
              <a:rPr lang="en-US" sz="7200" b="1" i="1" dirty="0">
                <a:solidFill>
                  <a:srgbClr val="0F4662"/>
                </a:solidFill>
                <a:latin typeface="Cormorant Garamond Bold Italics" panose="00000800000000000000"/>
                <a:ea typeface="Cormorant Garamond Bold Italics" panose="00000800000000000000"/>
                <a:cs typeface="Cormorant Garamond Bold Italics" panose="00000800000000000000"/>
                <a:sym typeface="Cormorant Garamond Bold Italics" panose="00000800000000000000"/>
              </a:rPr>
              <a:t>Insert data in all tables</a:t>
            </a:r>
          </a:p>
        </p:txBody>
      </p:sp>
      <p:sp>
        <p:nvSpPr>
          <p:cNvPr id="14" name="AutoShape 14"/>
          <p:cNvSpPr/>
          <p:nvPr/>
        </p:nvSpPr>
        <p:spPr>
          <a:xfrm>
            <a:off x="457200" y="9879252"/>
            <a:ext cx="6492240" cy="0"/>
          </a:xfrm>
          <a:prstGeom prst="line">
            <a:avLst/>
          </a:prstGeom>
          <a:ln w="76200" cap="flat">
            <a:solidFill>
              <a:srgbClr val="0F4662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5" name="AutoShape 15"/>
          <p:cNvSpPr/>
          <p:nvPr/>
        </p:nvSpPr>
        <p:spPr>
          <a:xfrm>
            <a:off x="11013768" y="224709"/>
            <a:ext cx="6492240" cy="0"/>
          </a:xfrm>
          <a:prstGeom prst="line">
            <a:avLst/>
          </a:prstGeom>
          <a:ln w="76200" cap="flat">
            <a:solidFill>
              <a:srgbClr val="0F4662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1" name="TextBox 6"/>
          <p:cNvSpPr txBox="1"/>
          <p:nvPr/>
        </p:nvSpPr>
        <p:spPr>
          <a:xfrm>
            <a:off x="8602161" y="-317748"/>
            <a:ext cx="9838239" cy="10757148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4080"/>
              </a:lnSpc>
            </a:pPr>
            <a:endParaRPr/>
          </a:p>
        </p:txBody>
      </p:sp>
      <p:sp>
        <p:nvSpPr>
          <p:cNvPr id="27" name="TextBox 26"/>
          <p:cNvSpPr txBox="1"/>
          <p:nvPr/>
        </p:nvSpPr>
        <p:spPr>
          <a:xfrm rot="10800000" flipH="1" flipV="1">
            <a:off x="29657" y="2173978"/>
            <a:ext cx="8453187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INSERT INTO Isotopes (</a:t>
            </a:r>
            <a:r>
              <a:rPr lang="en-US" sz="3200" dirty="0" err="1"/>
              <a:t>element_id</a:t>
            </a:r>
            <a:r>
              <a:rPr lang="en-US" sz="3200" dirty="0"/>
              <a:t>, </a:t>
            </a:r>
            <a:r>
              <a:rPr lang="en-US" sz="3200" dirty="0" err="1"/>
              <a:t>mass_number</a:t>
            </a:r>
            <a:r>
              <a:rPr lang="en-US" sz="3200" dirty="0"/>
              <a:t>, symbol, </a:t>
            </a:r>
            <a:r>
              <a:rPr lang="en-US" sz="3200" dirty="0" err="1"/>
              <a:t>natural_abundance</a:t>
            </a:r>
            <a:r>
              <a:rPr lang="en-US" sz="3200" dirty="0"/>
              <a:t>, </a:t>
            </a:r>
            <a:r>
              <a:rPr lang="en-US" sz="3200" dirty="0" err="1"/>
              <a:t>half_life_days</a:t>
            </a:r>
            <a:r>
              <a:rPr lang="en-US" sz="3200" dirty="0"/>
              <a:t>, </a:t>
            </a:r>
            <a:r>
              <a:rPr lang="en-US" sz="3200" dirty="0" err="1"/>
              <a:t>decay_mode</a:t>
            </a:r>
            <a:r>
              <a:rPr lang="en-US" sz="3200" dirty="0"/>
              <a:t>, </a:t>
            </a:r>
            <a:r>
              <a:rPr lang="en-US" sz="3200" dirty="0" err="1"/>
              <a:t>is_radioactive</a:t>
            </a:r>
            <a:r>
              <a:rPr lang="en-US" sz="3200" dirty="0"/>
              <a:t>) VALUES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5814" y="1324183"/>
            <a:ext cx="3810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latin typeface="Bahnschrift SemiBold" panose="020B0502040204020203" pitchFamily="34" charset="0"/>
              </a:rPr>
              <a:t>Isotopes table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96400" y="2768585"/>
            <a:ext cx="7467600" cy="38227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31" name="TextBox 30"/>
          <p:cNvSpPr txBox="1"/>
          <p:nvPr/>
        </p:nvSpPr>
        <p:spPr>
          <a:xfrm>
            <a:off x="8410027" y="2093624"/>
            <a:ext cx="9612159" cy="26360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INSERT INTO </a:t>
            </a:r>
            <a:r>
              <a:rPr lang="en-US" sz="3200" dirty="0" err="1"/>
              <a:t>element_categories</a:t>
            </a:r>
            <a:r>
              <a:rPr lang="en-US" sz="3200" dirty="0"/>
              <a:t> (</a:t>
            </a:r>
            <a:r>
              <a:rPr lang="en-US" sz="3200" dirty="0" err="1"/>
              <a:t>category_name</a:t>
            </a:r>
            <a:r>
              <a:rPr lang="en-US" sz="3200" dirty="0"/>
              <a:t>, </a:t>
            </a:r>
            <a:r>
              <a:rPr lang="en-US" sz="3200" dirty="0" err="1"/>
              <a:t>category_description</a:t>
            </a:r>
            <a:r>
              <a:rPr lang="en-US" sz="3200" dirty="0"/>
              <a:t>) VALUES('Alkali Metal', 'Very reactive metals that readily lose their outermost electron.'),('Alkaline Earth Metal', 'Reactive metals, commonly found in the </a:t>
            </a:r>
            <a:r>
              <a:rPr lang="en-US" sz="3200" dirty="0" err="1"/>
              <a:t>Earth''s</a:t>
            </a:r>
            <a:r>
              <a:rPr lang="en-US" sz="3200" dirty="0"/>
              <a:t> crust.'),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98616" y="1354960"/>
            <a:ext cx="613752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latin typeface="Bahnschrift SemiBold" panose="020B0502040204020203" pitchFamily="34" charset="0"/>
              </a:rPr>
              <a:t>Element </a:t>
            </a:r>
            <a:r>
              <a:rPr lang="en-US" sz="4000" dirty="0" err="1">
                <a:latin typeface="Bahnschrift SemiBold" panose="020B0502040204020203" pitchFamily="34" charset="0"/>
              </a:rPr>
              <a:t>caregories</a:t>
            </a:r>
            <a:r>
              <a:rPr lang="en-US" sz="4000" dirty="0">
                <a:latin typeface="Bahnschrift SemiBold" panose="020B0502040204020203" pitchFamily="34" charset="0"/>
              </a:rPr>
              <a:t> table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2062" y="4352940"/>
            <a:ext cx="311995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latin typeface="Bahnschrift SemiBold" panose="020B0502040204020203" pitchFamily="34" charset="0"/>
              </a:rPr>
              <a:t>Group table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10027" y="5757020"/>
            <a:ext cx="9649374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INSERT INTO Periods (</a:t>
            </a:r>
            <a:r>
              <a:rPr lang="en-US" sz="3200" dirty="0" err="1"/>
              <a:t>period_id</a:t>
            </a:r>
            <a:r>
              <a:rPr lang="en-US" sz="3200" dirty="0"/>
              <a:t>, </a:t>
            </a:r>
            <a:r>
              <a:rPr lang="en-US" sz="3200" dirty="0" err="1"/>
              <a:t>period_name</a:t>
            </a:r>
            <a:r>
              <a:rPr lang="en-US" sz="3200" dirty="0"/>
              <a:t>, description) VALUES(1, 'Period 1', 'Contains hydrogen and helium. Only 2 elements.'),(2, 'Period 2', 'Contains elements from lithium to neon. 8 elements.'),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55963" y="5061363"/>
            <a:ext cx="44958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latin typeface="Bahnschrift SemiBold" panose="020B0502040204020203" pitchFamily="34" charset="0"/>
              </a:rPr>
              <a:t>Period table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-29240" y="5103401"/>
            <a:ext cx="7801641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INSERT INTO Groups_ (</a:t>
            </a:r>
            <a:r>
              <a:rPr lang="en-US" sz="3200" dirty="0" err="1"/>
              <a:t>group_id</a:t>
            </a:r>
            <a:r>
              <a:rPr lang="en-US" sz="3200" dirty="0"/>
              <a:t>, </a:t>
            </a:r>
            <a:r>
              <a:rPr lang="en-US" sz="3200" dirty="0" err="1"/>
              <a:t>group_name</a:t>
            </a:r>
            <a:r>
              <a:rPr lang="en-US" sz="3200" dirty="0"/>
              <a:t>, description) VALUES(1, 'Alkali Metals', 'Highly reactive metals with one valence electron. Form +1 ions.'),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47036" y="8150813"/>
            <a:ext cx="833280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INSERT INTO Uses (</a:t>
            </a:r>
            <a:r>
              <a:rPr lang="en-US" sz="3200" dirty="0" err="1"/>
              <a:t>element_id</a:t>
            </a:r>
            <a:r>
              <a:rPr lang="en-US" sz="3200" dirty="0"/>
              <a:t>, application, details) VALUES-- Hydrogen (</a:t>
            </a:r>
            <a:r>
              <a:rPr lang="en-US" sz="3200" dirty="0" err="1"/>
              <a:t>element_id</a:t>
            </a:r>
            <a:r>
              <a:rPr lang="en-US" sz="3200" dirty="0"/>
              <a:t> = 1)(1, 'Fuel', 'Used as rocket fuel and in fuel cells.'),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164" y="7304215"/>
            <a:ext cx="60198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latin typeface="Bahnschrift SemiBold" panose="020B0502040204020203" pitchFamily="34" charset="0"/>
              </a:rPr>
              <a:t>Uses table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1833153" y="6202"/>
            <a:ext cx="6400800" cy="10280798"/>
            <a:chOff x="0" y="0"/>
            <a:chExt cx="1218726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218726" cy="2709333"/>
            </a:xfrm>
            <a:custGeom>
              <a:avLst/>
              <a:gdLst/>
              <a:ahLst/>
              <a:cxnLst/>
              <a:rect l="l" t="t" r="r" b="b"/>
              <a:pathLst>
                <a:path w="1218726" h="2709333">
                  <a:moveTo>
                    <a:pt x="0" y="0"/>
                  </a:moveTo>
                  <a:lnTo>
                    <a:pt x="1218726" y="0"/>
                  </a:lnTo>
                  <a:lnTo>
                    <a:pt x="1218726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chemeClr val="bg2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123825"/>
              <a:ext cx="1218726" cy="28331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080"/>
                </a:lnSpc>
              </a:pPr>
              <a:endParaRPr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1028700" y="599709"/>
            <a:ext cx="5702843" cy="10990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960"/>
              </a:lnSpc>
              <a:spcBef>
                <a:spcPct val="0"/>
              </a:spcBef>
            </a:pPr>
            <a:r>
              <a:rPr lang="en-US" sz="6400" b="1" i="1" dirty="0">
                <a:solidFill>
                  <a:srgbClr val="0F4662"/>
                </a:solidFill>
                <a:latin typeface="Cormorant Garamond Bold Italics" panose="00000800000000000000"/>
                <a:ea typeface="Cormorant Garamond Bold Italics" panose="00000800000000000000"/>
                <a:cs typeface="Cormorant Garamond Bold Italics" panose="00000800000000000000"/>
                <a:sym typeface="Cormorant Garamond Bold Italics" panose="00000800000000000000"/>
              </a:rPr>
              <a:t>Sample queries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2000" y="3348900"/>
            <a:ext cx="7658100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/>
              <a:t>&gt;SELECT * FROM elements ; </a:t>
            </a:r>
          </a:p>
          <a:p>
            <a:r>
              <a:rPr lang="en-US" sz="4000" dirty="0"/>
              <a:t>&gt;select * from </a:t>
            </a:r>
            <a:r>
              <a:rPr lang="en-US" sz="4000" dirty="0" err="1"/>
              <a:t>element_categories</a:t>
            </a:r>
            <a:r>
              <a:rPr lang="en-US" sz="4000" dirty="0"/>
              <a:t>;</a:t>
            </a:r>
          </a:p>
          <a:p>
            <a:r>
              <a:rPr lang="en-US" sz="4000" dirty="0"/>
              <a:t>&gt;select * from periods; </a:t>
            </a:r>
          </a:p>
          <a:p>
            <a:r>
              <a:rPr lang="en-US" sz="4000" dirty="0"/>
              <a:t>&gt;select * from isotopes;</a:t>
            </a:r>
          </a:p>
          <a:p>
            <a:r>
              <a:rPr lang="en-US" sz="4000" dirty="0"/>
              <a:t> &gt;select * from uses;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851953" y="2615572"/>
            <a:ext cx="8382000" cy="41857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600" dirty="0">
                <a:latin typeface="Bahnschrift SemiBold" panose="020B0502040204020203" pitchFamily="34" charset="0"/>
              </a:rPr>
              <a:t>-- Noble gas</a:t>
            </a:r>
          </a:p>
          <a:p>
            <a:r>
              <a:rPr lang="en-US" sz="4000" dirty="0"/>
              <a:t>SELECT e.name, </a:t>
            </a:r>
            <a:r>
              <a:rPr lang="en-US" sz="4000" dirty="0" err="1"/>
              <a:t>e.symbol</a:t>
            </a:r>
            <a:r>
              <a:rPr lang="en-US" sz="4000" dirty="0"/>
              <a:t>, </a:t>
            </a:r>
            <a:r>
              <a:rPr lang="en-US" sz="4000" dirty="0" err="1"/>
              <a:t>ec.category_nameFROM</a:t>
            </a:r>
            <a:r>
              <a:rPr lang="en-US" sz="4000" dirty="0"/>
              <a:t> elements </a:t>
            </a:r>
            <a:r>
              <a:rPr lang="en-US" sz="4000" dirty="0" err="1"/>
              <a:t>eJOIN</a:t>
            </a:r>
            <a:r>
              <a:rPr lang="en-US" sz="4000" dirty="0"/>
              <a:t> </a:t>
            </a:r>
            <a:r>
              <a:rPr lang="en-US" sz="4000" dirty="0" err="1"/>
              <a:t>element_categories</a:t>
            </a:r>
            <a:r>
              <a:rPr lang="en-US" sz="4000" dirty="0"/>
              <a:t> </a:t>
            </a:r>
            <a:r>
              <a:rPr lang="en-US" sz="4000" dirty="0" err="1"/>
              <a:t>ec</a:t>
            </a:r>
            <a:r>
              <a:rPr lang="en-US" sz="4000" dirty="0"/>
              <a:t> ON </a:t>
            </a:r>
            <a:r>
              <a:rPr lang="en-US" sz="4000" dirty="0" err="1"/>
              <a:t>e.category_id</a:t>
            </a:r>
            <a:r>
              <a:rPr lang="en-US" sz="4000" dirty="0"/>
              <a:t> = </a:t>
            </a:r>
            <a:r>
              <a:rPr lang="en-US" sz="4000" dirty="0" err="1"/>
              <a:t>ec.category_idWHERE</a:t>
            </a:r>
            <a:r>
              <a:rPr lang="en-US" sz="4000" dirty="0"/>
              <a:t> </a:t>
            </a:r>
            <a:r>
              <a:rPr lang="en-US" sz="4000" dirty="0" err="1"/>
              <a:t>ec.category_name</a:t>
            </a:r>
            <a:r>
              <a:rPr lang="en-US" sz="4000" dirty="0"/>
              <a:t> = 'Noble Gas';</a:t>
            </a:r>
          </a:p>
        </p:txBody>
      </p:sp>
      <p:grpSp>
        <p:nvGrpSpPr>
          <p:cNvPr id="22" name="Group 11"/>
          <p:cNvGrpSpPr/>
          <p:nvPr/>
        </p:nvGrpSpPr>
        <p:grpSpPr>
          <a:xfrm>
            <a:off x="140691" y="1830267"/>
            <a:ext cx="810923" cy="810923"/>
            <a:chOff x="0" y="0"/>
            <a:chExt cx="812800" cy="812800"/>
          </a:xfrm>
        </p:grpSpPr>
        <p:sp>
          <p:nvSpPr>
            <p:cNvPr id="23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chemeClr val="accent3">
                <a:lumMod val="40000"/>
                <a:lumOff val="60000"/>
              </a:schemeClr>
            </a:solidFill>
          </p:spPr>
        </p:sp>
        <p:sp>
          <p:nvSpPr>
            <p:cNvPr id="24" name="TextBox 13"/>
            <p:cNvSpPr txBox="1"/>
            <p:nvPr/>
          </p:nvSpPr>
          <p:spPr>
            <a:xfrm>
              <a:off x="76200" y="-47625"/>
              <a:ext cx="660400" cy="7842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080"/>
                </a:lnSpc>
              </a:pPr>
              <a:endParaRPr/>
            </a:p>
          </p:txBody>
        </p:sp>
      </p:grpSp>
      <p:grpSp>
        <p:nvGrpSpPr>
          <p:cNvPr id="28" name="Group 11"/>
          <p:cNvGrpSpPr/>
          <p:nvPr/>
        </p:nvGrpSpPr>
        <p:grpSpPr>
          <a:xfrm>
            <a:off x="14801795" y="115005"/>
            <a:ext cx="1206033" cy="1568121"/>
            <a:chOff x="-106632" y="-47625"/>
            <a:chExt cx="843232" cy="1004249"/>
          </a:xfrm>
        </p:grpSpPr>
        <p:sp>
          <p:nvSpPr>
            <p:cNvPr id="29" name="Freeform 12"/>
            <p:cNvSpPr/>
            <p:nvPr/>
          </p:nvSpPr>
          <p:spPr>
            <a:xfrm>
              <a:off x="-106632" y="143824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chemeClr val="accent3">
                <a:lumMod val="60000"/>
                <a:lumOff val="40000"/>
              </a:schemeClr>
            </a:solidFill>
          </p:spPr>
        </p:sp>
        <p:sp>
          <p:nvSpPr>
            <p:cNvPr id="30" name="TextBox 13"/>
            <p:cNvSpPr txBox="1"/>
            <p:nvPr/>
          </p:nvSpPr>
          <p:spPr>
            <a:xfrm>
              <a:off x="76200" y="-47625"/>
              <a:ext cx="660400" cy="7842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080"/>
                </a:lnSpc>
              </a:pPr>
              <a:endParaRPr/>
            </a:p>
          </p:txBody>
        </p:sp>
      </p:grpSp>
      <p:sp>
        <p:nvSpPr>
          <p:cNvPr id="37" name="Flowchart: Connector 36"/>
          <p:cNvSpPr/>
          <p:nvPr/>
        </p:nvSpPr>
        <p:spPr>
          <a:xfrm>
            <a:off x="3859493" y="8824287"/>
            <a:ext cx="1104900" cy="1185235"/>
          </a:xfrm>
          <a:prstGeom prst="flowChartConnector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Flowchart: Connector 37"/>
          <p:cNvSpPr/>
          <p:nvPr/>
        </p:nvSpPr>
        <p:spPr>
          <a:xfrm>
            <a:off x="1295400" y="7943550"/>
            <a:ext cx="609600" cy="662432"/>
          </a:xfrm>
          <a:prstGeom prst="flowChartConnector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Flowchart: Connector 38"/>
          <p:cNvSpPr/>
          <p:nvPr/>
        </p:nvSpPr>
        <p:spPr>
          <a:xfrm>
            <a:off x="16383000" y="2184166"/>
            <a:ext cx="863599" cy="762000"/>
          </a:xfrm>
          <a:prstGeom prst="flowChartConnector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Flowchart: Connector 39"/>
          <p:cNvSpPr/>
          <p:nvPr/>
        </p:nvSpPr>
        <p:spPr>
          <a:xfrm>
            <a:off x="15063291" y="7943550"/>
            <a:ext cx="557709" cy="662432"/>
          </a:xfrm>
          <a:prstGeom prst="flowChartConnector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5"/>
          <p:cNvSpPr txBox="1"/>
          <p:nvPr/>
        </p:nvSpPr>
        <p:spPr>
          <a:xfrm>
            <a:off x="699262" y="2505185"/>
            <a:ext cx="658875" cy="782414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4080"/>
              </a:lnSpc>
            </a:pPr>
            <a:endParaRPr/>
          </a:p>
        </p:txBody>
      </p:sp>
      <p:sp>
        <p:nvSpPr>
          <p:cNvPr id="6" name="TextBox 6"/>
          <p:cNvSpPr txBox="1"/>
          <p:nvPr/>
        </p:nvSpPr>
        <p:spPr>
          <a:xfrm>
            <a:off x="1028700" y="599709"/>
            <a:ext cx="11537525" cy="11573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960"/>
              </a:lnSpc>
              <a:spcBef>
                <a:spcPct val="0"/>
              </a:spcBef>
            </a:pPr>
            <a:r>
              <a:rPr lang="en-US" sz="8000" b="1" i="1" dirty="0">
                <a:solidFill>
                  <a:srgbClr val="0F4662"/>
                </a:solidFill>
                <a:latin typeface="Cormorant Garamond Bold Italics" panose="00000800000000000000"/>
                <a:ea typeface="Cormorant Garamond Bold Italics" panose="00000800000000000000"/>
                <a:cs typeface="Cormorant Garamond Bold Italics" panose="00000800000000000000"/>
                <a:sym typeface="Cormorant Garamond Bold Italics" panose="00000800000000000000"/>
              </a:rPr>
              <a:t>Samples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262" y="2505185"/>
            <a:ext cx="8444738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dirty="0">
                <a:latin typeface="Bahnschrift SemiBold" panose="020B0502040204020203" pitchFamily="34" charset="0"/>
              </a:rPr>
              <a:t>-- Atomic</a:t>
            </a:r>
          </a:p>
          <a:p>
            <a:r>
              <a:rPr lang="en-US" sz="4400" dirty="0"/>
              <a:t> </a:t>
            </a:r>
            <a:r>
              <a:rPr lang="en-US" sz="4400" dirty="0" err="1"/>
              <a:t>NumberSELECT</a:t>
            </a:r>
            <a:r>
              <a:rPr lang="en-US" sz="4400" dirty="0"/>
              <a:t> name, symbol, </a:t>
            </a:r>
            <a:r>
              <a:rPr lang="en-US" sz="4400" dirty="0" err="1"/>
              <a:t>atomic_number</a:t>
            </a:r>
            <a:r>
              <a:rPr lang="en-US" sz="4400" dirty="0"/>
              <a:t>, </a:t>
            </a:r>
            <a:r>
              <a:rPr lang="en-US" sz="4400" dirty="0" err="1"/>
              <a:t>state_at_stpFROM</a:t>
            </a:r>
            <a:r>
              <a:rPr lang="en-US" sz="4400" dirty="0"/>
              <a:t> </a:t>
            </a:r>
            <a:r>
              <a:rPr lang="en-US" sz="4400" dirty="0" err="1"/>
              <a:t>elementsWHERE</a:t>
            </a:r>
            <a:r>
              <a:rPr lang="en-US" sz="4400" dirty="0"/>
              <a:t> </a:t>
            </a:r>
            <a:r>
              <a:rPr lang="en-US" sz="4400" dirty="0" err="1"/>
              <a:t>atomic_number</a:t>
            </a:r>
            <a:r>
              <a:rPr lang="en-US" sz="4400" dirty="0"/>
              <a:t> &lt;= 50 AND </a:t>
            </a:r>
            <a:r>
              <a:rPr lang="en-US" sz="4400" dirty="0" err="1"/>
              <a:t>state_at_stp</a:t>
            </a:r>
            <a:r>
              <a:rPr lang="en-US" sz="4400" dirty="0"/>
              <a:t> = '</a:t>
            </a:r>
            <a:r>
              <a:rPr lang="en-US" sz="4400" dirty="0" err="1"/>
              <a:t>Solid'ORDER</a:t>
            </a:r>
            <a:r>
              <a:rPr lang="en-US" sz="4400" dirty="0"/>
              <a:t> BY </a:t>
            </a:r>
            <a:r>
              <a:rPr lang="en-US" sz="4400" dirty="0" err="1"/>
              <a:t>atomic_number</a:t>
            </a:r>
            <a:r>
              <a:rPr lang="en-US" sz="4400" dirty="0"/>
              <a:t>;</a:t>
            </a:r>
          </a:p>
        </p:txBody>
      </p:sp>
      <p:sp>
        <p:nvSpPr>
          <p:cNvPr id="24" name="Rectangle: Rounded Corners 23"/>
          <p:cNvSpPr/>
          <p:nvPr/>
        </p:nvSpPr>
        <p:spPr>
          <a:xfrm>
            <a:off x="10115822" y="2641848"/>
            <a:ext cx="7467600" cy="42672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Flowchart: Connector 24"/>
          <p:cNvSpPr/>
          <p:nvPr/>
        </p:nvSpPr>
        <p:spPr>
          <a:xfrm>
            <a:off x="16078200" y="721192"/>
            <a:ext cx="609600" cy="612307"/>
          </a:xfrm>
          <a:prstGeom prst="flowChartConnector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Flowchart: Connector 28"/>
          <p:cNvSpPr/>
          <p:nvPr/>
        </p:nvSpPr>
        <p:spPr>
          <a:xfrm>
            <a:off x="10138859" y="8936731"/>
            <a:ext cx="457200" cy="457200"/>
          </a:xfrm>
          <a:prstGeom prst="flowChartConnector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Flowchart: Connector 29"/>
          <p:cNvSpPr/>
          <p:nvPr/>
        </p:nvSpPr>
        <p:spPr>
          <a:xfrm>
            <a:off x="114299" y="142574"/>
            <a:ext cx="914400" cy="884771"/>
          </a:xfrm>
          <a:prstGeom prst="flowChartConnector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Flowchart: Connector 30"/>
          <p:cNvSpPr/>
          <p:nvPr/>
        </p:nvSpPr>
        <p:spPr>
          <a:xfrm>
            <a:off x="8305800" y="1484480"/>
            <a:ext cx="838200" cy="884771"/>
          </a:xfrm>
          <a:prstGeom prst="flowChartConnector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Flowchart: Connector 31"/>
          <p:cNvSpPr/>
          <p:nvPr/>
        </p:nvSpPr>
        <p:spPr>
          <a:xfrm>
            <a:off x="1981200" y="8289906"/>
            <a:ext cx="762000" cy="875425"/>
          </a:xfrm>
          <a:prstGeom prst="flowChartConnector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Flowchart: Connector 32"/>
          <p:cNvSpPr/>
          <p:nvPr/>
        </p:nvSpPr>
        <p:spPr>
          <a:xfrm>
            <a:off x="16736003" y="8529923"/>
            <a:ext cx="1080263" cy="1247885"/>
          </a:xfrm>
          <a:prstGeom prst="flowChartConnector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BE5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753567" y="952500"/>
            <a:ext cx="7514133" cy="4419600"/>
            <a:chOff x="0" y="0"/>
            <a:chExt cx="1979031" cy="166722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979031" cy="1667227"/>
            </a:xfrm>
            <a:custGeom>
              <a:avLst/>
              <a:gdLst/>
              <a:ahLst/>
              <a:cxnLst/>
              <a:rect l="l" t="t" r="r" b="b"/>
              <a:pathLst>
                <a:path w="1979031" h="1667227">
                  <a:moveTo>
                    <a:pt x="52546" y="0"/>
                  </a:moveTo>
                  <a:lnTo>
                    <a:pt x="1926485" y="0"/>
                  </a:lnTo>
                  <a:cubicBezTo>
                    <a:pt x="1955505" y="0"/>
                    <a:pt x="1979031" y="23526"/>
                    <a:pt x="1979031" y="52546"/>
                  </a:cubicBezTo>
                  <a:lnTo>
                    <a:pt x="1979031" y="1614681"/>
                  </a:lnTo>
                  <a:cubicBezTo>
                    <a:pt x="1979031" y="1628617"/>
                    <a:pt x="1973495" y="1641982"/>
                    <a:pt x="1963641" y="1651836"/>
                  </a:cubicBezTo>
                  <a:cubicBezTo>
                    <a:pt x="1953786" y="1661690"/>
                    <a:pt x="1940421" y="1667227"/>
                    <a:pt x="1926485" y="1667227"/>
                  </a:cubicBezTo>
                  <a:lnTo>
                    <a:pt x="52546" y="1667227"/>
                  </a:lnTo>
                  <a:cubicBezTo>
                    <a:pt x="38610" y="1667227"/>
                    <a:pt x="25245" y="1661690"/>
                    <a:pt x="15390" y="1651836"/>
                  </a:cubicBezTo>
                  <a:cubicBezTo>
                    <a:pt x="5536" y="1641982"/>
                    <a:pt x="0" y="1628617"/>
                    <a:pt x="0" y="1614681"/>
                  </a:cubicBezTo>
                  <a:lnTo>
                    <a:pt x="0" y="52546"/>
                  </a:lnTo>
                  <a:cubicBezTo>
                    <a:pt x="0" y="23526"/>
                    <a:pt x="23526" y="0"/>
                    <a:pt x="52546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123825"/>
              <a:ext cx="1979031" cy="179105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080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9753600" y="955083"/>
            <a:ext cx="7514133" cy="4417017"/>
            <a:chOff x="0" y="0"/>
            <a:chExt cx="1979031" cy="164882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979031" cy="1648820"/>
            </a:xfrm>
            <a:custGeom>
              <a:avLst/>
              <a:gdLst/>
              <a:ahLst/>
              <a:cxnLst/>
              <a:rect l="l" t="t" r="r" b="b"/>
              <a:pathLst>
                <a:path w="1979031" h="1648820">
                  <a:moveTo>
                    <a:pt x="52546" y="0"/>
                  </a:moveTo>
                  <a:lnTo>
                    <a:pt x="1926485" y="0"/>
                  </a:lnTo>
                  <a:cubicBezTo>
                    <a:pt x="1955505" y="0"/>
                    <a:pt x="1979031" y="23526"/>
                    <a:pt x="1979031" y="52546"/>
                  </a:cubicBezTo>
                  <a:lnTo>
                    <a:pt x="1979031" y="1596274"/>
                  </a:lnTo>
                  <a:cubicBezTo>
                    <a:pt x="1979031" y="1610210"/>
                    <a:pt x="1973495" y="1623575"/>
                    <a:pt x="1963641" y="1633430"/>
                  </a:cubicBezTo>
                  <a:cubicBezTo>
                    <a:pt x="1953786" y="1643284"/>
                    <a:pt x="1940421" y="1648820"/>
                    <a:pt x="1926485" y="1648820"/>
                  </a:cubicBezTo>
                  <a:lnTo>
                    <a:pt x="52546" y="1648820"/>
                  </a:lnTo>
                  <a:cubicBezTo>
                    <a:pt x="38610" y="1648820"/>
                    <a:pt x="25245" y="1643284"/>
                    <a:pt x="15390" y="1633430"/>
                  </a:cubicBezTo>
                  <a:cubicBezTo>
                    <a:pt x="5536" y="1623575"/>
                    <a:pt x="0" y="1610210"/>
                    <a:pt x="0" y="1596274"/>
                  </a:cubicBezTo>
                  <a:lnTo>
                    <a:pt x="0" y="52546"/>
                  </a:lnTo>
                  <a:cubicBezTo>
                    <a:pt x="0" y="23526"/>
                    <a:pt x="23526" y="0"/>
                    <a:pt x="52546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123825"/>
              <a:ext cx="1979031" cy="177264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080"/>
                </a:lnSpc>
              </a:pPr>
              <a:endParaRPr/>
            </a:p>
          </p:txBody>
        </p:sp>
      </p:grpSp>
      <p:sp>
        <p:nvSpPr>
          <p:cNvPr id="13" name="TextBox 12"/>
          <p:cNvSpPr txBox="1"/>
          <p:nvPr/>
        </p:nvSpPr>
        <p:spPr>
          <a:xfrm>
            <a:off x="887918" y="2218326"/>
            <a:ext cx="6629400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/>
              <a:t>.name,elements.symbol,element_categories.category_namefrom elements join </a:t>
            </a:r>
            <a:r>
              <a:rPr lang="en-US" sz="3200" dirty="0" err="1"/>
              <a:t>element_categories</a:t>
            </a:r>
            <a:r>
              <a:rPr lang="en-US" sz="3200" dirty="0"/>
              <a:t>  on </a:t>
            </a:r>
            <a:r>
              <a:rPr lang="en-US" sz="3200" dirty="0" err="1"/>
              <a:t>elements.group_id</a:t>
            </a:r>
            <a:r>
              <a:rPr lang="en-US" sz="3200" dirty="0"/>
              <a:t>= </a:t>
            </a:r>
            <a:r>
              <a:rPr lang="en-US" sz="3200" dirty="0" err="1"/>
              <a:t>element_categories.category_id</a:t>
            </a:r>
            <a:r>
              <a:rPr lang="en-US" sz="3200" dirty="0"/>
              <a:t>;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728" y="1220805"/>
            <a:ext cx="5943600" cy="762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latin typeface="Bahnschrift SemiBold" panose="020B0502040204020203" pitchFamily="34" charset="0"/>
              </a:rPr>
              <a:t>-- join </a:t>
            </a:r>
            <a:r>
              <a:rPr lang="en-US" sz="4400" dirty="0" err="1">
                <a:latin typeface="Bahnschrift SemiBold" panose="020B0502040204020203" pitchFamily="34" charset="0"/>
              </a:rPr>
              <a:t>opreationselect</a:t>
            </a:r>
            <a:endParaRPr lang="en-US" sz="4400" dirty="0"/>
          </a:p>
        </p:txBody>
      </p:sp>
      <p:sp>
        <p:nvSpPr>
          <p:cNvPr id="15" name="Rectangle: Rounded Corners 14"/>
          <p:cNvSpPr/>
          <p:nvPr/>
        </p:nvSpPr>
        <p:spPr>
          <a:xfrm>
            <a:off x="753567" y="5700344"/>
            <a:ext cx="7323633" cy="416755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/>
          <p:cNvSpPr txBox="1"/>
          <p:nvPr/>
        </p:nvSpPr>
        <p:spPr>
          <a:xfrm>
            <a:off x="10591800" y="2218325"/>
            <a:ext cx="57912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select </a:t>
            </a:r>
            <a:r>
              <a:rPr lang="en-US" sz="3600" dirty="0" err="1"/>
              <a:t>name,symbol</a:t>
            </a:r>
            <a:r>
              <a:rPr lang="en-US" sz="3600" dirty="0"/>
              <a:t>, </a:t>
            </a:r>
            <a:r>
              <a:rPr lang="en-US" sz="3600" dirty="0" err="1"/>
              <a:t>atomic_number</a:t>
            </a:r>
            <a:r>
              <a:rPr lang="en-US" sz="3600" dirty="0"/>
              <a:t> from elements order by </a:t>
            </a:r>
            <a:r>
              <a:rPr lang="en-US" sz="3600" dirty="0" err="1"/>
              <a:t>atomic_number</a:t>
            </a:r>
            <a:r>
              <a:rPr lang="en-US" sz="3600" dirty="0"/>
              <a:t> </a:t>
            </a:r>
            <a:r>
              <a:rPr lang="en-US" sz="3600" dirty="0" err="1"/>
              <a:t>asc</a:t>
            </a:r>
            <a:r>
              <a:rPr lang="en-US" sz="3600" dirty="0"/>
              <a:t>;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86466" y="1220805"/>
            <a:ext cx="62484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latin typeface="Bahnschrift SemiBold" panose="020B0502040204020203" pitchFamily="34" charset="0"/>
              </a:rPr>
              <a:t>-- </a:t>
            </a:r>
            <a:r>
              <a:rPr lang="en-US" sz="4400" dirty="0" err="1">
                <a:latin typeface="Bahnschrift SemiBold" panose="020B0502040204020203" pitchFamily="34" charset="0"/>
              </a:rPr>
              <a:t>ordering&amp;limiting</a:t>
            </a:r>
            <a:endParaRPr lang="en-US" sz="4400" dirty="0">
              <a:latin typeface="Bahnschrift SemiBold" panose="020B0502040204020203" pitchFamily="34" charset="0"/>
            </a:endParaRPr>
          </a:p>
        </p:txBody>
      </p:sp>
      <p:sp>
        <p:nvSpPr>
          <p:cNvPr id="18" name="Rectangle: Rounded Corners 17"/>
          <p:cNvSpPr/>
          <p:nvPr/>
        </p:nvSpPr>
        <p:spPr>
          <a:xfrm>
            <a:off x="9917519" y="5720316"/>
            <a:ext cx="7323633" cy="414758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599709"/>
            <a:ext cx="11534821" cy="10852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960"/>
              </a:lnSpc>
              <a:spcBef>
                <a:spcPct val="0"/>
              </a:spcBef>
            </a:pPr>
            <a:r>
              <a:rPr lang="en-US" sz="6400" b="1" i="1">
                <a:solidFill>
                  <a:srgbClr val="0F4662"/>
                </a:solidFill>
                <a:latin typeface="Cormorant Garamond Bold Italics" panose="00000800000000000000"/>
                <a:ea typeface="Cormorant Garamond Bold Italics" panose="00000800000000000000"/>
                <a:cs typeface="Cormorant Garamond Bold Italics" panose="00000800000000000000"/>
                <a:sym typeface="Cormorant Garamond Bold Italics" panose="00000800000000000000"/>
              </a:rPr>
              <a:t>Conclusion</a:t>
            </a:r>
          </a:p>
        </p:txBody>
      </p:sp>
      <p:sp>
        <p:nvSpPr>
          <p:cNvPr id="4" name="AutoShape 4"/>
          <p:cNvSpPr/>
          <p:nvPr/>
        </p:nvSpPr>
        <p:spPr>
          <a:xfrm>
            <a:off x="5897880" y="3568974"/>
            <a:ext cx="6492240" cy="0"/>
          </a:xfrm>
          <a:prstGeom prst="line">
            <a:avLst/>
          </a:prstGeom>
          <a:ln w="76200" cap="flat">
            <a:solidFill>
              <a:srgbClr val="0F4662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" name="AutoShape 5"/>
          <p:cNvSpPr/>
          <p:nvPr/>
        </p:nvSpPr>
        <p:spPr>
          <a:xfrm>
            <a:off x="5897880" y="7171009"/>
            <a:ext cx="6492240" cy="0"/>
          </a:xfrm>
          <a:prstGeom prst="line">
            <a:avLst/>
          </a:prstGeom>
          <a:ln w="76200" cap="flat">
            <a:solidFill>
              <a:srgbClr val="0F4662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6" name="Freeform 6"/>
          <p:cNvSpPr/>
          <p:nvPr/>
        </p:nvSpPr>
        <p:spPr>
          <a:xfrm>
            <a:off x="8304001" y="2470557"/>
            <a:ext cx="1679997" cy="249900"/>
          </a:xfrm>
          <a:custGeom>
            <a:avLst/>
            <a:gdLst/>
            <a:ahLst/>
            <a:cxnLst/>
            <a:rect l="l" t="t" r="r" b="b"/>
            <a:pathLst>
              <a:path w="1679997" h="249900">
                <a:moveTo>
                  <a:pt x="0" y="0"/>
                </a:moveTo>
                <a:lnTo>
                  <a:pt x="1679998" y="0"/>
                </a:lnTo>
                <a:lnTo>
                  <a:pt x="1679998" y="249899"/>
                </a:lnTo>
                <a:lnTo>
                  <a:pt x="0" y="24989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8304001" y="8019527"/>
            <a:ext cx="1679997" cy="249900"/>
          </a:xfrm>
          <a:custGeom>
            <a:avLst/>
            <a:gdLst/>
            <a:ahLst/>
            <a:cxnLst/>
            <a:rect l="l" t="t" r="r" b="b"/>
            <a:pathLst>
              <a:path w="1679997" h="249900">
                <a:moveTo>
                  <a:pt x="0" y="0"/>
                </a:moveTo>
                <a:lnTo>
                  <a:pt x="1679998" y="0"/>
                </a:lnTo>
                <a:lnTo>
                  <a:pt x="1679998" y="249900"/>
                </a:lnTo>
                <a:lnTo>
                  <a:pt x="0" y="2499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442710" y="3369664"/>
            <a:ext cx="11402580" cy="31857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6010"/>
              </a:lnSpc>
              <a:spcBef>
                <a:spcPct val="0"/>
              </a:spcBef>
            </a:pPr>
            <a:r>
              <a:rPr lang="en-US" sz="18575" b="1" i="1">
                <a:solidFill>
                  <a:srgbClr val="0F4662"/>
                </a:solidFill>
                <a:latin typeface="Cormorant Garamond Bold Italics" panose="00000800000000000000"/>
                <a:ea typeface="Cormorant Garamond Bold Italics" panose="00000800000000000000"/>
                <a:cs typeface="Cormorant Garamond Bold Italics" panose="00000800000000000000"/>
                <a:sym typeface="Cormorant Garamond Bold Italics" panose="00000800000000000000"/>
              </a:rPr>
              <a:t>Thank you</a:t>
            </a:r>
          </a:p>
        </p:txBody>
      </p:sp>
      <p:sp>
        <p:nvSpPr>
          <p:cNvPr id="3" name="AutoShape 3"/>
          <p:cNvSpPr/>
          <p:nvPr/>
        </p:nvSpPr>
        <p:spPr>
          <a:xfrm>
            <a:off x="685800" y="3086100"/>
            <a:ext cx="0" cy="4722909"/>
          </a:xfrm>
          <a:prstGeom prst="line">
            <a:avLst/>
          </a:prstGeom>
          <a:ln w="76200" cap="flat">
            <a:solidFill>
              <a:srgbClr val="0F4662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Freeform 4"/>
          <p:cNvSpPr/>
          <p:nvPr/>
        </p:nvSpPr>
        <p:spPr>
          <a:xfrm flipV="1">
            <a:off x="6248401" y="1366566"/>
            <a:ext cx="3735598" cy="347934"/>
          </a:xfrm>
          <a:custGeom>
            <a:avLst/>
            <a:gdLst/>
            <a:ahLst/>
            <a:cxnLst/>
            <a:rect l="l" t="t" r="r" b="b"/>
            <a:pathLst>
              <a:path w="1679997" h="249900">
                <a:moveTo>
                  <a:pt x="0" y="0"/>
                </a:moveTo>
                <a:lnTo>
                  <a:pt x="1679998" y="0"/>
                </a:lnTo>
                <a:lnTo>
                  <a:pt x="1679998" y="249899"/>
                </a:lnTo>
                <a:lnTo>
                  <a:pt x="0" y="24989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AutoShape 5"/>
          <p:cNvSpPr/>
          <p:nvPr/>
        </p:nvSpPr>
        <p:spPr>
          <a:xfrm flipH="1">
            <a:off x="17602196" y="3369664"/>
            <a:ext cx="3" cy="4722910"/>
          </a:xfrm>
          <a:prstGeom prst="line">
            <a:avLst/>
          </a:prstGeom>
          <a:ln w="76200" cap="flat">
            <a:solidFill>
              <a:srgbClr val="0F4662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dirty="0"/>
          </a:p>
        </p:txBody>
      </p:sp>
      <p:sp>
        <p:nvSpPr>
          <p:cNvPr id="6" name="Freeform 6"/>
          <p:cNvSpPr/>
          <p:nvPr/>
        </p:nvSpPr>
        <p:spPr>
          <a:xfrm>
            <a:off x="7848600" y="8648700"/>
            <a:ext cx="3049799" cy="374993"/>
          </a:xfrm>
          <a:custGeom>
            <a:avLst/>
            <a:gdLst/>
            <a:ahLst/>
            <a:cxnLst/>
            <a:rect l="l" t="t" r="r" b="b"/>
            <a:pathLst>
              <a:path w="1679997" h="249900">
                <a:moveTo>
                  <a:pt x="0" y="0"/>
                </a:moveTo>
                <a:lnTo>
                  <a:pt x="1679998" y="0"/>
                </a:lnTo>
                <a:lnTo>
                  <a:pt x="1679998" y="249900"/>
                </a:lnTo>
                <a:lnTo>
                  <a:pt x="0" y="2499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14554200" y="9086322"/>
            <a:ext cx="830579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/>
              <a:t>/</a:t>
            </a:r>
            <a:r>
              <a:rPr lang="en-US" sz="4000" dirty="0">
                <a:solidFill>
                  <a:srgbClr val="C00000"/>
                </a:solidFill>
                <a:latin typeface="Baskerville Old Face" panose="02020602080505020303" pitchFamily="18" charset="0"/>
              </a:rPr>
              <a:t>From group 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96000" y="1916319"/>
            <a:ext cx="8534400" cy="452431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accent1">
                    <a:lumMod val="75000"/>
                  </a:schemeClr>
                </a:solidFill>
                <a:latin typeface="Bahnschrift SemiBold" panose="020B0502040204020203" pitchFamily="34" charset="0"/>
              </a:rPr>
              <a:t>Question  </a:t>
            </a:r>
          </a:p>
          <a:p>
            <a:r>
              <a:rPr lang="en-US" sz="9600" dirty="0">
                <a:solidFill>
                  <a:schemeClr val="accent1">
                    <a:lumMod val="75000"/>
                  </a:schemeClr>
                </a:solidFill>
                <a:latin typeface="Bahnschrift SemiBold" panose="020B0502040204020203" pitchFamily="34" charset="0"/>
              </a:rPr>
              <a:t>      &amp;</a:t>
            </a:r>
          </a:p>
          <a:p>
            <a:r>
              <a:rPr lang="en-US" sz="9600" dirty="0">
                <a:solidFill>
                  <a:schemeClr val="accent1">
                    <a:lumMod val="75000"/>
                  </a:schemeClr>
                </a:solidFill>
                <a:latin typeface="Bahnschrift SemiBold" panose="020B0502040204020203" pitchFamily="34" charset="0"/>
              </a:rPr>
              <a:t> Answer</a:t>
            </a:r>
          </a:p>
        </p:txBody>
      </p:sp>
      <p:sp>
        <p:nvSpPr>
          <p:cNvPr id="8" name="Diagonal Stripe 7"/>
          <p:cNvSpPr/>
          <p:nvPr/>
        </p:nvSpPr>
        <p:spPr>
          <a:xfrm>
            <a:off x="-1" y="0"/>
            <a:ext cx="6461937" cy="10287000"/>
          </a:xfrm>
          <a:prstGeom prst="diagStripe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9" name="Star: 4 Points 8"/>
          <p:cNvSpPr/>
          <p:nvPr/>
        </p:nvSpPr>
        <p:spPr>
          <a:xfrm>
            <a:off x="15849600" y="876300"/>
            <a:ext cx="838200" cy="1040019"/>
          </a:xfrm>
          <a:prstGeom prst="star4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Star: 4 Points 9"/>
          <p:cNvSpPr/>
          <p:nvPr/>
        </p:nvSpPr>
        <p:spPr>
          <a:xfrm>
            <a:off x="12557937" y="2953274"/>
            <a:ext cx="533400" cy="762000"/>
          </a:xfrm>
          <a:prstGeom prst="star4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Star: 4 Points 10"/>
          <p:cNvSpPr/>
          <p:nvPr/>
        </p:nvSpPr>
        <p:spPr>
          <a:xfrm>
            <a:off x="14278640" y="7752505"/>
            <a:ext cx="685800" cy="914400"/>
          </a:xfrm>
          <a:prstGeom prst="star4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Star: 4 Points 11"/>
          <p:cNvSpPr/>
          <p:nvPr/>
        </p:nvSpPr>
        <p:spPr>
          <a:xfrm>
            <a:off x="3230967" y="6173772"/>
            <a:ext cx="685800" cy="989552"/>
          </a:xfrm>
          <a:prstGeom prst="star4">
            <a:avLst>
              <a:gd name="adj" fmla="val 12500"/>
            </a:avLst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Star: 4 Points 12"/>
          <p:cNvSpPr/>
          <p:nvPr/>
        </p:nvSpPr>
        <p:spPr>
          <a:xfrm>
            <a:off x="7414436" y="378785"/>
            <a:ext cx="533400" cy="1040019"/>
          </a:xfrm>
          <a:prstGeom prst="star4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6">
            <a:lumMod val="20000"/>
            <a:lumOff val="80000"/>
          </a:schemeClr>
        </a:solidFill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858</Words>
  <Application>Microsoft Office PowerPoint</Application>
  <PresentationFormat>Custom</PresentationFormat>
  <Paragraphs>128</Paragraphs>
  <Slides>13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3" baseType="lpstr">
      <vt:lpstr>Baskerville Old Face</vt:lpstr>
      <vt:lpstr>Arial</vt:lpstr>
      <vt:lpstr>Quicksand</vt:lpstr>
      <vt:lpstr>Arial Rounded MT Bold</vt:lpstr>
      <vt:lpstr>Cormorant Garamond Bold Italics</vt:lpstr>
      <vt:lpstr>Bahnschrift SemiBold</vt:lpstr>
      <vt:lpstr>Calibri</vt:lpstr>
      <vt:lpstr>Bodoni MT Black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xing_jae</dc:creator>
  <cp:lastModifiedBy>Al jae Jeon</cp:lastModifiedBy>
  <cp:revision>19</cp:revision>
  <dcterms:created xsi:type="dcterms:W3CDTF">2006-08-16T00:00:00Z</dcterms:created>
  <dcterms:modified xsi:type="dcterms:W3CDTF">2025-06-25T08:21:43Z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18E1963766C544E78341D179F941FB00_12</vt:lpwstr>
  </property>
  <property fmtid="{D5CDD505-2E9C-101B-9397-08002B2CF9AE}" pid="3" name="KSOProductBuildVer">
    <vt:lpwstr>1033-12.2.0.21546</vt:lpwstr>
  </property>
</Properties>
</file>